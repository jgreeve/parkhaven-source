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ParkHaven Studio turns a Rhino massing model into a traceable design review. The goal is not to replace the designer. It is to connect geometry, repeatable Grasshopper calculations, clear visual evidence, and bounded AI advice in one local workflow. The current prototype already handles a real Parkhaven model, produces controlled views and metrics, and exports an English PDF report. Everything shown today runs around Rhino 8 on the designer's Windows workstation.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has five controlled steps. First, the designer imports a 3DM file. The app hashes and preserves that source, then works only on a copy. Second, the designer positions the model and approves its units. Third, Rhino and Grasshopper run the analysis. Fourth, the app captures four standardized model views and combines those with calculated metrics for optional AI review. Finally, the app builds a printable report. Each transition has a gate, so incomplete placement, stale evidence, or failed analysis cannot silently flow into the final output.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intentionally local-first. The desktop shell starts an authenticated local backend. That backend creates an isolated run folder and launches Rhino visibly, using a packaged Grasshopper definition. Grasshopper writes the scene, geometry summary, and result JSON; the app verifies their hashes before displaying them. Only a bounded text evidence package can go to an OpenAI-compatible endpoint. The model images remain local. This separation makes it clear which values came from deterministic calculation and which statements are AI hypotheses.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evidence layer from the real massa fase 2 model. The exporter gives each analytical mass a stable color: Volume A is blue, B orange, and C purple. The viewer then captures top, overview, facade-side, and park-side cameras at a fixed resolution. Analysis overlays are hidden in those evidence images so the masses remain readable, while the measured results stay available in the dashboard. The report uses the same color legend instead of floating point labels, which makes every referenced volume easy to identify across all views.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analysis produces decision-ready screening metrics. In this run the gross floor area is about fifty-one thousand nine hundred square metres, visibility is twenty-four point five percent, and indicative cost is ninety-three point four million euros. The climate screen reports four point three mean sun hours and a maximum UTCI of eighteen point five degrees for one selected weather condition. Foundation screening estimates two hundred forty-nine load-based piles. These are transparent screening values, not final engineering design, and the report labels that limitation explicitly.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controls are part of the product, not an afterthought. The original 3DM stays unchanged, and every run carries source, definition, weather, scene, and evidence hashes. A report only accepts advice tied to the current evidence and current policy version. We also found no authoritative plot, access, or tunnel envelope in the available data. Therefore the server rejects advice to shift, widen, set back, or rotate a mass. The AI can propose tests within the current footprint, but it cannot invent site clearance from an aerial photograph.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build has passed one hundred twenty-seven app tests, twenty-five analyzer tests, real Rhino acceptance, four controlled WebGL captures, installed-bundle smoke testing, and a two-page PDF review. The installer and report workflow are working end to end. The next major step is to add authoritative site constraints, followed by signed distribution and clean-machine acceptance. In short, ParkHaven Studio now provides a usable bridge from Rhino geometry to a review that is visual, measurable, and auditable.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FE9"/>
          </a:solidFill>
          <a:ln>
            <a:solidFill>
              <a:srgbClr val="ECE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verview.png"/>
          <p:cNvPicPr>
            <a:picLocks noChangeAspect="1"/>
          </p:cNvPicPr>
          <p:nvPr/>
        </p:nvPicPr>
        <p:blipFill>
          <a:blip r:embed="rId2"/>
          <a:stretch>
            <a:fillRect/>
          </a:stretch>
        </p:blipFill>
        <p:spPr>
          <a:xfrm>
            <a:off x="6931152" y="0"/>
            <a:ext cx="5260543" cy="6858000"/>
          </a:xfrm>
          <a:prstGeom prst="rect">
            <a:avLst/>
          </a:prstGeom>
        </p:spPr>
      </p:pic>
      <p:sp>
        <p:nvSpPr>
          <p:cNvPr id="4" name="Rectangle 3"/>
          <p:cNvSpPr/>
          <p:nvPr/>
        </p:nvSpPr>
        <p:spPr>
          <a:xfrm>
            <a:off x="0" y="0"/>
            <a:ext cx="7114032" cy="6858000"/>
          </a:xfrm>
          <a:prstGeom prst="rect">
            <a:avLst/>
          </a:prstGeom>
          <a:solidFill>
            <a:srgbClr val="163A3B"/>
          </a:solidFill>
          <a:ln>
            <a:solidFill>
              <a:srgbClr val="163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02920"/>
            <a:ext cx="5303520" cy="274320"/>
          </a:xfrm>
          <a:prstGeom prst="rect">
            <a:avLst/>
          </a:prstGeom>
          <a:noFill/>
        </p:spPr>
        <p:txBody>
          <a:bodyPr wrap="none" lIns="0" rIns="0" tIns="0" bIns="0" anchor="t">
            <a:spAutoFit/>
          </a:bodyPr>
          <a:lstStyle/>
          <a:p>
            <a:pPr algn="l"/>
            <a:r>
              <a:rPr sz="1000" b="1">
                <a:solidFill>
                  <a:srgbClr val="B7E6C8"/>
                </a:solidFill>
                <a:latin typeface="Segoe UI"/>
              </a:rPr>
              <a:t>PROGRESS PRESENTATION / V0.1</a:t>
            </a:r>
          </a:p>
        </p:txBody>
      </p:sp>
      <p:sp>
        <p:nvSpPr>
          <p:cNvPr id="6" name="TextBox 5"/>
          <p:cNvSpPr txBox="1"/>
          <p:nvPr/>
        </p:nvSpPr>
        <p:spPr>
          <a:xfrm>
            <a:off x="658368" y="1261872"/>
            <a:ext cx="5669280" cy="1691640"/>
          </a:xfrm>
          <a:prstGeom prst="rect">
            <a:avLst/>
          </a:prstGeom>
          <a:noFill/>
        </p:spPr>
        <p:txBody>
          <a:bodyPr wrap="none" lIns="0" rIns="0" tIns="0" bIns="0" anchor="t">
            <a:spAutoFit/>
          </a:bodyPr>
          <a:lstStyle/>
          <a:p>
            <a:pPr algn="l"/>
            <a:r>
              <a:rPr sz="3400" b="1">
                <a:solidFill>
                  <a:srgbClr val="FFFFFF"/>
                </a:solidFill>
                <a:latin typeface="Segoe UI"/>
              </a:rPr>
              <a:t>From Rhino model
to grounded design.</a:t>
            </a:r>
          </a:p>
        </p:txBody>
      </p:sp>
      <p:sp>
        <p:nvSpPr>
          <p:cNvPr id="7" name="TextBox 6"/>
          <p:cNvSpPr txBox="1"/>
          <p:nvPr/>
        </p:nvSpPr>
        <p:spPr>
          <a:xfrm>
            <a:off x="658368" y="3273552"/>
            <a:ext cx="5212080" cy="365760"/>
          </a:xfrm>
          <a:prstGeom prst="rect">
            <a:avLst/>
          </a:prstGeom>
          <a:noFill/>
        </p:spPr>
        <p:txBody>
          <a:bodyPr wrap="none" lIns="0" rIns="0" tIns="0" bIns="0" anchor="t">
            <a:spAutoFit/>
          </a:bodyPr>
          <a:lstStyle/>
          <a:p>
            <a:pPr algn="l"/>
            <a:r>
              <a:rPr sz="1700" b="0">
                <a:solidFill>
                  <a:srgbClr val="B7E6C8"/>
                </a:solidFill>
                <a:latin typeface="Segoe UI"/>
              </a:rPr>
              <a:t>How ParkHaven Studio works</a:t>
            </a:r>
          </a:p>
        </p:txBody>
      </p:sp>
      <p:sp>
        <p:nvSpPr>
          <p:cNvPr id="8" name="Rectangle 7"/>
          <p:cNvSpPr/>
          <p:nvPr/>
        </p:nvSpPr>
        <p:spPr>
          <a:xfrm>
            <a:off x="658368" y="3840480"/>
            <a:ext cx="960120" cy="54864"/>
          </a:xfrm>
          <a:prstGeom prst="rect">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4133087"/>
            <a:ext cx="5394960" cy="731520"/>
          </a:xfrm>
          <a:prstGeom prst="rect">
            <a:avLst/>
          </a:prstGeom>
          <a:noFill/>
        </p:spPr>
        <p:txBody>
          <a:bodyPr wrap="none" lIns="0" rIns="0" tIns="0" bIns="0" anchor="t">
            <a:spAutoFit/>
          </a:bodyPr>
          <a:lstStyle/>
          <a:p>
            <a:pPr algn="l"/>
            <a:r>
              <a:rPr sz="1300" b="0">
                <a:solidFill>
                  <a:srgbClr val="FFFFFF"/>
                </a:solidFill>
                <a:latin typeface="Segoe UI"/>
              </a:rPr>
              <a:t>Local analysis • controlled evidence • bounded AI • printable report</a:t>
            </a:r>
          </a:p>
        </p:txBody>
      </p:sp>
      <p:pic>
        <p:nvPicPr>
          <p:cNvPr id="10" name="Picture 9" descr="parkhaven-logo.png"/>
          <p:cNvPicPr>
            <a:picLocks noChangeAspect="1"/>
          </p:cNvPicPr>
          <p:nvPr/>
        </p:nvPicPr>
        <p:blipFill>
          <a:blip r:embed="rId3"/>
          <a:stretch>
            <a:fillRect/>
          </a:stretch>
        </p:blipFill>
        <p:spPr>
          <a:xfrm>
            <a:off x="5376672" y="4919472"/>
            <a:ext cx="856270" cy="1389888"/>
          </a:xfrm>
          <a:prstGeom prst="rect">
            <a:avLst/>
          </a:prstGeom>
        </p:spPr>
      </p:pic>
      <p:sp>
        <p:nvSpPr>
          <p:cNvPr id="11" name="TextBox 10"/>
          <p:cNvSpPr txBox="1"/>
          <p:nvPr/>
        </p:nvSpPr>
        <p:spPr>
          <a:xfrm>
            <a:off x="658368" y="6153912"/>
            <a:ext cx="1097280" cy="182880"/>
          </a:xfrm>
          <a:prstGeom prst="rect">
            <a:avLst/>
          </a:prstGeom>
          <a:noFill/>
        </p:spPr>
        <p:txBody>
          <a:bodyPr wrap="none" lIns="0" rIns="0" tIns="0" bIns="0" anchor="t">
            <a:spAutoFit/>
          </a:bodyPr>
          <a:lstStyle/>
          <a:p>
            <a:pPr algn="l"/>
            <a:r>
              <a:rPr sz="800" b="1">
                <a:solidFill>
                  <a:srgbClr val="B7E6C8"/>
                </a:solidFill>
                <a:latin typeface="Segoe UI"/>
              </a:rPr>
              <a:t>4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FE9"/>
          </a:solidFill>
          <a:ln>
            <a:solidFill>
              <a:srgbClr val="ECE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040880" cy="274320"/>
          </a:xfrm>
          <a:prstGeom prst="rect">
            <a:avLst/>
          </a:prstGeom>
          <a:noFill/>
        </p:spPr>
        <p:txBody>
          <a:bodyPr wrap="none" lIns="0" rIns="0" tIns="0" bIns="0" anchor="t">
            <a:spAutoFit/>
          </a:bodyPr>
          <a:lstStyle/>
          <a:p>
            <a:pPr algn="l"/>
            <a:r>
              <a:rPr sz="900" b="1">
                <a:solidFill>
                  <a:srgbClr val="687B75"/>
                </a:solidFill>
                <a:latin typeface="Segoe UI"/>
              </a:rPr>
              <a:t>END-TO-END WORKFLOW</a:t>
            </a:r>
          </a:p>
        </p:txBody>
      </p:sp>
      <p:sp>
        <p:nvSpPr>
          <p:cNvPr id="4" name="TextBox 3"/>
          <p:cNvSpPr txBox="1"/>
          <p:nvPr/>
        </p:nvSpPr>
        <p:spPr>
          <a:xfrm>
            <a:off x="566928" y="640080"/>
            <a:ext cx="10789920" cy="621792"/>
          </a:xfrm>
          <a:prstGeom prst="rect">
            <a:avLst/>
          </a:prstGeom>
          <a:noFill/>
        </p:spPr>
        <p:txBody>
          <a:bodyPr wrap="none" lIns="0" rIns="0" tIns="0" bIns="0" anchor="t">
            <a:spAutoFit/>
          </a:bodyPr>
          <a:lstStyle/>
          <a:p>
            <a:pPr algn="l"/>
            <a:r>
              <a:rPr sz="2700" b="1">
                <a:solidFill>
                  <a:srgbClr val="18352F"/>
                </a:solidFill>
                <a:latin typeface="Segoe UI"/>
              </a:rPr>
              <a:t>One model, five controlled gates</a:t>
            </a:r>
          </a:p>
        </p:txBody>
      </p:sp>
      <p:sp>
        <p:nvSpPr>
          <p:cNvPr id="5" name="TextBox 4"/>
          <p:cNvSpPr txBox="1"/>
          <p:nvPr/>
        </p:nvSpPr>
        <p:spPr>
          <a:xfrm>
            <a:off x="11109960" y="365760"/>
            <a:ext cx="502920" cy="256032"/>
          </a:xfrm>
          <a:prstGeom prst="rect">
            <a:avLst/>
          </a:prstGeom>
          <a:noFill/>
        </p:spPr>
        <p:txBody>
          <a:bodyPr wrap="none" lIns="0" rIns="0" tIns="0" bIns="0" anchor="t">
            <a:spAutoFit/>
          </a:bodyPr>
          <a:lstStyle/>
          <a:p>
            <a:pPr algn="r"/>
            <a:r>
              <a:rPr sz="900" b="1">
                <a:solidFill>
                  <a:srgbClr val="687B75"/>
                </a:solidFill>
                <a:latin typeface="Segoe UI"/>
              </a:rPr>
              <a:t>02</a:t>
            </a:r>
          </a:p>
        </p:txBody>
      </p:sp>
      <p:sp>
        <p:nvSpPr>
          <p:cNvPr id="6" name="Rectangle 5"/>
          <p:cNvSpPr/>
          <p:nvPr/>
        </p:nvSpPr>
        <p:spPr>
          <a:xfrm>
            <a:off x="566928" y="1325880"/>
            <a:ext cx="11045952" cy="13716"/>
          </a:xfrm>
          <a:prstGeom prst="rect">
            <a:avLst/>
          </a:prstGeom>
          <a:solidFill>
            <a:srgbClr val="D5DDD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65960"/>
            <a:ext cx="1938528" cy="23317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139696"/>
            <a:ext cx="457200" cy="457200"/>
          </a:xfrm>
          <a:prstGeom prst="roundRect">
            <a:avLst>
              <a:gd name="adj" fmla="val 8000"/>
            </a:avLst>
          </a:prstGeom>
          <a:solidFill>
            <a:srgbClr val="2F80ED"/>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221992"/>
            <a:ext cx="457200" cy="164592"/>
          </a:xfrm>
          <a:prstGeom prst="rect">
            <a:avLst/>
          </a:prstGeom>
          <a:noFill/>
        </p:spPr>
        <p:txBody>
          <a:bodyPr wrap="none" lIns="0" rIns="0" tIns="0" bIns="0" anchor="t">
            <a:spAutoFit/>
          </a:bodyPr>
          <a:lstStyle/>
          <a:p>
            <a:pPr algn="ctr"/>
            <a:r>
              <a:rPr sz="900" b="1">
                <a:solidFill>
                  <a:srgbClr val="FFFFFF"/>
                </a:solidFill>
                <a:latin typeface="Segoe UI"/>
              </a:rPr>
              <a:t>01</a:t>
            </a:r>
          </a:p>
        </p:txBody>
      </p:sp>
      <p:sp>
        <p:nvSpPr>
          <p:cNvPr id="10" name="TextBox 9"/>
          <p:cNvSpPr txBox="1"/>
          <p:nvPr/>
        </p:nvSpPr>
        <p:spPr>
          <a:xfrm>
            <a:off x="731520" y="2761488"/>
            <a:ext cx="1609344" cy="438912"/>
          </a:xfrm>
          <a:prstGeom prst="rect">
            <a:avLst/>
          </a:prstGeom>
          <a:noFill/>
        </p:spPr>
        <p:txBody>
          <a:bodyPr wrap="none" lIns="0" rIns="0" tIns="0" bIns="0" anchor="t">
            <a:spAutoFit/>
          </a:bodyPr>
          <a:lstStyle/>
          <a:p>
            <a:pPr algn="l"/>
            <a:r>
              <a:rPr sz="1700" b="1">
                <a:solidFill>
                  <a:srgbClr val="18352F"/>
                </a:solidFill>
                <a:latin typeface="Segoe UI"/>
              </a:rPr>
              <a:t>Import</a:t>
            </a:r>
          </a:p>
        </p:txBody>
      </p:sp>
      <p:sp>
        <p:nvSpPr>
          <p:cNvPr id="11" name="TextBox 10"/>
          <p:cNvSpPr txBox="1"/>
          <p:nvPr/>
        </p:nvSpPr>
        <p:spPr>
          <a:xfrm>
            <a:off x="731520" y="3319272"/>
            <a:ext cx="1609344" cy="658368"/>
          </a:xfrm>
          <a:prstGeom prst="rect">
            <a:avLst/>
          </a:prstGeom>
          <a:noFill/>
        </p:spPr>
        <p:txBody>
          <a:bodyPr wrap="none" lIns="0" rIns="0" tIns="0" bIns="0" anchor="t">
            <a:spAutoFit/>
          </a:bodyPr>
          <a:lstStyle/>
          <a:p>
            <a:pPr algn="l"/>
            <a:r>
              <a:rPr sz="1000" b="0">
                <a:solidFill>
                  <a:srgbClr val="687B75"/>
                </a:solidFill>
                <a:latin typeface="Segoe UI"/>
              </a:rPr>
              <a:t>Preserve and hash the source 3DM</a:t>
            </a:r>
          </a:p>
        </p:txBody>
      </p:sp>
      <p:sp>
        <p:nvSpPr>
          <p:cNvPr id="12" name="Rectangle 11"/>
          <p:cNvSpPr/>
          <p:nvPr/>
        </p:nvSpPr>
        <p:spPr>
          <a:xfrm>
            <a:off x="731520" y="4050791"/>
            <a:ext cx="603504" cy="50292"/>
          </a:xfrm>
          <a:prstGeom prst="rect">
            <a:avLst/>
          </a:prstGeom>
          <a:solidFill>
            <a:srgbClr val="2F80ED"/>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2505456" y="3136392"/>
            <a:ext cx="246888" cy="0"/>
          </a:xfrm>
          <a:prstGeom prst="line">
            <a:avLst/>
          </a:prstGeom>
          <a:ln w="19050">
            <a:solidFill>
              <a:srgbClr val="687B7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07208" y="1965960"/>
            <a:ext cx="1938528" cy="23317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971800" y="2139696"/>
            <a:ext cx="457200" cy="457200"/>
          </a:xfrm>
          <a:prstGeom prst="roundRect">
            <a:avLst>
              <a:gd name="adj" fmla="val 8000"/>
            </a:avLst>
          </a:prstGeom>
          <a:solidFill>
            <a:srgbClr val="D7A35D"/>
          </a:solidFill>
          <a:ln>
            <a:solidFill>
              <a:srgbClr val="D7A3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2221992"/>
            <a:ext cx="457200" cy="164592"/>
          </a:xfrm>
          <a:prstGeom prst="rect">
            <a:avLst/>
          </a:prstGeom>
          <a:noFill/>
        </p:spPr>
        <p:txBody>
          <a:bodyPr wrap="none" lIns="0" rIns="0" tIns="0" bIns="0" anchor="t">
            <a:spAutoFit/>
          </a:bodyPr>
          <a:lstStyle/>
          <a:p>
            <a:pPr algn="ctr"/>
            <a:r>
              <a:rPr sz="900" b="1">
                <a:solidFill>
                  <a:srgbClr val="FFFFFF"/>
                </a:solidFill>
                <a:latin typeface="Segoe UI"/>
              </a:rPr>
              <a:t>02</a:t>
            </a:r>
          </a:p>
        </p:txBody>
      </p:sp>
      <p:sp>
        <p:nvSpPr>
          <p:cNvPr id="17" name="TextBox 16"/>
          <p:cNvSpPr txBox="1"/>
          <p:nvPr/>
        </p:nvSpPr>
        <p:spPr>
          <a:xfrm>
            <a:off x="2971800" y="2761488"/>
            <a:ext cx="1609344" cy="438912"/>
          </a:xfrm>
          <a:prstGeom prst="rect">
            <a:avLst/>
          </a:prstGeom>
          <a:noFill/>
        </p:spPr>
        <p:txBody>
          <a:bodyPr wrap="none" lIns="0" rIns="0" tIns="0" bIns="0" anchor="t">
            <a:spAutoFit/>
          </a:bodyPr>
          <a:lstStyle/>
          <a:p>
            <a:pPr algn="l"/>
            <a:r>
              <a:rPr sz="1700" b="1">
                <a:solidFill>
                  <a:srgbClr val="18352F"/>
                </a:solidFill>
                <a:latin typeface="Segoe UI"/>
              </a:rPr>
              <a:t>Position</a:t>
            </a:r>
          </a:p>
        </p:txBody>
      </p:sp>
      <p:sp>
        <p:nvSpPr>
          <p:cNvPr id="18" name="TextBox 17"/>
          <p:cNvSpPr txBox="1"/>
          <p:nvPr/>
        </p:nvSpPr>
        <p:spPr>
          <a:xfrm>
            <a:off x="2971800" y="3319272"/>
            <a:ext cx="1609344" cy="658368"/>
          </a:xfrm>
          <a:prstGeom prst="rect">
            <a:avLst/>
          </a:prstGeom>
          <a:noFill/>
        </p:spPr>
        <p:txBody>
          <a:bodyPr wrap="none" lIns="0" rIns="0" tIns="0" bIns="0" anchor="t">
            <a:spAutoFit/>
          </a:bodyPr>
          <a:lstStyle/>
          <a:p>
            <a:pPr algn="l"/>
            <a:r>
              <a:rPr sz="1000" b="0">
                <a:solidFill>
                  <a:srgbClr val="687B75"/>
                </a:solidFill>
                <a:latin typeface="Segoe UI"/>
              </a:rPr>
              <a:t>Approve coordinates and model units</a:t>
            </a:r>
          </a:p>
        </p:txBody>
      </p:sp>
      <p:sp>
        <p:nvSpPr>
          <p:cNvPr id="19" name="Rectangle 18"/>
          <p:cNvSpPr/>
          <p:nvPr/>
        </p:nvSpPr>
        <p:spPr>
          <a:xfrm>
            <a:off x="2971800" y="4050791"/>
            <a:ext cx="603504" cy="50292"/>
          </a:xfrm>
          <a:prstGeom prst="rect">
            <a:avLst/>
          </a:prstGeom>
          <a:solidFill>
            <a:srgbClr val="D7A35D"/>
          </a:solidFill>
          <a:ln>
            <a:solidFill>
              <a:srgbClr val="D7A3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4745736" y="3136392"/>
            <a:ext cx="246888" cy="0"/>
          </a:xfrm>
          <a:prstGeom prst="line">
            <a:avLst/>
          </a:prstGeom>
          <a:ln w="19050">
            <a:solidFill>
              <a:srgbClr val="687B75"/>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47488" y="1965960"/>
            <a:ext cx="1938528" cy="23317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12080" y="2139696"/>
            <a:ext cx="457200" cy="457200"/>
          </a:xfrm>
          <a:prstGeom prst="roundRect">
            <a:avLst>
              <a:gd name="adj" fmla="val 8000"/>
            </a:avLst>
          </a:prstGeom>
          <a:solidFill>
            <a:srgbClr val="1F684E"/>
          </a:solidFill>
          <a:ln>
            <a:solidFill>
              <a:srgbClr val="1F68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2221992"/>
            <a:ext cx="457200" cy="164592"/>
          </a:xfrm>
          <a:prstGeom prst="rect">
            <a:avLst/>
          </a:prstGeom>
          <a:noFill/>
        </p:spPr>
        <p:txBody>
          <a:bodyPr wrap="none" lIns="0" rIns="0" tIns="0" bIns="0" anchor="t">
            <a:spAutoFit/>
          </a:bodyPr>
          <a:lstStyle/>
          <a:p>
            <a:pPr algn="ctr"/>
            <a:r>
              <a:rPr sz="900" b="1">
                <a:solidFill>
                  <a:srgbClr val="FFFFFF"/>
                </a:solidFill>
                <a:latin typeface="Segoe UI"/>
              </a:rPr>
              <a:t>03</a:t>
            </a:r>
          </a:p>
        </p:txBody>
      </p:sp>
      <p:sp>
        <p:nvSpPr>
          <p:cNvPr id="24" name="TextBox 23"/>
          <p:cNvSpPr txBox="1"/>
          <p:nvPr/>
        </p:nvSpPr>
        <p:spPr>
          <a:xfrm>
            <a:off x="5212080" y="2761488"/>
            <a:ext cx="1609344" cy="438912"/>
          </a:xfrm>
          <a:prstGeom prst="rect">
            <a:avLst/>
          </a:prstGeom>
          <a:noFill/>
        </p:spPr>
        <p:txBody>
          <a:bodyPr wrap="none" lIns="0" rIns="0" tIns="0" bIns="0" anchor="t">
            <a:spAutoFit/>
          </a:bodyPr>
          <a:lstStyle/>
          <a:p>
            <a:pPr algn="l"/>
            <a:r>
              <a:rPr sz="1700" b="1">
                <a:solidFill>
                  <a:srgbClr val="18352F"/>
                </a:solidFill>
                <a:latin typeface="Segoe UI"/>
              </a:rPr>
              <a:t>Analyze</a:t>
            </a:r>
          </a:p>
        </p:txBody>
      </p:sp>
      <p:sp>
        <p:nvSpPr>
          <p:cNvPr id="25" name="TextBox 24"/>
          <p:cNvSpPr txBox="1"/>
          <p:nvPr/>
        </p:nvSpPr>
        <p:spPr>
          <a:xfrm>
            <a:off x="5212080" y="3319272"/>
            <a:ext cx="1609344" cy="658368"/>
          </a:xfrm>
          <a:prstGeom prst="rect">
            <a:avLst/>
          </a:prstGeom>
          <a:noFill/>
        </p:spPr>
        <p:txBody>
          <a:bodyPr wrap="none" lIns="0" rIns="0" tIns="0" bIns="0" anchor="t">
            <a:spAutoFit/>
          </a:bodyPr>
          <a:lstStyle/>
          <a:p>
            <a:pPr algn="l"/>
            <a:r>
              <a:rPr sz="1000" b="0">
                <a:solidFill>
                  <a:srgbClr val="687B75"/>
                </a:solidFill>
                <a:latin typeface="Segoe UI"/>
              </a:rPr>
              <a:t>Run Rhino + Grasshopper locally</a:t>
            </a:r>
          </a:p>
        </p:txBody>
      </p:sp>
      <p:sp>
        <p:nvSpPr>
          <p:cNvPr id="26" name="Rectangle 25"/>
          <p:cNvSpPr/>
          <p:nvPr/>
        </p:nvSpPr>
        <p:spPr>
          <a:xfrm>
            <a:off x="5212080" y="4050791"/>
            <a:ext cx="603504" cy="50292"/>
          </a:xfrm>
          <a:prstGeom prst="rect">
            <a:avLst/>
          </a:prstGeom>
          <a:solidFill>
            <a:srgbClr val="1F684E"/>
          </a:solidFill>
          <a:ln>
            <a:solidFill>
              <a:srgbClr val="1F68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6986016" y="3136392"/>
            <a:ext cx="246888" cy="0"/>
          </a:xfrm>
          <a:prstGeom prst="line">
            <a:avLst/>
          </a:prstGeom>
          <a:ln w="19050">
            <a:solidFill>
              <a:srgbClr val="687B75"/>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287768" y="1965960"/>
            <a:ext cx="1938528" cy="23317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452360" y="2139696"/>
            <a:ext cx="457200" cy="457200"/>
          </a:xfrm>
          <a:prstGeom prst="roundRect">
            <a:avLst>
              <a:gd name="adj" fmla="val 8000"/>
            </a:avLst>
          </a:prstGeom>
          <a:solidFill>
            <a:srgbClr val="9B51E0"/>
          </a:solidFill>
          <a:ln>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2360" y="2221992"/>
            <a:ext cx="457200" cy="164592"/>
          </a:xfrm>
          <a:prstGeom prst="rect">
            <a:avLst/>
          </a:prstGeom>
          <a:noFill/>
        </p:spPr>
        <p:txBody>
          <a:bodyPr wrap="none" lIns="0" rIns="0" tIns="0" bIns="0" anchor="t">
            <a:spAutoFit/>
          </a:bodyPr>
          <a:lstStyle/>
          <a:p>
            <a:pPr algn="ctr"/>
            <a:r>
              <a:rPr sz="900" b="1">
                <a:solidFill>
                  <a:srgbClr val="FFFFFF"/>
                </a:solidFill>
                <a:latin typeface="Segoe UI"/>
              </a:rPr>
              <a:t>04</a:t>
            </a:r>
          </a:p>
        </p:txBody>
      </p:sp>
      <p:sp>
        <p:nvSpPr>
          <p:cNvPr id="31" name="TextBox 30"/>
          <p:cNvSpPr txBox="1"/>
          <p:nvPr/>
        </p:nvSpPr>
        <p:spPr>
          <a:xfrm>
            <a:off x="7452360" y="2761488"/>
            <a:ext cx="1609344" cy="438912"/>
          </a:xfrm>
          <a:prstGeom prst="rect">
            <a:avLst/>
          </a:prstGeom>
          <a:noFill/>
        </p:spPr>
        <p:txBody>
          <a:bodyPr wrap="none" lIns="0" rIns="0" tIns="0" bIns="0" anchor="t">
            <a:spAutoFit/>
          </a:bodyPr>
          <a:lstStyle/>
          <a:p>
            <a:pPr algn="l"/>
            <a:r>
              <a:rPr sz="1700" b="1">
                <a:solidFill>
                  <a:srgbClr val="18352F"/>
                </a:solidFill>
                <a:latin typeface="Segoe UI"/>
              </a:rPr>
              <a:t>Evidence</a:t>
            </a:r>
          </a:p>
        </p:txBody>
      </p:sp>
      <p:sp>
        <p:nvSpPr>
          <p:cNvPr id="32" name="TextBox 31"/>
          <p:cNvSpPr txBox="1"/>
          <p:nvPr/>
        </p:nvSpPr>
        <p:spPr>
          <a:xfrm>
            <a:off x="7452360" y="3319272"/>
            <a:ext cx="1609344" cy="658368"/>
          </a:xfrm>
          <a:prstGeom prst="rect">
            <a:avLst/>
          </a:prstGeom>
          <a:noFill/>
        </p:spPr>
        <p:txBody>
          <a:bodyPr wrap="none" lIns="0" rIns="0" tIns="0" bIns="0" anchor="t">
            <a:spAutoFit/>
          </a:bodyPr>
          <a:lstStyle/>
          <a:p>
            <a:pPr algn="l"/>
            <a:r>
              <a:rPr sz="1000" b="0">
                <a:solidFill>
                  <a:srgbClr val="687B75"/>
                </a:solidFill>
                <a:latin typeface="Segoe UI"/>
              </a:rPr>
              <a:t>Capture views and bounded metrics</a:t>
            </a:r>
          </a:p>
        </p:txBody>
      </p:sp>
      <p:sp>
        <p:nvSpPr>
          <p:cNvPr id="33" name="Rectangle 32"/>
          <p:cNvSpPr/>
          <p:nvPr/>
        </p:nvSpPr>
        <p:spPr>
          <a:xfrm>
            <a:off x="7452360" y="4050791"/>
            <a:ext cx="603504" cy="50292"/>
          </a:xfrm>
          <a:prstGeom prst="rect">
            <a:avLst/>
          </a:prstGeom>
          <a:solidFill>
            <a:srgbClr val="9B51E0"/>
          </a:solidFill>
          <a:ln>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9226296" y="3136392"/>
            <a:ext cx="246888" cy="0"/>
          </a:xfrm>
          <a:prstGeom prst="line">
            <a:avLst/>
          </a:prstGeom>
          <a:ln w="19050">
            <a:solidFill>
              <a:srgbClr val="687B75"/>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28048" y="1965960"/>
            <a:ext cx="1938528" cy="23317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92640" y="2139696"/>
            <a:ext cx="457200" cy="457200"/>
          </a:xfrm>
          <a:prstGeom prst="roundRect">
            <a:avLst>
              <a:gd name="adj" fmla="val 8000"/>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92640" y="2221992"/>
            <a:ext cx="457200" cy="164592"/>
          </a:xfrm>
          <a:prstGeom prst="rect">
            <a:avLst/>
          </a:prstGeom>
          <a:noFill/>
        </p:spPr>
        <p:txBody>
          <a:bodyPr wrap="none" lIns="0" rIns="0" tIns="0" bIns="0" anchor="t">
            <a:spAutoFit/>
          </a:bodyPr>
          <a:lstStyle/>
          <a:p>
            <a:pPr algn="ctr"/>
            <a:r>
              <a:rPr sz="900" b="1">
                <a:solidFill>
                  <a:srgbClr val="FFFFFF"/>
                </a:solidFill>
                <a:latin typeface="Segoe UI"/>
              </a:rPr>
              <a:t>05</a:t>
            </a:r>
          </a:p>
        </p:txBody>
      </p:sp>
      <p:sp>
        <p:nvSpPr>
          <p:cNvPr id="38" name="TextBox 37"/>
          <p:cNvSpPr txBox="1"/>
          <p:nvPr/>
        </p:nvSpPr>
        <p:spPr>
          <a:xfrm>
            <a:off x="9692640" y="2761488"/>
            <a:ext cx="1609344" cy="438912"/>
          </a:xfrm>
          <a:prstGeom prst="rect">
            <a:avLst/>
          </a:prstGeom>
          <a:noFill/>
        </p:spPr>
        <p:txBody>
          <a:bodyPr wrap="none" lIns="0" rIns="0" tIns="0" bIns="0" anchor="t">
            <a:spAutoFit/>
          </a:bodyPr>
          <a:lstStyle/>
          <a:p>
            <a:pPr algn="l"/>
            <a:r>
              <a:rPr sz="1700" b="1">
                <a:solidFill>
                  <a:srgbClr val="18352F"/>
                </a:solidFill>
                <a:latin typeface="Segoe UI"/>
              </a:rPr>
              <a:t>Report</a:t>
            </a:r>
          </a:p>
        </p:txBody>
      </p:sp>
      <p:sp>
        <p:nvSpPr>
          <p:cNvPr id="39" name="TextBox 38"/>
          <p:cNvSpPr txBox="1"/>
          <p:nvPr/>
        </p:nvSpPr>
        <p:spPr>
          <a:xfrm>
            <a:off x="9692640" y="3319272"/>
            <a:ext cx="1609344" cy="658368"/>
          </a:xfrm>
          <a:prstGeom prst="rect">
            <a:avLst/>
          </a:prstGeom>
          <a:noFill/>
        </p:spPr>
        <p:txBody>
          <a:bodyPr wrap="none" lIns="0" rIns="0" tIns="0" bIns="0" anchor="t">
            <a:spAutoFit/>
          </a:bodyPr>
          <a:lstStyle/>
          <a:p>
            <a:pPr algn="l"/>
            <a:r>
              <a:rPr sz="1000" b="0">
                <a:solidFill>
                  <a:srgbClr val="687B75"/>
                </a:solidFill>
                <a:latin typeface="Segoe UI"/>
              </a:rPr>
              <a:t>Review advice and export PDF</a:t>
            </a:r>
          </a:p>
        </p:txBody>
      </p:sp>
      <p:sp>
        <p:nvSpPr>
          <p:cNvPr id="40" name="Rectangle 39"/>
          <p:cNvSpPr/>
          <p:nvPr/>
        </p:nvSpPr>
        <p:spPr>
          <a:xfrm>
            <a:off x="9692640" y="4050791"/>
            <a:ext cx="603504" cy="50292"/>
          </a:xfrm>
          <a:prstGeom prst="rect">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566928" y="4736592"/>
            <a:ext cx="11045952" cy="841248"/>
          </a:xfrm>
          <a:prstGeom prst="roundRect">
            <a:avLst>
              <a:gd name="adj" fmla="val 8000"/>
            </a:avLst>
          </a:prstGeom>
          <a:solidFill>
            <a:srgbClr val="163A3B"/>
          </a:solidFill>
          <a:ln>
            <a:solidFill>
              <a:srgbClr val="163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5001768"/>
            <a:ext cx="10469880" cy="256032"/>
          </a:xfrm>
          <a:prstGeom prst="rect">
            <a:avLst/>
          </a:prstGeom>
          <a:noFill/>
        </p:spPr>
        <p:txBody>
          <a:bodyPr wrap="none" lIns="0" rIns="0" tIns="0" bIns="0" anchor="t">
            <a:spAutoFit/>
          </a:bodyPr>
          <a:lstStyle/>
          <a:p>
            <a:pPr algn="ctr"/>
            <a:r>
              <a:rPr sz="1400" b="1">
                <a:solidFill>
                  <a:srgbClr val="FFFFFF"/>
                </a:solidFill>
                <a:latin typeface="Segoe UI"/>
              </a:rPr>
              <a:t>Every output is linked to the approved run. Stale or incomplete evidence stops here.</a:t>
            </a:r>
          </a:p>
        </p:txBody>
      </p:sp>
      <p:pic>
        <p:nvPicPr>
          <p:cNvPr id="43" name="Picture 42" descr="parkhaven-logo.png"/>
          <p:cNvPicPr>
            <a:picLocks noChangeAspect="1"/>
          </p:cNvPicPr>
          <p:nvPr/>
        </p:nvPicPr>
        <p:blipFill>
          <a:blip r:embed="rId2"/>
          <a:stretch>
            <a:fillRect/>
          </a:stretch>
        </p:blipFill>
        <p:spPr>
          <a:xfrm>
            <a:off x="566928" y="6364224"/>
            <a:ext cx="208434" cy="338328"/>
          </a:xfrm>
          <a:prstGeom prst="rect">
            <a:avLst/>
          </a:prstGeom>
        </p:spPr>
      </p:pic>
      <p:sp>
        <p:nvSpPr>
          <p:cNvPr id="44" name="TextBox 43"/>
          <p:cNvSpPr txBox="1"/>
          <p:nvPr/>
        </p:nvSpPr>
        <p:spPr>
          <a:xfrm>
            <a:off x="932688" y="6428232"/>
            <a:ext cx="2011680" cy="182880"/>
          </a:xfrm>
          <a:prstGeom prst="rect">
            <a:avLst/>
          </a:prstGeom>
          <a:noFill/>
        </p:spPr>
        <p:txBody>
          <a:bodyPr wrap="none" lIns="0" rIns="0">
            <a:spAutoFit/>
          </a:bodyPr>
          <a:lstStyle/>
          <a:p>
            <a:pPr algn="l"/>
            <a:r>
              <a:rPr sz="800" b="1">
                <a:solidFill>
                  <a:srgbClr val="18352F"/>
                </a:solidFill>
                <a:latin typeface="Segoe UI"/>
              </a:rPr>
              <a:t>PARKHAVEN </a:t>
            </a:r>
            <a:r>
              <a:rPr sz="800" b="0">
                <a:solidFill>
                  <a:srgbClr val="687B75"/>
                </a:solidFill>
                <a:latin typeface="Segoe UI"/>
              </a:rPr>
              <a:t>STUDIO</a:t>
            </a:r>
          </a:p>
        </p:txBody>
      </p:sp>
      <p:sp>
        <p:nvSpPr>
          <p:cNvPr id="45" name="TextBox 44"/>
          <p:cNvSpPr txBox="1"/>
          <p:nvPr/>
        </p:nvSpPr>
        <p:spPr>
          <a:xfrm>
            <a:off x="8458200" y="6428232"/>
            <a:ext cx="3154680" cy="182880"/>
          </a:xfrm>
          <a:prstGeom prst="rect">
            <a:avLst/>
          </a:prstGeom>
          <a:noFill/>
        </p:spPr>
        <p:txBody>
          <a:bodyPr wrap="none" lIns="0" rIns="0" tIns="0" bIns="0" anchor="t">
            <a:spAutoFit/>
          </a:bodyPr>
          <a:lstStyle/>
          <a:p>
            <a:pPr algn="r"/>
            <a:r>
              <a:rPr sz="700" b="1">
                <a:solidFill>
                  <a:srgbClr val="687B75"/>
                </a:solidFill>
                <a:latin typeface="Segoe UI"/>
              </a:rPr>
              <a:t>LOCAL • TRACEABLE • MODEL-GROUNDED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FE9"/>
          </a:solidFill>
          <a:ln>
            <a:solidFill>
              <a:srgbClr val="ECE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040880" cy="274320"/>
          </a:xfrm>
          <a:prstGeom prst="rect">
            <a:avLst/>
          </a:prstGeom>
          <a:noFill/>
        </p:spPr>
        <p:txBody>
          <a:bodyPr wrap="none" lIns="0" rIns="0" tIns="0" bIns="0" anchor="t">
            <a:spAutoFit/>
          </a:bodyPr>
          <a:lstStyle/>
          <a:p>
            <a:pPr algn="l"/>
            <a:r>
              <a:rPr sz="900" b="1">
                <a:solidFill>
                  <a:srgbClr val="687B75"/>
                </a:solidFill>
                <a:latin typeface="Segoe UI"/>
              </a:rPr>
              <a:t>LOCAL ARCHITECTURE</a:t>
            </a:r>
          </a:p>
        </p:txBody>
      </p:sp>
      <p:sp>
        <p:nvSpPr>
          <p:cNvPr id="4" name="TextBox 3"/>
          <p:cNvSpPr txBox="1"/>
          <p:nvPr/>
        </p:nvSpPr>
        <p:spPr>
          <a:xfrm>
            <a:off x="566928" y="640080"/>
            <a:ext cx="10789920" cy="621792"/>
          </a:xfrm>
          <a:prstGeom prst="rect">
            <a:avLst/>
          </a:prstGeom>
          <a:noFill/>
        </p:spPr>
        <p:txBody>
          <a:bodyPr wrap="none" lIns="0" rIns="0" tIns="0" bIns="0" anchor="t">
            <a:spAutoFit/>
          </a:bodyPr>
          <a:lstStyle/>
          <a:p>
            <a:pPr algn="l"/>
            <a:r>
              <a:rPr sz="2700" b="1">
                <a:solidFill>
                  <a:srgbClr val="18352F"/>
                </a:solidFill>
                <a:latin typeface="Segoe UI"/>
              </a:rPr>
              <a:t>Deterministic calculation, bounded interpretation</a:t>
            </a:r>
          </a:p>
        </p:txBody>
      </p:sp>
      <p:sp>
        <p:nvSpPr>
          <p:cNvPr id="5" name="TextBox 4"/>
          <p:cNvSpPr txBox="1"/>
          <p:nvPr/>
        </p:nvSpPr>
        <p:spPr>
          <a:xfrm>
            <a:off x="11109960" y="365760"/>
            <a:ext cx="502920" cy="256032"/>
          </a:xfrm>
          <a:prstGeom prst="rect">
            <a:avLst/>
          </a:prstGeom>
          <a:noFill/>
        </p:spPr>
        <p:txBody>
          <a:bodyPr wrap="none" lIns="0" rIns="0" tIns="0" bIns="0" anchor="t">
            <a:spAutoFit/>
          </a:bodyPr>
          <a:lstStyle/>
          <a:p>
            <a:pPr algn="r"/>
            <a:r>
              <a:rPr sz="900" b="1">
                <a:solidFill>
                  <a:srgbClr val="687B75"/>
                </a:solidFill>
                <a:latin typeface="Segoe UI"/>
              </a:rPr>
              <a:t>03</a:t>
            </a:r>
          </a:p>
        </p:txBody>
      </p:sp>
      <p:sp>
        <p:nvSpPr>
          <p:cNvPr id="6" name="Rectangle 5"/>
          <p:cNvSpPr/>
          <p:nvPr/>
        </p:nvSpPr>
        <p:spPr>
          <a:xfrm>
            <a:off x="566928" y="1325880"/>
            <a:ext cx="11045952" cy="13716"/>
          </a:xfrm>
          <a:prstGeom prst="rect">
            <a:avLst/>
          </a:prstGeom>
          <a:solidFill>
            <a:srgbClr val="D5DDD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93392"/>
            <a:ext cx="1965960" cy="1481328"/>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93392"/>
            <a:ext cx="50292" cy="1481328"/>
          </a:xfrm>
          <a:prstGeom prst="rect">
            <a:avLst/>
          </a:prstGeom>
          <a:solidFill>
            <a:srgbClr val="2F80ED"/>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157984"/>
            <a:ext cx="1636776" cy="182880"/>
          </a:xfrm>
          <a:prstGeom prst="rect">
            <a:avLst/>
          </a:prstGeom>
          <a:noFill/>
        </p:spPr>
        <p:txBody>
          <a:bodyPr wrap="none" lIns="0" rIns="0" tIns="0" bIns="0" anchor="t">
            <a:spAutoFit/>
          </a:bodyPr>
          <a:lstStyle/>
          <a:p>
            <a:pPr algn="l"/>
            <a:r>
              <a:rPr sz="800" b="1">
                <a:solidFill>
                  <a:srgbClr val="2F80ED"/>
                </a:solidFill>
                <a:latin typeface="Segoe UI"/>
              </a:rPr>
              <a:t>SOURCE</a:t>
            </a:r>
          </a:p>
        </p:txBody>
      </p:sp>
      <p:sp>
        <p:nvSpPr>
          <p:cNvPr id="10" name="TextBox 9"/>
          <p:cNvSpPr txBox="1"/>
          <p:nvPr/>
        </p:nvSpPr>
        <p:spPr>
          <a:xfrm>
            <a:off x="822959" y="2478024"/>
            <a:ext cx="1636776" cy="310896"/>
          </a:xfrm>
          <a:prstGeom prst="rect">
            <a:avLst/>
          </a:prstGeom>
          <a:noFill/>
        </p:spPr>
        <p:txBody>
          <a:bodyPr wrap="none" lIns="0" rIns="0" tIns="0" bIns="0" anchor="t">
            <a:spAutoFit/>
          </a:bodyPr>
          <a:lstStyle/>
          <a:p>
            <a:pPr algn="l"/>
            <a:r>
              <a:rPr sz="1400" b="1">
                <a:solidFill>
                  <a:srgbClr val="18352F"/>
                </a:solidFill>
                <a:latin typeface="Segoe UI"/>
              </a:rPr>
              <a:t>Rhino .3dm</a:t>
            </a:r>
          </a:p>
        </p:txBody>
      </p:sp>
      <p:sp>
        <p:nvSpPr>
          <p:cNvPr id="11" name="TextBox 10"/>
          <p:cNvSpPr txBox="1"/>
          <p:nvPr/>
        </p:nvSpPr>
        <p:spPr>
          <a:xfrm>
            <a:off x="822959" y="2944368"/>
            <a:ext cx="1636776" cy="320040"/>
          </a:xfrm>
          <a:prstGeom prst="rect">
            <a:avLst/>
          </a:prstGeom>
          <a:noFill/>
        </p:spPr>
        <p:txBody>
          <a:bodyPr wrap="none" lIns="0" rIns="0" tIns="0" bIns="0" anchor="t">
            <a:spAutoFit/>
          </a:bodyPr>
          <a:lstStyle/>
          <a:p>
            <a:pPr algn="l"/>
            <a:r>
              <a:rPr sz="900" b="0">
                <a:solidFill>
                  <a:srgbClr val="687B75"/>
                </a:solidFill>
                <a:latin typeface="Segoe UI"/>
              </a:rPr>
              <a:t>unchanged + SHA-256</a:t>
            </a:r>
          </a:p>
        </p:txBody>
      </p:sp>
      <p:sp>
        <p:nvSpPr>
          <p:cNvPr id="12" name="Rounded Rectangle 11"/>
          <p:cNvSpPr/>
          <p:nvPr/>
        </p:nvSpPr>
        <p:spPr>
          <a:xfrm>
            <a:off x="2971800" y="1993392"/>
            <a:ext cx="1965960" cy="1481328"/>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71800" y="1993392"/>
            <a:ext cx="50292" cy="1481328"/>
          </a:xfrm>
          <a:prstGeom prst="rect">
            <a:avLst/>
          </a:prstGeom>
          <a:solidFill>
            <a:srgbClr val="1F684E"/>
          </a:solidFill>
          <a:ln>
            <a:solidFill>
              <a:srgbClr val="1F68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36392" y="2157984"/>
            <a:ext cx="1636776" cy="182880"/>
          </a:xfrm>
          <a:prstGeom prst="rect">
            <a:avLst/>
          </a:prstGeom>
          <a:noFill/>
        </p:spPr>
        <p:txBody>
          <a:bodyPr wrap="none" lIns="0" rIns="0" tIns="0" bIns="0" anchor="t">
            <a:spAutoFit/>
          </a:bodyPr>
          <a:lstStyle/>
          <a:p>
            <a:pPr algn="l"/>
            <a:r>
              <a:rPr sz="800" b="1">
                <a:solidFill>
                  <a:srgbClr val="1F684E"/>
                </a:solidFill>
                <a:latin typeface="Segoe UI"/>
              </a:rPr>
              <a:t>DESKTOP APP</a:t>
            </a:r>
          </a:p>
        </p:txBody>
      </p:sp>
      <p:sp>
        <p:nvSpPr>
          <p:cNvPr id="15" name="TextBox 14"/>
          <p:cNvSpPr txBox="1"/>
          <p:nvPr/>
        </p:nvSpPr>
        <p:spPr>
          <a:xfrm>
            <a:off x="3136392" y="2478024"/>
            <a:ext cx="1636776" cy="310896"/>
          </a:xfrm>
          <a:prstGeom prst="rect">
            <a:avLst/>
          </a:prstGeom>
          <a:noFill/>
        </p:spPr>
        <p:txBody>
          <a:bodyPr wrap="none" lIns="0" rIns="0" tIns="0" bIns="0" anchor="t">
            <a:spAutoFit/>
          </a:bodyPr>
          <a:lstStyle/>
          <a:p>
            <a:pPr algn="l"/>
            <a:r>
              <a:rPr sz="1400" b="1">
                <a:solidFill>
                  <a:srgbClr val="18352F"/>
                </a:solidFill>
                <a:latin typeface="Segoe UI"/>
              </a:rPr>
              <a:t>Local backend</a:t>
            </a:r>
          </a:p>
        </p:txBody>
      </p:sp>
      <p:sp>
        <p:nvSpPr>
          <p:cNvPr id="16" name="TextBox 15"/>
          <p:cNvSpPr txBox="1"/>
          <p:nvPr/>
        </p:nvSpPr>
        <p:spPr>
          <a:xfrm>
            <a:off x="3136392" y="2944368"/>
            <a:ext cx="1636776" cy="320040"/>
          </a:xfrm>
          <a:prstGeom prst="rect">
            <a:avLst/>
          </a:prstGeom>
          <a:noFill/>
        </p:spPr>
        <p:txBody>
          <a:bodyPr wrap="none" lIns="0" rIns="0" tIns="0" bIns="0" anchor="t">
            <a:spAutoFit/>
          </a:bodyPr>
          <a:lstStyle/>
          <a:p>
            <a:pPr algn="l"/>
            <a:r>
              <a:rPr sz="900" b="0">
                <a:solidFill>
                  <a:srgbClr val="687B75"/>
                </a:solidFill>
                <a:latin typeface="Segoe UI"/>
              </a:rPr>
              <a:t>isolated run folder</a:t>
            </a:r>
          </a:p>
        </p:txBody>
      </p:sp>
      <p:sp>
        <p:nvSpPr>
          <p:cNvPr id="17" name="Rounded Rectangle 16"/>
          <p:cNvSpPr/>
          <p:nvPr/>
        </p:nvSpPr>
        <p:spPr>
          <a:xfrm>
            <a:off x="5285232" y="1993392"/>
            <a:ext cx="1965960" cy="1481328"/>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85232" y="1993392"/>
            <a:ext cx="50292" cy="1481328"/>
          </a:xfrm>
          <a:prstGeom prst="rect">
            <a:avLst/>
          </a:prstGeom>
          <a:solidFill>
            <a:srgbClr val="D7A35D"/>
          </a:solidFill>
          <a:ln>
            <a:solidFill>
              <a:srgbClr val="D7A3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9824" y="2157984"/>
            <a:ext cx="1636776" cy="182880"/>
          </a:xfrm>
          <a:prstGeom prst="rect">
            <a:avLst/>
          </a:prstGeom>
          <a:noFill/>
        </p:spPr>
        <p:txBody>
          <a:bodyPr wrap="none" lIns="0" rIns="0" tIns="0" bIns="0" anchor="t">
            <a:spAutoFit/>
          </a:bodyPr>
          <a:lstStyle/>
          <a:p>
            <a:pPr algn="l"/>
            <a:r>
              <a:rPr sz="800" b="1">
                <a:solidFill>
                  <a:srgbClr val="D7A35D"/>
                </a:solidFill>
                <a:latin typeface="Segoe UI"/>
              </a:rPr>
              <a:t>CALCULATION</a:t>
            </a:r>
          </a:p>
        </p:txBody>
      </p:sp>
      <p:sp>
        <p:nvSpPr>
          <p:cNvPr id="20" name="TextBox 19"/>
          <p:cNvSpPr txBox="1"/>
          <p:nvPr/>
        </p:nvSpPr>
        <p:spPr>
          <a:xfrm>
            <a:off x="5449824" y="2478024"/>
            <a:ext cx="1636776" cy="310896"/>
          </a:xfrm>
          <a:prstGeom prst="rect">
            <a:avLst/>
          </a:prstGeom>
          <a:noFill/>
        </p:spPr>
        <p:txBody>
          <a:bodyPr wrap="none" lIns="0" rIns="0" tIns="0" bIns="0" anchor="t">
            <a:spAutoFit/>
          </a:bodyPr>
          <a:lstStyle/>
          <a:p>
            <a:pPr algn="l"/>
            <a:r>
              <a:rPr sz="1400" b="1">
                <a:solidFill>
                  <a:srgbClr val="18352F"/>
                </a:solidFill>
                <a:latin typeface="Segoe UI"/>
              </a:rPr>
              <a:t>Rhino + Grasshopper</a:t>
            </a:r>
          </a:p>
        </p:txBody>
      </p:sp>
      <p:sp>
        <p:nvSpPr>
          <p:cNvPr id="21" name="TextBox 20"/>
          <p:cNvSpPr txBox="1"/>
          <p:nvPr/>
        </p:nvSpPr>
        <p:spPr>
          <a:xfrm>
            <a:off x="5449824" y="2944368"/>
            <a:ext cx="1636776" cy="320040"/>
          </a:xfrm>
          <a:prstGeom prst="rect">
            <a:avLst/>
          </a:prstGeom>
          <a:noFill/>
        </p:spPr>
        <p:txBody>
          <a:bodyPr wrap="none" lIns="0" rIns="0" tIns="0" bIns="0" anchor="t">
            <a:spAutoFit/>
          </a:bodyPr>
          <a:lstStyle/>
          <a:p>
            <a:pPr algn="l"/>
            <a:r>
              <a:rPr sz="900" b="0">
                <a:solidFill>
                  <a:srgbClr val="687B75"/>
                </a:solidFill>
                <a:latin typeface="Segoe UI"/>
              </a:rPr>
              <a:t>visible, repeatable solve</a:t>
            </a:r>
          </a:p>
        </p:txBody>
      </p:sp>
      <p:sp>
        <p:nvSpPr>
          <p:cNvPr id="22" name="Rounded Rectangle 21"/>
          <p:cNvSpPr/>
          <p:nvPr/>
        </p:nvSpPr>
        <p:spPr>
          <a:xfrm>
            <a:off x="7598664" y="1993392"/>
            <a:ext cx="1965960" cy="1481328"/>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98664" y="1993392"/>
            <a:ext cx="50292" cy="1481328"/>
          </a:xfrm>
          <a:prstGeom prst="rect">
            <a:avLst/>
          </a:prstGeom>
          <a:solidFill>
            <a:srgbClr val="9B51E0"/>
          </a:solidFill>
          <a:ln>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63256" y="2157984"/>
            <a:ext cx="1636776" cy="182880"/>
          </a:xfrm>
          <a:prstGeom prst="rect">
            <a:avLst/>
          </a:prstGeom>
          <a:noFill/>
        </p:spPr>
        <p:txBody>
          <a:bodyPr wrap="none" lIns="0" rIns="0" tIns="0" bIns="0" anchor="t">
            <a:spAutoFit/>
          </a:bodyPr>
          <a:lstStyle/>
          <a:p>
            <a:pPr algn="l"/>
            <a:r>
              <a:rPr sz="800" b="1">
                <a:solidFill>
                  <a:srgbClr val="9B51E0"/>
                </a:solidFill>
                <a:latin typeface="Segoe UI"/>
              </a:rPr>
              <a:t>EVIDENCE</a:t>
            </a:r>
          </a:p>
        </p:txBody>
      </p:sp>
      <p:sp>
        <p:nvSpPr>
          <p:cNvPr id="25" name="TextBox 24"/>
          <p:cNvSpPr txBox="1"/>
          <p:nvPr/>
        </p:nvSpPr>
        <p:spPr>
          <a:xfrm>
            <a:off x="7763256" y="2478024"/>
            <a:ext cx="1636776" cy="310896"/>
          </a:xfrm>
          <a:prstGeom prst="rect">
            <a:avLst/>
          </a:prstGeom>
          <a:noFill/>
        </p:spPr>
        <p:txBody>
          <a:bodyPr wrap="none" lIns="0" rIns="0" tIns="0" bIns="0" anchor="t">
            <a:spAutoFit/>
          </a:bodyPr>
          <a:lstStyle/>
          <a:p>
            <a:pPr algn="l"/>
            <a:r>
              <a:rPr sz="1400" b="1">
                <a:solidFill>
                  <a:srgbClr val="18352F"/>
                </a:solidFill>
                <a:latin typeface="Segoe UI"/>
              </a:rPr>
              <a:t>JSON + four views</a:t>
            </a:r>
          </a:p>
        </p:txBody>
      </p:sp>
      <p:sp>
        <p:nvSpPr>
          <p:cNvPr id="26" name="TextBox 25"/>
          <p:cNvSpPr txBox="1"/>
          <p:nvPr/>
        </p:nvSpPr>
        <p:spPr>
          <a:xfrm>
            <a:off x="7763256" y="2944368"/>
            <a:ext cx="1636776" cy="320040"/>
          </a:xfrm>
          <a:prstGeom prst="rect">
            <a:avLst/>
          </a:prstGeom>
          <a:noFill/>
        </p:spPr>
        <p:txBody>
          <a:bodyPr wrap="none" lIns="0" rIns="0" tIns="0" bIns="0" anchor="t">
            <a:spAutoFit/>
          </a:bodyPr>
          <a:lstStyle/>
          <a:p>
            <a:pPr algn="l"/>
            <a:r>
              <a:rPr sz="900" b="0">
                <a:solidFill>
                  <a:srgbClr val="687B75"/>
                </a:solidFill>
                <a:latin typeface="Segoe UI"/>
              </a:rPr>
              <a:t>hash-linked artifacts</a:t>
            </a:r>
          </a:p>
        </p:txBody>
      </p:sp>
      <p:sp>
        <p:nvSpPr>
          <p:cNvPr id="27" name="Rounded Rectangle 26"/>
          <p:cNvSpPr/>
          <p:nvPr/>
        </p:nvSpPr>
        <p:spPr>
          <a:xfrm>
            <a:off x="9912096" y="1993392"/>
            <a:ext cx="1627632" cy="1481328"/>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912096" y="1993392"/>
            <a:ext cx="50292" cy="1481328"/>
          </a:xfrm>
          <a:prstGeom prst="rect">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76688" y="2157984"/>
            <a:ext cx="1298448" cy="182880"/>
          </a:xfrm>
          <a:prstGeom prst="rect">
            <a:avLst/>
          </a:prstGeom>
          <a:noFill/>
        </p:spPr>
        <p:txBody>
          <a:bodyPr wrap="none" lIns="0" rIns="0" tIns="0" bIns="0" anchor="t">
            <a:spAutoFit/>
          </a:bodyPr>
          <a:lstStyle/>
          <a:p>
            <a:pPr algn="l"/>
            <a:r>
              <a:rPr sz="800" b="1">
                <a:solidFill>
                  <a:srgbClr val="D9683F"/>
                </a:solidFill>
                <a:latin typeface="Segoe UI"/>
              </a:rPr>
              <a:t>OUTPUT</a:t>
            </a:r>
          </a:p>
        </p:txBody>
      </p:sp>
      <p:sp>
        <p:nvSpPr>
          <p:cNvPr id="30" name="TextBox 29"/>
          <p:cNvSpPr txBox="1"/>
          <p:nvPr/>
        </p:nvSpPr>
        <p:spPr>
          <a:xfrm>
            <a:off x="10076688" y="2478024"/>
            <a:ext cx="1298448" cy="310896"/>
          </a:xfrm>
          <a:prstGeom prst="rect">
            <a:avLst/>
          </a:prstGeom>
          <a:noFill/>
        </p:spPr>
        <p:txBody>
          <a:bodyPr wrap="none" lIns="0" rIns="0" tIns="0" bIns="0" anchor="t">
            <a:spAutoFit/>
          </a:bodyPr>
          <a:lstStyle/>
          <a:p>
            <a:pPr algn="l"/>
            <a:r>
              <a:rPr sz="1400" b="1">
                <a:solidFill>
                  <a:srgbClr val="18352F"/>
                </a:solidFill>
                <a:latin typeface="Segoe UI"/>
              </a:rPr>
              <a:t>PDF review</a:t>
            </a:r>
          </a:p>
        </p:txBody>
      </p:sp>
      <p:sp>
        <p:nvSpPr>
          <p:cNvPr id="31" name="TextBox 30"/>
          <p:cNvSpPr txBox="1"/>
          <p:nvPr/>
        </p:nvSpPr>
        <p:spPr>
          <a:xfrm>
            <a:off x="10076688" y="2944368"/>
            <a:ext cx="1298448" cy="320040"/>
          </a:xfrm>
          <a:prstGeom prst="rect">
            <a:avLst/>
          </a:prstGeom>
          <a:noFill/>
        </p:spPr>
        <p:txBody>
          <a:bodyPr wrap="none" lIns="0" rIns="0" tIns="0" bIns="0" anchor="t">
            <a:spAutoFit/>
          </a:bodyPr>
          <a:lstStyle/>
          <a:p>
            <a:pPr algn="l"/>
            <a:r>
              <a:rPr sz="900" b="0">
                <a:solidFill>
                  <a:srgbClr val="687B75"/>
                </a:solidFill>
                <a:latin typeface="Segoe UI"/>
              </a:rPr>
              <a:t>metrics + hypotheses</a:t>
            </a:r>
          </a:p>
        </p:txBody>
      </p:sp>
      <p:cxnSp>
        <p:nvCxnSpPr>
          <p:cNvPr id="32" name="Connector 31"/>
          <p:cNvCxnSpPr/>
          <p:nvPr/>
        </p:nvCxnSpPr>
        <p:spPr>
          <a:xfrm>
            <a:off x="2624328" y="2734056"/>
            <a:ext cx="292608" cy="0"/>
          </a:xfrm>
          <a:prstGeom prst="line">
            <a:avLst/>
          </a:prstGeom>
          <a:ln w="19050">
            <a:solidFill>
              <a:srgbClr val="687B7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937760" y="2734056"/>
            <a:ext cx="292608" cy="0"/>
          </a:xfrm>
          <a:prstGeom prst="line">
            <a:avLst/>
          </a:prstGeom>
          <a:ln w="19050">
            <a:solidFill>
              <a:srgbClr val="687B75"/>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251192" y="2734056"/>
            <a:ext cx="292608" cy="0"/>
          </a:xfrm>
          <a:prstGeom prst="line">
            <a:avLst/>
          </a:prstGeom>
          <a:ln w="19050">
            <a:solidFill>
              <a:srgbClr val="687B75"/>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564624" y="2734056"/>
            <a:ext cx="292608" cy="0"/>
          </a:xfrm>
          <a:prstGeom prst="line">
            <a:avLst/>
          </a:prstGeom>
          <a:ln w="19050">
            <a:solidFill>
              <a:srgbClr val="687B75"/>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2971800" y="4078224"/>
            <a:ext cx="4279392" cy="1078992"/>
          </a:xfrm>
          <a:prstGeom prst="roundRect">
            <a:avLst>
              <a:gd name="adj" fmla="val 8000"/>
            </a:avLst>
          </a:prstGeom>
          <a:solidFill>
            <a:srgbClr val="163A3B"/>
          </a:solidFill>
          <a:ln>
            <a:solidFill>
              <a:srgbClr val="163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27832" y="4279392"/>
            <a:ext cx="1143000" cy="182880"/>
          </a:xfrm>
          <a:prstGeom prst="rect">
            <a:avLst/>
          </a:prstGeom>
          <a:noFill/>
        </p:spPr>
        <p:txBody>
          <a:bodyPr wrap="none" lIns="0" rIns="0" tIns="0" bIns="0" anchor="t">
            <a:spAutoFit/>
          </a:bodyPr>
          <a:lstStyle/>
          <a:p>
            <a:pPr algn="l"/>
            <a:r>
              <a:rPr sz="800" b="1">
                <a:solidFill>
                  <a:srgbClr val="B7E6C8"/>
                </a:solidFill>
                <a:latin typeface="Segoe UI"/>
              </a:rPr>
              <a:t>AUTHORITATIVE</a:t>
            </a:r>
          </a:p>
        </p:txBody>
      </p:sp>
      <p:sp>
        <p:nvSpPr>
          <p:cNvPr id="38" name="TextBox 37"/>
          <p:cNvSpPr txBox="1"/>
          <p:nvPr/>
        </p:nvSpPr>
        <p:spPr>
          <a:xfrm>
            <a:off x="3227832" y="4599432"/>
            <a:ext cx="3566160" cy="274320"/>
          </a:xfrm>
          <a:prstGeom prst="rect">
            <a:avLst/>
          </a:prstGeom>
          <a:noFill/>
        </p:spPr>
        <p:txBody>
          <a:bodyPr wrap="none" lIns="0" rIns="0" tIns="0" bIns="0" anchor="t">
            <a:spAutoFit/>
          </a:bodyPr>
          <a:lstStyle/>
          <a:p>
            <a:pPr algn="l"/>
            <a:r>
              <a:rPr sz="1600" b="1">
                <a:solidFill>
                  <a:srgbClr val="FFFFFF"/>
                </a:solidFill>
                <a:latin typeface="Segoe UI"/>
              </a:rPr>
              <a:t>Grasshopper metrics</a:t>
            </a:r>
          </a:p>
        </p:txBody>
      </p:sp>
      <p:sp>
        <p:nvSpPr>
          <p:cNvPr id="39" name="Rounded Rectangle 38"/>
          <p:cNvSpPr/>
          <p:nvPr/>
        </p:nvSpPr>
        <p:spPr>
          <a:xfrm>
            <a:off x="7598664" y="4078224"/>
            <a:ext cx="3941063" cy="1078992"/>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54696" y="4279392"/>
            <a:ext cx="1097280" cy="182880"/>
          </a:xfrm>
          <a:prstGeom prst="rect">
            <a:avLst/>
          </a:prstGeom>
          <a:noFill/>
        </p:spPr>
        <p:txBody>
          <a:bodyPr wrap="none" lIns="0" rIns="0" tIns="0" bIns="0" anchor="t">
            <a:spAutoFit/>
          </a:bodyPr>
          <a:lstStyle/>
          <a:p>
            <a:pPr algn="l"/>
            <a:r>
              <a:rPr sz="800" b="1">
                <a:solidFill>
                  <a:srgbClr val="D9683F"/>
                </a:solidFill>
                <a:latin typeface="Segoe UI"/>
              </a:rPr>
              <a:t>OPTIONAL AI</a:t>
            </a:r>
          </a:p>
        </p:txBody>
      </p:sp>
      <p:sp>
        <p:nvSpPr>
          <p:cNvPr id="41" name="TextBox 40"/>
          <p:cNvSpPr txBox="1"/>
          <p:nvPr/>
        </p:nvSpPr>
        <p:spPr>
          <a:xfrm>
            <a:off x="7854696" y="4599432"/>
            <a:ext cx="3383280" cy="274320"/>
          </a:xfrm>
          <a:prstGeom prst="rect">
            <a:avLst/>
          </a:prstGeom>
          <a:noFill/>
        </p:spPr>
        <p:txBody>
          <a:bodyPr wrap="none" lIns="0" rIns="0" tIns="0" bIns="0" anchor="t">
            <a:spAutoFit/>
          </a:bodyPr>
          <a:lstStyle/>
          <a:p>
            <a:pPr algn="l"/>
            <a:r>
              <a:rPr sz="1400" b="1">
                <a:solidFill>
                  <a:srgbClr val="18352F"/>
                </a:solidFill>
                <a:latin typeface="Segoe UI"/>
              </a:rPr>
              <a:t>Bounded text only — images stay local</a:t>
            </a:r>
          </a:p>
        </p:txBody>
      </p:sp>
      <p:cxnSp>
        <p:nvCxnSpPr>
          <p:cNvPr id="42" name="Connector 41"/>
          <p:cNvCxnSpPr/>
          <p:nvPr/>
        </p:nvCxnSpPr>
        <p:spPr>
          <a:xfrm>
            <a:off x="7251192" y="4617720"/>
            <a:ext cx="292608" cy="0"/>
          </a:xfrm>
          <a:prstGeom prst="line">
            <a:avLst/>
          </a:prstGeom>
          <a:ln w="19050">
            <a:solidFill>
              <a:srgbClr val="D9683F"/>
            </a:solidFill>
          </a:ln>
        </p:spPr>
        <p:style>
          <a:lnRef idx="2">
            <a:schemeClr val="accent1"/>
          </a:lnRef>
          <a:fillRef idx="0">
            <a:schemeClr val="accent1"/>
          </a:fillRef>
          <a:effectRef idx="1">
            <a:schemeClr val="accent1"/>
          </a:effectRef>
          <a:fontRef idx="minor">
            <a:schemeClr val="tx1"/>
          </a:fontRef>
        </p:style>
      </p:cxnSp>
      <p:pic>
        <p:nvPicPr>
          <p:cNvPr id="43" name="Picture 42" descr="parkhaven-logo.png"/>
          <p:cNvPicPr>
            <a:picLocks noChangeAspect="1"/>
          </p:cNvPicPr>
          <p:nvPr/>
        </p:nvPicPr>
        <p:blipFill>
          <a:blip r:embed="rId2"/>
          <a:stretch>
            <a:fillRect/>
          </a:stretch>
        </p:blipFill>
        <p:spPr>
          <a:xfrm>
            <a:off x="566928" y="6364224"/>
            <a:ext cx="208434" cy="338328"/>
          </a:xfrm>
          <a:prstGeom prst="rect">
            <a:avLst/>
          </a:prstGeom>
        </p:spPr>
      </p:pic>
      <p:sp>
        <p:nvSpPr>
          <p:cNvPr id="44" name="TextBox 43"/>
          <p:cNvSpPr txBox="1"/>
          <p:nvPr/>
        </p:nvSpPr>
        <p:spPr>
          <a:xfrm>
            <a:off x="932688" y="6428232"/>
            <a:ext cx="2011680" cy="182880"/>
          </a:xfrm>
          <a:prstGeom prst="rect">
            <a:avLst/>
          </a:prstGeom>
          <a:noFill/>
        </p:spPr>
        <p:txBody>
          <a:bodyPr wrap="none" lIns="0" rIns="0">
            <a:spAutoFit/>
          </a:bodyPr>
          <a:lstStyle/>
          <a:p>
            <a:pPr algn="l"/>
            <a:r>
              <a:rPr sz="800" b="1">
                <a:solidFill>
                  <a:srgbClr val="18352F"/>
                </a:solidFill>
                <a:latin typeface="Segoe UI"/>
              </a:rPr>
              <a:t>PARKHAVEN </a:t>
            </a:r>
            <a:r>
              <a:rPr sz="800" b="0">
                <a:solidFill>
                  <a:srgbClr val="687B75"/>
                </a:solidFill>
                <a:latin typeface="Segoe UI"/>
              </a:rPr>
              <a:t>STUDIO</a:t>
            </a:r>
          </a:p>
        </p:txBody>
      </p:sp>
      <p:sp>
        <p:nvSpPr>
          <p:cNvPr id="45" name="TextBox 44"/>
          <p:cNvSpPr txBox="1"/>
          <p:nvPr/>
        </p:nvSpPr>
        <p:spPr>
          <a:xfrm>
            <a:off x="8458200" y="6428232"/>
            <a:ext cx="3154680" cy="182880"/>
          </a:xfrm>
          <a:prstGeom prst="rect">
            <a:avLst/>
          </a:prstGeom>
          <a:noFill/>
        </p:spPr>
        <p:txBody>
          <a:bodyPr wrap="none" lIns="0" rIns="0" tIns="0" bIns="0" anchor="t">
            <a:spAutoFit/>
          </a:bodyPr>
          <a:lstStyle/>
          <a:p>
            <a:pPr algn="r"/>
            <a:r>
              <a:rPr sz="700" b="1">
                <a:solidFill>
                  <a:srgbClr val="687B75"/>
                </a:solidFill>
                <a:latin typeface="Segoe UI"/>
              </a:rPr>
              <a:t>LOCAL • TRACEABLE • MODEL-GROUNDED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FE9"/>
          </a:solidFill>
          <a:ln>
            <a:solidFill>
              <a:srgbClr val="ECE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040880" cy="274320"/>
          </a:xfrm>
          <a:prstGeom prst="rect">
            <a:avLst/>
          </a:prstGeom>
          <a:noFill/>
        </p:spPr>
        <p:txBody>
          <a:bodyPr wrap="none" lIns="0" rIns="0" tIns="0" bIns="0" anchor="t">
            <a:spAutoFit/>
          </a:bodyPr>
          <a:lstStyle/>
          <a:p>
            <a:pPr algn="l"/>
            <a:r>
              <a:rPr sz="900" b="1">
                <a:solidFill>
                  <a:srgbClr val="687B75"/>
                </a:solidFill>
                <a:latin typeface="Segoe UI"/>
              </a:rPr>
              <a:t>MODEL EVIDENCE</a:t>
            </a:r>
          </a:p>
        </p:txBody>
      </p:sp>
      <p:sp>
        <p:nvSpPr>
          <p:cNvPr id="4" name="TextBox 3"/>
          <p:cNvSpPr txBox="1"/>
          <p:nvPr/>
        </p:nvSpPr>
        <p:spPr>
          <a:xfrm>
            <a:off x="566928" y="640080"/>
            <a:ext cx="10789920" cy="621792"/>
          </a:xfrm>
          <a:prstGeom prst="rect">
            <a:avLst/>
          </a:prstGeom>
          <a:noFill/>
        </p:spPr>
        <p:txBody>
          <a:bodyPr wrap="none" lIns="0" rIns="0" tIns="0" bIns="0" anchor="t">
            <a:spAutoFit/>
          </a:bodyPr>
          <a:lstStyle/>
          <a:p>
            <a:pPr algn="l"/>
            <a:r>
              <a:rPr sz="2700" b="1">
                <a:solidFill>
                  <a:srgbClr val="18352F"/>
                </a:solidFill>
                <a:latin typeface="Segoe UI"/>
              </a:rPr>
              <a:t>Stable colors replace floating labels</a:t>
            </a:r>
          </a:p>
        </p:txBody>
      </p:sp>
      <p:sp>
        <p:nvSpPr>
          <p:cNvPr id="5" name="TextBox 4"/>
          <p:cNvSpPr txBox="1"/>
          <p:nvPr/>
        </p:nvSpPr>
        <p:spPr>
          <a:xfrm>
            <a:off x="11109960" y="365760"/>
            <a:ext cx="502920" cy="256032"/>
          </a:xfrm>
          <a:prstGeom prst="rect">
            <a:avLst/>
          </a:prstGeom>
          <a:noFill/>
        </p:spPr>
        <p:txBody>
          <a:bodyPr wrap="none" lIns="0" rIns="0" tIns="0" bIns="0" anchor="t">
            <a:spAutoFit/>
          </a:bodyPr>
          <a:lstStyle/>
          <a:p>
            <a:pPr algn="r"/>
            <a:r>
              <a:rPr sz="900" b="1">
                <a:solidFill>
                  <a:srgbClr val="687B75"/>
                </a:solidFill>
                <a:latin typeface="Segoe UI"/>
              </a:rPr>
              <a:t>04</a:t>
            </a:r>
          </a:p>
        </p:txBody>
      </p:sp>
      <p:sp>
        <p:nvSpPr>
          <p:cNvPr id="6" name="Rectangle 5"/>
          <p:cNvSpPr/>
          <p:nvPr/>
        </p:nvSpPr>
        <p:spPr>
          <a:xfrm>
            <a:off x="566928" y="1325880"/>
            <a:ext cx="11045952" cy="13716"/>
          </a:xfrm>
          <a:prstGeom prst="rect">
            <a:avLst/>
          </a:prstGeom>
          <a:solidFill>
            <a:srgbClr val="D5DDD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p.png"/>
          <p:cNvPicPr>
            <a:picLocks noChangeAspect="1"/>
          </p:cNvPicPr>
          <p:nvPr/>
        </p:nvPicPr>
        <p:blipFill>
          <a:blip r:embed="rId2"/>
          <a:stretch>
            <a:fillRect/>
          </a:stretch>
        </p:blipFill>
        <p:spPr>
          <a:xfrm>
            <a:off x="566928" y="1627632"/>
            <a:ext cx="5413248" cy="3611880"/>
          </a:xfrm>
          <a:prstGeom prst="rect">
            <a:avLst/>
          </a:prstGeom>
        </p:spPr>
      </p:pic>
      <p:pic>
        <p:nvPicPr>
          <p:cNvPr id="8" name="Picture 7" descr="overview.png"/>
          <p:cNvPicPr>
            <a:picLocks noChangeAspect="1"/>
          </p:cNvPicPr>
          <p:nvPr/>
        </p:nvPicPr>
        <p:blipFill>
          <a:blip r:embed="rId3"/>
          <a:stretch>
            <a:fillRect/>
          </a:stretch>
        </p:blipFill>
        <p:spPr>
          <a:xfrm>
            <a:off x="6199632" y="1627632"/>
            <a:ext cx="5413248" cy="3611880"/>
          </a:xfrm>
          <a:prstGeom prst="rect">
            <a:avLst/>
          </a:prstGeom>
        </p:spPr>
      </p:pic>
      <p:sp>
        <p:nvSpPr>
          <p:cNvPr id="9" name="TextBox 8"/>
          <p:cNvSpPr txBox="1"/>
          <p:nvPr/>
        </p:nvSpPr>
        <p:spPr>
          <a:xfrm>
            <a:off x="749808" y="4992624"/>
            <a:ext cx="1280160" cy="182880"/>
          </a:xfrm>
          <a:prstGeom prst="rect">
            <a:avLst/>
          </a:prstGeom>
          <a:noFill/>
        </p:spPr>
        <p:txBody>
          <a:bodyPr wrap="none" lIns="0" rIns="0" tIns="0" bIns="0" anchor="t">
            <a:spAutoFit/>
          </a:bodyPr>
          <a:lstStyle/>
          <a:p>
            <a:pPr algn="l"/>
            <a:r>
              <a:rPr sz="800" b="1">
                <a:solidFill>
                  <a:srgbClr val="FFFFFF"/>
                </a:solidFill>
                <a:latin typeface="Segoe UI"/>
              </a:rPr>
              <a:t>TOP VIEW</a:t>
            </a:r>
          </a:p>
        </p:txBody>
      </p:sp>
      <p:sp>
        <p:nvSpPr>
          <p:cNvPr id="10" name="TextBox 9"/>
          <p:cNvSpPr txBox="1"/>
          <p:nvPr/>
        </p:nvSpPr>
        <p:spPr>
          <a:xfrm>
            <a:off x="6382512" y="4992624"/>
            <a:ext cx="1280160" cy="182880"/>
          </a:xfrm>
          <a:prstGeom prst="rect">
            <a:avLst/>
          </a:prstGeom>
          <a:noFill/>
        </p:spPr>
        <p:txBody>
          <a:bodyPr wrap="none" lIns="0" rIns="0" tIns="0" bIns="0" anchor="t">
            <a:spAutoFit/>
          </a:bodyPr>
          <a:lstStyle/>
          <a:p>
            <a:pPr algn="l"/>
            <a:r>
              <a:rPr sz="800" b="1">
                <a:solidFill>
                  <a:srgbClr val="FFFFFF"/>
                </a:solidFill>
                <a:latin typeface="Segoe UI"/>
              </a:rPr>
              <a:t>OVERVIEW</a:t>
            </a:r>
          </a:p>
        </p:txBody>
      </p:sp>
      <p:sp>
        <p:nvSpPr>
          <p:cNvPr id="11" name="Rounded Rectangle 10"/>
          <p:cNvSpPr/>
          <p:nvPr/>
        </p:nvSpPr>
        <p:spPr>
          <a:xfrm>
            <a:off x="658368" y="5559552"/>
            <a:ext cx="182880" cy="182880"/>
          </a:xfrm>
          <a:prstGeom prst="roundRect">
            <a:avLst>
              <a:gd name="adj" fmla="val 8000"/>
            </a:avLst>
          </a:prstGeom>
          <a:solidFill>
            <a:srgbClr val="2F80ED"/>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50408"/>
            <a:ext cx="1024128" cy="219456"/>
          </a:xfrm>
          <a:prstGeom prst="rect">
            <a:avLst/>
          </a:prstGeom>
          <a:noFill/>
        </p:spPr>
        <p:txBody>
          <a:bodyPr wrap="none" lIns="0" rIns="0" tIns="0" bIns="0" anchor="t">
            <a:spAutoFit/>
          </a:bodyPr>
          <a:lstStyle/>
          <a:p>
            <a:pPr algn="l"/>
            <a:r>
              <a:rPr sz="1000" b="1">
                <a:solidFill>
                  <a:srgbClr val="18352F"/>
                </a:solidFill>
                <a:latin typeface="Segoe UI"/>
              </a:rPr>
              <a:t>Volume A</a:t>
            </a:r>
          </a:p>
        </p:txBody>
      </p:sp>
      <p:sp>
        <p:nvSpPr>
          <p:cNvPr id="13" name="Rounded Rectangle 12"/>
          <p:cNvSpPr/>
          <p:nvPr/>
        </p:nvSpPr>
        <p:spPr>
          <a:xfrm>
            <a:off x="2139696" y="5559552"/>
            <a:ext cx="182880" cy="182880"/>
          </a:xfrm>
          <a:prstGeom prst="roundRect">
            <a:avLst>
              <a:gd name="adj" fmla="val 8000"/>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95728" y="5550408"/>
            <a:ext cx="1024128" cy="219456"/>
          </a:xfrm>
          <a:prstGeom prst="rect">
            <a:avLst/>
          </a:prstGeom>
          <a:noFill/>
        </p:spPr>
        <p:txBody>
          <a:bodyPr wrap="none" lIns="0" rIns="0" tIns="0" bIns="0" anchor="t">
            <a:spAutoFit/>
          </a:bodyPr>
          <a:lstStyle/>
          <a:p>
            <a:pPr algn="l"/>
            <a:r>
              <a:rPr sz="1000" b="1">
                <a:solidFill>
                  <a:srgbClr val="18352F"/>
                </a:solidFill>
                <a:latin typeface="Segoe UI"/>
              </a:rPr>
              <a:t>Volume B</a:t>
            </a:r>
          </a:p>
        </p:txBody>
      </p:sp>
      <p:sp>
        <p:nvSpPr>
          <p:cNvPr id="15" name="Rounded Rectangle 14"/>
          <p:cNvSpPr/>
          <p:nvPr/>
        </p:nvSpPr>
        <p:spPr>
          <a:xfrm>
            <a:off x="3621024" y="5559552"/>
            <a:ext cx="182880" cy="182880"/>
          </a:xfrm>
          <a:prstGeom prst="roundRect">
            <a:avLst>
              <a:gd name="adj" fmla="val 8000"/>
            </a:avLst>
          </a:prstGeom>
          <a:solidFill>
            <a:srgbClr val="9B51E0"/>
          </a:solidFill>
          <a:ln>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77056" y="5550408"/>
            <a:ext cx="1024128" cy="219456"/>
          </a:xfrm>
          <a:prstGeom prst="rect">
            <a:avLst/>
          </a:prstGeom>
          <a:noFill/>
        </p:spPr>
        <p:txBody>
          <a:bodyPr wrap="none" lIns="0" rIns="0" tIns="0" bIns="0" anchor="t">
            <a:spAutoFit/>
          </a:bodyPr>
          <a:lstStyle/>
          <a:p>
            <a:pPr algn="l"/>
            <a:r>
              <a:rPr sz="1000" b="1">
                <a:solidFill>
                  <a:srgbClr val="18352F"/>
                </a:solidFill>
                <a:latin typeface="Segoe UI"/>
              </a:rPr>
              <a:t>Volume C</a:t>
            </a:r>
          </a:p>
        </p:txBody>
      </p:sp>
      <p:sp>
        <p:nvSpPr>
          <p:cNvPr id="17" name="TextBox 16"/>
          <p:cNvSpPr txBox="1"/>
          <p:nvPr/>
        </p:nvSpPr>
        <p:spPr>
          <a:xfrm>
            <a:off x="6876288" y="5559552"/>
            <a:ext cx="4645152" cy="228600"/>
          </a:xfrm>
          <a:prstGeom prst="rect">
            <a:avLst/>
          </a:prstGeom>
          <a:noFill/>
        </p:spPr>
        <p:txBody>
          <a:bodyPr wrap="none" lIns="0" rIns="0" tIns="0" bIns="0" anchor="t">
            <a:spAutoFit/>
          </a:bodyPr>
          <a:lstStyle/>
          <a:p>
            <a:pPr algn="r"/>
            <a:r>
              <a:rPr sz="1000" b="1">
                <a:solidFill>
                  <a:srgbClr val="687B75"/>
                </a:solidFill>
                <a:latin typeface="Segoe UI"/>
              </a:rPr>
              <a:t>4 cameras • 768 × 512 • analysis overlays hidden</a:t>
            </a:r>
          </a:p>
        </p:txBody>
      </p:sp>
      <p:pic>
        <p:nvPicPr>
          <p:cNvPr id="18" name="Picture 17" descr="parkhaven-logo.png"/>
          <p:cNvPicPr>
            <a:picLocks noChangeAspect="1"/>
          </p:cNvPicPr>
          <p:nvPr/>
        </p:nvPicPr>
        <p:blipFill>
          <a:blip r:embed="rId4"/>
          <a:stretch>
            <a:fillRect/>
          </a:stretch>
        </p:blipFill>
        <p:spPr>
          <a:xfrm>
            <a:off x="566928" y="6364224"/>
            <a:ext cx="208434" cy="338328"/>
          </a:xfrm>
          <a:prstGeom prst="rect">
            <a:avLst/>
          </a:prstGeom>
        </p:spPr>
      </p:pic>
      <p:sp>
        <p:nvSpPr>
          <p:cNvPr id="19" name="TextBox 18"/>
          <p:cNvSpPr txBox="1"/>
          <p:nvPr/>
        </p:nvSpPr>
        <p:spPr>
          <a:xfrm>
            <a:off x="932688" y="6428232"/>
            <a:ext cx="2011680" cy="182880"/>
          </a:xfrm>
          <a:prstGeom prst="rect">
            <a:avLst/>
          </a:prstGeom>
          <a:noFill/>
        </p:spPr>
        <p:txBody>
          <a:bodyPr wrap="none" lIns="0" rIns="0">
            <a:spAutoFit/>
          </a:bodyPr>
          <a:lstStyle/>
          <a:p>
            <a:pPr algn="l"/>
            <a:r>
              <a:rPr sz="800" b="1">
                <a:solidFill>
                  <a:srgbClr val="18352F"/>
                </a:solidFill>
                <a:latin typeface="Segoe UI"/>
              </a:rPr>
              <a:t>PARKHAVEN </a:t>
            </a:r>
            <a:r>
              <a:rPr sz="800" b="0">
                <a:solidFill>
                  <a:srgbClr val="687B75"/>
                </a:solidFill>
                <a:latin typeface="Segoe UI"/>
              </a:rPr>
              <a:t>STUDIO</a:t>
            </a:r>
          </a:p>
        </p:txBody>
      </p:sp>
      <p:sp>
        <p:nvSpPr>
          <p:cNvPr id="20" name="TextBox 19"/>
          <p:cNvSpPr txBox="1"/>
          <p:nvPr/>
        </p:nvSpPr>
        <p:spPr>
          <a:xfrm>
            <a:off x="8458200" y="6428232"/>
            <a:ext cx="3154680" cy="182880"/>
          </a:xfrm>
          <a:prstGeom prst="rect">
            <a:avLst/>
          </a:prstGeom>
          <a:noFill/>
        </p:spPr>
        <p:txBody>
          <a:bodyPr wrap="none" lIns="0" rIns="0" tIns="0" bIns="0" anchor="t">
            <a:spAutoFit/>
          </a:bodyPr>
          <a:lstStyle/>
          <a:p>
            <a:pPr algn="r"/>
            <a:r>
              <a:rPr sz="700" b="1">
                <a:solidFill>
                  <a:srgbClr val="687B75"/>
                </a:solidFill>
                <a:latin typeface="Segoe UI"/>
              </a:rPr>
              <a:t>LOCAL • TRACEABLE • MODEL-GROUNDED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FE9"/>
          </a:solidFill>
          <a:ln>
            <a:solidFill>
              <a:srgbClr val="ECE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040880" cy="274320"/>
          </a:xfrm>
          <a:prstGeom prst="rect">
            <a:avLst/>
          </a:prstGeom>
          <a:noFill/>
        </p:spPr>
        <p:txBody>
          <a:bodyPr wrap="none" lIns="0" rIns="0" tIns="0" bIns="0" anchor="t">
            <a:spAutoFit/>
          </a:bodyPr>
          <a:lstStyle/>
          <a:p>
            <a:pPr algn="l"/>
            <a:r>
              <a:rPr sz="900" b="1">
                <a:solidFill>
                  <a:srgbClr val="687B75"/>
                </a:solidFill>
                <a:latin typeface="Segoe UI"/>
              </a:rPr>
              <a:t>SCREENING RESULTS</a:t>
            </a:r>
          </a:p>
        </p:txBody>
      </p:sp>
      <p:sp>
        <p:nvSpPr>
          <p:cNvPr id="4" name="TextBox 3"/>
          <p:cNvSpPr txBox="1"/>
          <p:nvPr/>
        </p:nvSpPr>
        <p:spPr>
          <a:xfrm>
            <a:off x="566928" y="640080"/>
            <a:ext cx="10789920" cy="621792"/>
          </a:xfrm>
          <a:prstGeom prst="rect">
            <a:avLst/>
          </a:prstGeom>
          <a:noFill/>
        </p:spPr>
        <p:txBody>
          <a:bodyPr wrap="none" lIns="0" rIns="0" tIns="0" bIns="0" anchor="t">
            <a:spAutoFit/>
          </a:bodyPr>
          <a:lstStyle/>
          <a:p>
            <a:pPr algn="l"/>
            <a:r>
              <a:rPr sz="2700" b="1">
                <a:solidFill>
                  <a:srgbClr val="18352F"/>
                </a:solidFill>
                <a:latin typeface="Segoe UI"/>
              </a:rPr>
              <a:t>Numbers for comparison, not final engineering</a:t>
            </a:r>
          </a:p>
        </p:txBody>
      </p:sp>
      <p:sp>
        <p:nvSpPr>
          <p:cNvPr id="5" name="TextBox 4"/>
          <p:cNvSpPr txBox="1"/>
          <p:nvPr/>
        </p:nvSpPr>
        <p:spPr>
          <a:xfrm>
            <a:off x="11109960" y="365760"/>
            <a:ext cx="502920" cy="256032"/>
          </a:xfrm>
          <a:prstGeom prst="rect">
            <a:avLst/>
          </a:prstGeom>
          <a:noFill/>
        </p:spPr>
        <p:txBody>
          <a:bodyPr wrap="none" lIns="0" rIns="0" tIns="0" bIns="0" anchor="t">
            <a:spAutoFit/>
          </a:bodyPr>
          <a:lstStyle/>
          <a:p>
            <a:pPr algn="r"/>
            <a:r>
              <a:rPr sz="900" b="1">
                <a:solidFill>
                  <a:srgbClr val="687B75"/>
                </a:solidFill>
                <a:latin typeface="Segoe UI"/>
              </a:rPr>
              <a:t>05</a:t>
            </a:r>
          </a:p>
        </p:txBody>
      </p:sp>
      <p:sp>
        <p:nvSpPr>
          <p:cNvPr id="6" name="Rectangle 5"/>
          <p:cNvSpPr/>
          <p:nvPr/>
        </p:nvSpPr>
        <p:spPr>
          <a:xfrm>
            <a:off x="566928" y="1325880"/>
            <a:ext cx="11045952" cy="13716"/>
          </a:xfrm>
          <a:prstGeom prst="rect">
            <a:avLst/>
          </a:prstGeom>
          <a:solidFill>
            <a:srgbClr val="D5DDD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627632"/>
            <a:ext cx="3429000" cy="9601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73936"/>
            <a:ext cx="3099816" cy="182880"/>
          </a:xfrm>
          <a:prstGeom prst="rect">
            <a:avLst/>
          </a:prstGeom>
          <a:noFill/>
        </p:spPr>
        <p:txBody>
          <a:bodyPr wrap="none" lIns="0" rIns="0" tIns="0" bIns="0" anchor="t">
            <a:spAutoFit/>
          </a:bodyPr>
          <a:lstStyle/>
          <a:p>
            <a:pPr algn="l"/>
            <a:r>
              <a:rPr sz="800" b="1">
                <a:solidFill>
                  <a:srgbClr val="687B75"/>
                </a:solidFill>
                <a:latin typeface="Segoe UI"/>
              </a:rPr>
              <a:t>GROSS FLOOR AREA</a:t>
            </a:r>
          </a:p>
        </p:txBody>
      </p:sp>
      <p:sp>
        <p:nvSpPr>
          <p:cNvPr id="9" name="TextBox 8"/>
          <p:cNvSpPr txBox="1"/>
          <p:nvPr/>
        </p:nvSpPr>
        <p:spPr>
          <a:xfrm>
            <a:off x="731520" y="2039112"/>
            <a:ext cx="3099816" cy="347472"/>
          </a:xfrm>
          <a:prstGeom prst="rect">
            <a:avLst/>
          </a:prstGeom>
          <a:noFill/>
        </p:spPr>
        <p:txBody>
          <a:bodyPr wrap="none" lIns="0" rIns="0">
            <a:spAutoFit/>
          </a:bodyPr>
          <a:lstStyle/>
          <a:p>
            <a:pPr algn="l"/>
            <a:r>
              <a:rPr sz="1900" b="1">
                <a:solidFill>
                  <a:srgbClr val="18352F"/>
                </a:solidFill>
                <a:latin typeface="Segoe UI"/>
              </a:rPr>
              <a:t>51,868</a:t>
            </a:r>
            <a:r>
              <a:rPr sz="1900" b="0">
                <a:solidFill>
                  <a:srgbClr val="687B75"/>
                </a:solidFill>
                <a:latin typeface="Segoe UI"/>
              </a:rPr>
              <a:t> m²</a:t>
            </a:r>
          </a:p>
        </p:txBody>
      </p:sp>
      <p:sp>
        <p:nvSpPr>
          <p:cNvPr id="10" name="Rectangle 9"/>
          <p:cNvSpPr/>
          <p:nvPr/>
        </p:nvSpPr>
        <p:spPr>
          <a:xfrm>
            <a:off x="566928" y="1627632"/>
            <a:ext cx="50292" cy="960120"/>
          </a:xfrm>
          <a:prstGeom prst="rect">
            <a:avLst/>
          </a:prstGeom>
          <a:solidFill>
            <a:srgbClr val="1F684E"/>
          </a:solidFill>
          <a:ln>
            <a:solidFill>
              <a:srgbClr val="1F68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60520" y="1627632"/>
            <a:ext cx="3429000" cy="9601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5112" y="1773936"/>
            <a:ext cx="3099816" cy="182880"/>
          </a:xfrm>
          <a:prstGeom prst="rect">
            <a:avLst/>
          </a:prstGeom>
          <a:noFill/>
        </p:spPr>
        <p:txBody>
          <a:bodyPr wrap="none" lIns="0" rIns="0" tIns="0" bIns="0" anchor="t">
            <a:spAutoFit/>
          </a:bodyPr>
          <a:lstStyle/>
          <a:p>
            <a:pPr algn="l"/>
            <a:r>
              <a:rPr sz="800" b="1">
                <a:solidFill>
                  <a:srgbClr val="687B75"/>
                </a:solidFill>
                <a:latin typeface="Segoe UI"/>
              </a:rPr>
              <a:t>VISIBILITY</a:t>
            </a:r>
          </a:p>
        </p:txBody>
      </p:sp>
      <p:sp>
        <p:nvSpPr>
          <p:cNvPr id="13" name="TextBox 12"/>
          <p:cNvSpPr txBox="1"/>
          <p:nvPr/>
        </p:nvSpPr>
        <p:spPr>
          <a:xfrm>
            <a:off x="4325112" y="2039112"/>
            <a:ext cx="3099816" cy="347472"/>
          </a:xfrm>
          <a:prstGeom prst="rect">
            <a:avLst/>
          </a:prstGeom>
          <a:noFill/>
        </p:spPr>
        <p:txBody>
          <a:bodyPr wrap="none" lIns="0" rIns="0">
            <a:spAutoFit/>
          </a:bodyPr>
          <a:lstStyle/>
          <a:p>
            <a:pPr algn="l"/>
            <a:r>
              <a:rPr sz="1900" b="1">
                <a:solidFill>
                  <a:srgbClr val="18352F"/>
                </a:solidFill>
                <a:latin typeface="Segoe UI"/>
              </a:rPr>
              <a:t>24.5</a:t>
            </a:r>
            <a:r>
              <a:rPr sz="1900" b="0">
                <a:solidFill>
                  <a:srgbClr val="687B75"/>
                </a:solidFill>
                <a:latin typeface="Segoe UI"/>
              </a:rPr>
              <a:t>%</a:t>
            </a:r>
          </a:p>
        </p:txBody>
      </p:sp>
      <p:sp>
        <p:nvSpPr>
          <p:cNvPr id="14" name="Rectangle 13"/>
          <p:cNvSpPr/>
          <p:nvPr/>
        </p:nvSpPr>
        <p:spPr>
          <a:xfrm>
            <a:off x="4160520" y="1627632"/>
            <a:ext cx="50292" cy="960120"/>
          </a:xfrm>
          <a:prstGeom prst="rect">
            <a:avLst/>
          </a:prstGeom>
          <a:solidFill>
            <a:srgbClr val="2F80ED"/>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54112" y="1627632"/>
            <a:ext cx="3858768" cy="9601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8704" y="1773936"/>
            <a:ext cx="3529584" cy="182880"/>
          </a:xfrm>
          <a:prstGeom prst="rect">
            <a:avLst/>
          </a:prstGeom>
          <a:noFill/>
        </p:spPr>
        <p:txBody>
          <a:bodyPr wrap="none" lIns="0" rIns="0" tIns="0" bIns="0" anchor="t">
            <a:spAutoFit/>
          </a:bodyPr>
          <a:lstStyle/>
          <a:p>
            <a:pPr algn="l"/>
            <a:r>
              <a:rPr sz="800" b="1">
                <a:solidFill>
                  <a:srgbClr val="687B75"/>
                </a:solidFill>
                <a:latin typeface="Segoe UI"/>
              </a:rPr>
              <a:t>INDICATIVE COST</a:t>
            </a:r>
          </a:p>
        </p:txBody>
      </p:sp>
      <p:sp>
        <p:nvSpPr>
          <p:cNvPr id="17" name="TextBox 16"/>
          <p:cNvSpPr txBox="1"/>
          <p:nvPr/>
        </p:nvSpPr>
        <p:spPr>
          <a:xfrm>
            <a:off x="7918704" y="2039112"/>
            <a:ext cx="3529584" cy="347472"/>
          </a:xfrm>
          <a:prstGeom prst="rect">
            <a:avLst/>
          </a:prstGeom>
          <a:noFill/>
        </p:spPr>
        <p:txBody>
          <a:bodyPr wrap="none" lIns="0" rIns="0">
            <a:spAutoFit/>
          </a:bodyPr>
          <a:lstStyle/>
          <a:p>
            <a:pPr algn="l"/>
            <a:r>
              <a:rPr sz="1900" b="1">
                <a:solidFill>
                  <a:srgbClr val="18352F"/>
                </a:solidFill>
                <a:latin typeface="Segoe UI"/>
              </a:rPr>
              <a:t>€ 93.4</a:t>
            </a:r>
            <a:r>
              <a:rPr sz="1900" b="0">
                <a:solidFill>
                  <a:srgbClr val="687B75"/>
                </a:solidFill>
                <a:latin typeface="Segoe UI"/>
              </a:rPr>
              <a:t> million</a:t>
            </a:r>
          </a:p>
        </p:txBody>
      </p:sp>
      <p:sp>
        <p:nvSpPr>
          <p:cNvPr id="18" name="Rectangle 17"/>
          <p:cNvSpPr/>
          <p:nvPr/>
        </p:nvSpPr>
        <p:spPr>
          <a:xfrm>
            <a:off x="7754112" y="1627632"/>
            <a:ext cx="50292" cy="960120"/>
          </a:xfrm>
          <a:prstGeom prst="rect">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66928" y="2889504"/>
            <a:ext cx="5486400" cy="2670048"/>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136392"/>
            <a:ext cx="2103120" cy="201168"/>
          </a:xfrm>
          <a:prstGeom prst="rect">
            <a:avLst/>
          </a:prstGeom>
          <a:noFill/>
        </p:spPr>
        <p:txBody>
          <a:bodyPr wrap="none" lIns="0" rIns="0" tIns="0" bIns="0" anchor="t">
            <a:spAutoFit/>
          </a:bodyPr>
          <a:lstStyle/>
          <a:p>
            <a:pPr algn="l"/>
            <a:r>
              <a:rPr sz="900" b="1">
                <a:solidFill>
                  <a:srgbClr val="687B75"/>
                </a:solidFill>
                <a:latin typeface="Segoe UI"/>
              </a:rPr>
              <a:t>CLIMATE SCREENING</a:t>
            </a:r>
          </a:p>
        </p:txBody>
      </p:sp>
      <p:sp>
        <p:nvSpPr>
          <p:cNvPr id="21" name="TextBox 20"/>
          <p:cNvSpPr txBox="1"/>
          <p:nvPr/>
        </p:nvSpPr>
        <p:spPr>
          <a:xfrm>
            <a:off x="804672" y="3584448"/>
            <a:ext cx="1417320" cy="201168"/>
          </a:xfrm>
          <a:prstGeom prst="rect">
            <a:avLst/>
          </a:prstGeom>
          <a:noFill/>
        </p:spPr>
        <p:txBody>
          <a:bodyPr wrap="none" lIns="0" rIns="0" tIns="0" bIns="0" anchor="t">
            <a:spAutoFit/>
          </a:bodyPr>
          <a:lstStyle/>
          <a:p>
            <a:pPr algn="l"/>
            <a:r>
              <a:rPr sz="1000" b="1">
                <a:solidFill>
                  <a:srgbClr val="18352F"/>
                </a:solidFill>
                <a:latin typeface="Segoe UI"/>
              </a:rPr>
              <a:t>Mean sun hours</a:t>
            </a:r>
          </a:p>
        </p:txBody>
      </p:sp>
      <p:sp>
        <p:nvSpPr>
          <p:cNvPr id="22" name="Rounded Rectangle 21"/>
          <p:cNvSpPr/>
          <p:nvPr/>
        </p:nvSpPr>
        <p:spPr>
          <a:xfrm>
            <a:off x="2331720" y="3602736"/>
            <a:ext cx="2596896" cy="164592"/>
          </a:xfrm>
          <a:prstGeom prst="roundRect">
            <a:avLst>
              <a:gd name="adj" fmla="val 8000"/>
            </a:avLst>
          </a:prstGeom>
          <a:solidFill>
            <a:srgbClr val="E3E9E4"/>
          </a:solidFill>
          <a:ln>
            <a:solidFill>
              <a:srgbClr val="E3E9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331720" y="3602736"/>
            <a:ext cx="1015150" cy="164592"/>
          </a:xfrm>
          <a:prstGeom prst="roundRect">
            <a:avLst>
              <a:gd name="adj" fmla="val 8000"/>
            </a:avLst>
          </a:prstGeom>
          <a:solidFill>
            <a:srgbClr val="D7A35D"/>
          </a:solidFill>
          <a:ln>
            <a:solidFill>
              <a:srgbClr val="D7A3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1768" y="3575304"/>
            <a:ext cx="731520" cy="219456"/>
          </a:xfrm>
          <a:prstGeom prst="rect">
            <a:avLst/>
          </a:prstGeom>
          <a:noFill/>
        </p:spPr>
        <p:txBody>
          <a:bodyPr wrap="none" lIns="0" rIns="0" tIns="0" bIns="0" anchor="t">
            <a:spAutoFit/>
          </a:bodyPr>
          <a:lstStyle/>
          <a:p>
            <a:pPr algn="r"/>
            <a:r>
              <a:rPr sz="1000" b="1">
                <a:solidFill>
                  <a:srgbClr val="D7A35D"/>
                </a:solidFill>
                <a:latin typeface="Segoe UI"/>
              </a:rPr>
              <a:t>4.3 h</a:t>
            </a:r>
          </a:p>
        </p:txBody>
      </p:sp>
      <p:sp>
        <p:nvSpPr>
          <p:cNvPr id="25" name="TextBox 24"/>
          <p:cNvSpPr txBox="1"/>
          <p:nvPr/>
        </p:nvSpPr>
        <p:spPr>
          <a:xfrm>
            <a:off x="804672" y="4151376"/>
            <a:ext cx="1417320" cy="201168"/>
          </a:xfrm>
          <a:prstGeom prst="rect">
            <a:avLst/>
          </a:prstGeom>
          <a:noFill/>
        </p:spPr>
        <p:txBody>
          <a:bodyPr wrap="none" lIns="0" rIns="0" tIns="0" bIns="0" anchor="t">
            <a:spAutoFit/>
          </a:bodyPr>
          <a:lstStyle/>
          <a:p>
            <a:pPr algn="l"/>
            <a:r>
              <a:rPr sz="1000" b="1">
                <a:solidFill>
                  <a:srgbClr val="18352F"/>
                </a:solidFill>
                <a:latin typeface="Segoe UI"/>
              </a:rPr>
              <a:t>Maximum UTCI</a:t>
            </a:r>
          </a:p>
        </p:txBody>
      </p:sp>
      <p:sp>
        <p:nvSpPr>
          <p:cNvPr id="26" name="Rounded Rectangle 25"/>
          <p:cNvSpPr/>
          <p:nvPr/>
        </p:nvSpPr>
        <p:spPr>
          <a:xfrm>
            <a:off x="2331720" y="4169663"/>
            <a:ext cx="2596896" cy="164592"/>
          </a:xfrm>
          <a:prstGeom prst="roundRect">
            <a:avLst>
              <a:gd name="adj" fmla="val 8000"/>
            </a:avLst>
          </a:prstGeom>
          <a:solidFill>
            <a:srgbClr val="E3E9E4"/>
          </a:solidFill>
          <a:ln>
            <a:solidFill>
              <a:srgbClr val="E3E9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331720" y="4169663"/>
            <a:ext cx="1067612" cy="164592"/>
          </a:xfrm>
          <a:prstGeom prst="roundRect">
            <a:avLst>
              <a:gd name="adj" fmla="val 8000"/>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01768" y="4142232"/>
            <a:ext cx="731520" cy="219456"/>
          </a:xfrm>
          <a:prstGeom prst="rect">
            <a:avLst/>
          </a:prstGeom>
          <a:noFill/>
        </p:spPr>
        <p:txBody>
          <a:bodyPr wrap="none" lIns="0" rIns="0" tIns="0" bIns="0" anchor="t">
            <a:spAutoFit/>
          </a:bodyPr>
          <a:lstStyle/>
          <a:p>
            <a:pPr algn="r"/>
            <a:r>
              <a:rPr sz="1000" b="1">
                <a:solidFill>
                  <a:srgbClr val="D9683F"/>
                </a:solidFill>
                <a:latin typeface="Segoe UI"/>
              </a:rPr>
              <a:t>18.5 °C</a:t>
            </a:r>
          </a:p>
        </p:txBody>
      </p:sp>
      <p:sp>
        <p:nvSpPr>
          <p:cNvPr id="29" name="TextBox 28"/>
          <p:cNvSpPr txBox="1"/>
          <p:nvPr/>
        </p:nvSpPr>
        <p:spPr>
          <a:xfrm>
            <a:off x="804672" y="4718304"/>
            <a:ext cx="1417320" cy="201168"/>
          </a:xfrm>
          <a:prstGeom prst="rect">
            <a:avLst/>
          </a:prstGeom>
          <a:noFill/>
        </p:spPr>
        <p:txBody>
          <a:bodyPr wrap="none" lIns="0" rIns="0" tIns="0" bIns="0" anchor="t">
            <a:spAutoFit/>
          </a:bodyPr>
          <a:lstStyle/>
          <a:p>
            <a:pPr algn="l"/>
            <a:r>
              <a:rPr sz="1000" b="1">
                <a:solidFill>
                  <a:srgbClr val="18352F"/>
                </a:solidFill>
                <a:latin typeface="Segoe UI"/>
              </a:rPr>
              <a:t>Sunlit area</a:t>
            </a:r>
          </a:p>
        </p:txBody>
      </p:sp>
      <p:sp>
        <p:nvSpPr>
          <p:cNvPr id="30" name="Rounded Rectangle 29"/>
          <p:cNvSpPr/>
          <p:nvPr/>
        </p:nvSpPr>
        <p:spPr>
          <a:xfrm>
            <a:off x="2331720" y="4736592"/>
            <a:ext cx="2596896" cy="164592"/>
          </a:xfrm>
          <a:prstGeom prst="roundRect">
            <a:avLst>
              <a:gd name="adj" fmla="val 8000"/>
            </a:avLst>
          </a:prstGeom>
          <a:solidFill>
            <a:srgbClr val="E3E9E4"/>
          </a:solidFill>
          <a:ln>
            <a:solidFill>
              <a:srgbClr val="E3E9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331720" y="4736592"/>
            <a:ext cx="2048950" cy="164592"/>
          </a:xfrm>
          <a:prstGeom prst="roundRect">
            <a:avLst>
              <a:gd name="adj" fmla="val 8000"/>
            </a:avLst>
          </a:prstGeom>
          <a:solidFill>
            <a:srgbClr val="1F684E"/>
          </a:solidFill>
          <a:ln>
            <a:solidFill>
              <a:srgbClr val="1F68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01768" y="4709160"/>
            <a:ext cx="731520" cy="219456"/>
          </a:xfrm>
          <a:prstGeom prst="rect">
            <a:avLst/>
          </a:prstGeom>
          <a:noFill/>
        </p:spPr>
        <p:txBody>
          <a:bodyPr wrap="none" lIns="0" rIns="0" tIns="0" bIns="0" anchor="t">
            <a:spAutoFit/>
          </a:bodyPr>
          <a:lstStyle/>
          <a:p>
            <a:pPr algn="r"/>
            <a:r>
              <a:rPr sz="1000" b="1">
                <a:solidFill>
                  <a:srgbClr val="1F684E"/>
                </a:solidFill>
                <a:latin typeface="Segoe UI"/>
              </a:rPr>
              <a:t>78.9%</a:t>
            </a:r>
          </a:p>
        </p:txBody>
      </p:sp>
      <p:sp>
        <p:nvSpPr>
          <p:cNvPr id="33" name="Rounded Rectangle 32"/>
          <p:cNvSpPr/>
          <p:nvPr/>
        </p:nvSpPr>
        <p:spPr>
          <a:xfrm>
            <a:off x="6291072" y="2889504"/>
            <a:ext cx="5321808" cy="2670048"/>
          </a:xfrm>
          <a:prstGeom prst="roundRect">
            <a:avLst>
              <a:gd name="adj" fmla="val 8000"/>
            </a:avLst>
          </a:prstGeom>
          <a:solidFill>
            <a:srgbClr val="163A3B"/>
          </a:solidFill>
          <a:ln>
            <a:solidFill>
              <a:srgbClr val="163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65392" y="3136392"/>
            <a:ext cx="2194560" cy="201168"/>
          </a:xfrm>
          <a:prstGeom prst="rect">
            <a:avLst/>
          </a:prstGeom>
          <a:noFill/>
        </p:spPr>
        <p:txBody>
          <a:bodyPr wrap="none" lIns="0" rIns="0" tIns="0" bIns="0" anchor="t">
            <a:spAutoFit/>
          </a:bodyPr>
          <a:lstStyle/>
          <a:p>
            <a:pPr algn="l"/>
            <a:r>
              <a:rPr sz="900" b="1">
                <a:solidFill>
                  <a:srgbClr val="B7E6C8"/>
                </a:solidFill>
                <a:latin typeface="Segoe UI"/>
              </a:rPr>
              <a:t>FOUNDATION SCREENING</a:t>
            </a:r>
          </a:p>
        </p:txBody>
      </p:sp>
      <p:sp>
        <p:nvSpPr>
          <p:cNvPr id="35" name="TextBox 34"/>
          <p:cNvSpPr txBox="1"/>
          <p:nvPr/>
        </p:nvSpPr>
        <p:spPr>
          <a:xfrm>
            <a:off x="6565392" y="3566160"/>
            <a:ext cx="1920240" cy="694944"/>
          </a:xfrm>
          <a:prstGeom prst="rect">
            <a:avLst/>
          </a:prstGeom>
          <a:noFill/>
        </p:spPr>
        <p:txBody>
          <a:bodyPr wrap="none" lIns="0" rIns="0" tIns="0" bIns="0" anchor="t">
            <a:spAutoFit/>
          </a:bodyPr>
          <a:lstStyle/>
          <a:p>
            <a:pPr algn="l"/>
            <a:r>
              <a:rPr sz="3500" b="1">
                <a:solidFill>
                  <a:srgbClr val="FFFFFF"/>
                </a:solidFill>
                <a:latin typeface="Segoe UI"/>
              </a:rPr>
              <a:t>249</a:t>
            </a:r>
          </a:p>
        </p:txBody>
      </p:sp>
      <p:sp>
        <p:nvSpPr>
          <p:cNvPr id="36" name="TextBox 35"/>
          <p:cNvSpPr txBox="1"/>
          <p:nvPr/>
        </p:nvSpPr>
        <p:spPr>
          <a:xfrm>
            <a:off x="6565392" y="4270248"/>
            <a:ext cx="2011680" cy="274320"/>
          </a:xfrm>
          <a:prstGeom prst="rect">
            <a:avLst/>
          </a:prstGeom>
          <a:noFill/>
        </p:spPr>
        <p:txBody>
          <a:bodyPr wrap="none" lIns="0" rIns="0" tIns="0" bIns="0" anchor="t">
            <a:spAutoFit/>
          </a:bodyPr>
          <a:lstStyle/>
          <a:p>
            <a:pPr algn="l"/>
            <a:r>
              <a:rPr sz="1300" b="0">
                <a:solidFill>
                  <a:srgbClr val="B7E6C8"/>
                </a:solidFill>
                <a:latin typeface="Segoe UI"/>
              </a:rPr>
              <a:t>load-based piles</a:t>
            </a:r>
          </a:p>
        </p:txBody>
      </p:sp>
      <p:sp>
        <p:nvSpPr>
          <p:cNvPr id="37" name="Rectangle 36"/>
          <p:cNvSpPr/>
          <p:nvPr/>
        </p:nvSpPr>
        <p:spPr>
          <a:xfrm>
            <a:off x="8979408" y="3602736"/>
            <a:ext cx="18288" cy="1243584"/>
          </a:xfrm>
          <a:prstGeom prst="rect">
            <a:avLst/>
          </a:prstGeom>
          <a:solidFill>
            <a:srgbClr val="496766"/>
          </a:solidFill>
          <a:ln>
            <a:solidFill>
              <a:srgbClr val="496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08592" y="3602736"/>
            <a:ext cx="1737360" cy="411480"/>
          </a:xfrm>
          <a:prstGeom prst="rect">
            <a:avLst/>
          </a:prstGeom>
          <a:noFill/>
        </p:spPr>
        <p:txBody>
          <a:bodyPr wrap="none" lIns="0" rIns="0" tIns="0" bIns="0" anchor="t">
            <a:spAutoFit/>
          </a:bodyPr>
          <a:lstStyle/>
          <a:p>
            <a:pPr algn="l"/>
            <a:r>
              <a:rPr sz="2200" b="1">
                <a:solidFill>
                  <a:srgbClr val="FFFFFF"/>
                </a:solidFill>
                <a:latin typeface="Segoe UI"/>
              </a:rPr>
              <a:t>6.0 m</a:t>
            </a:r>
          </a:p>
        </p:txBody>
      </p:sp>
      <p:sp>
        <p:nvSpPr>
          <p:cNvPr id="39" name="TextBox 38"/>
          <p:cNvSpPr txBox="1"/>
          <p:nvPr/>
        </p:nvSpPr>
        <p:spPr>
          <a:xfrm>
            <a:off x="9308592" y="4087368"/>
            <a:ext cx="1737360" cy="256032"/>
          </a:xfrm>
          <a:prstGeom prst="rect">
            <a:avLst/>
          </a:prstGeom>
          <a:noFill/>
        </p:spPr>
        <p:txBody>
          <a:bodyPr wrap="none" lIns="0" rIns="0" tIns="0" bIns="0" anchor="t">
            <a:spAutoFit/>
          </a:bodyPr>
          <a:lstStyle/>
          <a:p>
            <a:pPr algn="l"/>
            <a:r>
              <a:rPr sz="1100" b="0">
                <a:solidFill>
                  <a:srgbClr val="B7E6C8"/>
                </a:solidFill>
                <a:latin typeface="Segoe UI"/>
              </a:rPr>
              <a:t>grid centres</a:t>
            </a:r>
          </a:p>
        </p:txBody>
      </p:sp>
      <p:sp>
        <p:nvSpPr>
          <p:cNvPr id="40" name="TextBox 39"/>
          <p:cNvSpPr txBox="1"/>
          <p:nvPr/>
        </p:nvSpPr>
        <p:spPr>
          <a:xfrm>
            <a:off x="6565392" y="5038344"/>
            <a:ext cx="4480560" cy="201168"/>
          </a:xfrm>
          <a:prstGeom prst="rect">
            <a:avLst/>
          </a:prstGeom>
          <a:noFill/>
        </p:spPr>
        <p:txBody>
          <a:bodyPr wrap="none" lIns="0" rIns="0" tIns="0" bIns="0" anchor="t">
            <a:spAutoFit/>
          </a:bodyPr>
          <a:lstStyle/>
          <a:p>
            <a:pPr algn="l"/>
            <a:r>
              <a:rPr sz="800" b="1">
                <a:solidFill>
                  <a:srgbClr val="9DBDB5"/>
                </a:solidFill>
                <a:latin typeface="Segoe UI"/>
              </a:rPr>
              <a:t>INDICATIVE — requires engineering verification</a:t>
            </a:r>
          </a:p>
        </p:txBody>
      </p:sp>
      <p:pic>
        <p:nvPicPr>
          <p:cNvPr id="41" name="Picture 40" descr="parkhaven-logo.png"/>
          <p:cNvPicPr>
            <a:picLocks noChangeAspect="1"/>
          </p:cNvPicPr>
          <p:nvPr/>
        </p:nvPicPr>
        <p:blipFill>
          <a:blip r:embed="rId2"/>
          <a:stretch>
            <a:fillRect/>
          </a:stretch>
        </p:blipFill>
        <p:spPr>
          <a:xfrm>
            <a:off x="566928" y="6364224"/>
            <a:ext cx="208434" cy="338328"/>
          </a:xfrm>
          <a:prstGeom prst="rect">
            <a:avLst/>
          </a:prstGeom>
        </p:spPr>
      </p:pic>
      <p:sp>
        <p:nvSpPr>
          <p:cNvPr id="42" name="TextBox 41"/>
          <p:cNvSpPr txBox="1"/>
          <p:nvPr/>
        </p:nvSpPr>
        <p:spPr>
          <a:xfrm>
            <a:off x="932688" y="6428232"/>
            <a:ext cx="2011680" cy="182880"/>
          </a:xfrm>
          <a:prstGeom prst="rect">
            <a:avLst/>
          </a:prstGeom>
          <a:noFill/>
        </p:spPr>
        <p:txBody>
          <a:bodyPr wrap="none" lIns="0" rIns="0">
            <a:spAutoFit/>
          </a:bodyPr>
          <a:lstStyle/>
          <a:p>
            <a:pPr algn="l"/>
            <a:r>
              <a:rPr sz="800" b="1">
                <a:solidFill>
                  <a:srgbClr val="18352F"/>
                </a:solidFill>
                <a:latin typeface="Segoe UI"/>
              </a:rPr>
              <a:t>PARKHAVEN </a:t>
            </a:r>
            <a:r>
              <a:rPr sz="800" b="0">
                <a:solidFill>
                  <a:srgbClr val="687B75"/>
                </a:solidFill>
                <a:latin typeface="Segoe UI"/>
              </a:rPr>
              <a:t>STUDIO</a:t>
            </a:r>
          </a:p>
        </p:txBody>
      </p:sp>
      <p:sp>
        <p:nvSpPr>
          <p:cNvPr id="43" name="TextBox 42"/>
          <p:cNvSpPr txBox="1"/>
          <p:nvPr/>
        </p:nvSpPr>
        <p:spPr>
          <a:xfrm>
            <a:off x="8458200" y="6428232"/>
            <a:ext cx="3154680" cy="182880"/>
          </a:xfrm>
          <a:prstGeom prst="rect">
            <a:avLst/>
          </a:prstGeom>
          <a:noFill/>
        </p:spPr>
        <p:txBody>
          <a:bodyPr wrap="none" lIns="0" rIns="0" tIns="0" bIns="0" anchor="t">
            <a:spAutoFit/>
          </a:bodyPr>
          <a:lstStyle/>
          <a:p>
            <a:pPr algn="r"/>
            <a:r>
              <a:rPr sz="700" b="1">
                <a:solidFill>
                  <a:srgbClr val="687B75"/>
                </a:solidFill>
                <a:latin typeface="Segoe UI"/>
              </a:rPr>
              <a:t>LOCAL • TRACEABLE • MODEL-GROUNDED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FE9"/>
          </a:solidFill>
          <a:ln>
            <a:solidFill>
              <a:srgbClr val="ECE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040880" cy="274320"/>
          </a:xfrm>
          <a:prstGeom prst="rect">
            <a:avLst/>
          </a:prstGeom>
          <a:noFill/>
        </p:spPr>
        <p:txBody>
          <a:bodyPr wrap="none" lIns="0" rIns="0" tIns="0" bIns="0" anchor="t">
            <a:spAutoFit/>
          </a:bodyPr>
          <a:lstStyle/>
          <a:p>
            <a:pPr algn="l"/>
            <a:r>
              <a:rPr sz="900" b="1">
                <a:solidFill>
                  <a:srgbClr val="687B75"/>
                </a:solidFill>
                <a:latin typeface="Segoe UI"/>
              </a:rPr>
              <a:t>TRUST CONTROLS</a:t>
            </a:r>
          </a:p>
        </p:txBody>
      </p:sp>
      <p:sp>
        <p:nvSpPr>
          <p:cNvPr id="4" name="TextBox 3"/>
          <p:cNvSpPr txBox="1"/>
          <p:nvPr/>
        </p:nvSpPr>
        <p:spPr>
          <a:xfrm>
            <a:off x="566928" y="640080"/>
            <a:ext cx="10789920" cy="621792"/>
          </a:xfrm>
          <a:prstGeom prst="rect">
            <a:avLst/>
          </a:prstGeom>
          <a:noFill/>
        </p:spPr>
        <p:txBody>
          <a:bodyPr wrap="none" lIns="0" rIns="0" tIns="0" bIns="0" anchor="t">
            <a:spAutoFit/>
          </a:bodyPr>
          <a:lstStyle/>
          <a:p>
            <a:pPr algn="l"/>
            <a:r>
              <a:rPr sz="2700" b="1">
                <a:solidFill>
                  <a:srgbClr val="18352F"/>
                </a:solidFill>
                <a:latin typeface="Segoe UI"/>
              </a:rPr>
              <a:t>The app blocks unsupported conclusions</a:t>
            </a:r>
          </a:p>
        </p:txBody>
      </p:sp>
      <p:sp>
        <p:nvSpPr>
          <p:cNvPr id="5" name="TextBox 4"/>
          <p:cNvSpPr txBox="1"/>
          <p:nvPr/>
        </p:nvSpPr>
        <p:spPr>
          <a:xfrm>
            <a:off x="11109960" y="365760"/>
            <a:ext cx="502920" cy="256032"/>
          </a:xfrm>
          <a:prstGeom prst="rect">
            <a:avLst/>
          </a:prstGeom>
          <a:noFill/>
        </p:spPr>
        <p:txBody>
          <a:bodyPr wrap="none" lIns="0" rIns="0" tIns="0" bIns="0" anchor="t">
            <a:spAutoFit/>
          </a:bodyPr>
          <a:lstStyle/>
          <a:p>
            <a:pPr algn="r"/>
            <a:r>
              <a:rPr sz="900" b="1">
                <a:solidFill>
                  <a:srgbClr val="687B75"/>
                </a:solidFill>
                <a:latin typeface="Segoe UI"/>
              </a:rPr>
              <a:t>06</a:t>
            </a:r>
          </a:p>
        </p:txBody>
      </p:sp>
      <p:sp>
        <p:nvSpPr>
          <p:cNvPr id="6" name="Rectangle 5"/>
          <p:cNvSpPr/>
          <p:nvPr/>
        </p:nvSpPr>
        <p:spPr>
          <a:xfrm>
            <a:off x="566928" y="1325880"/>
            <a:ext cx="11045952" cy="13716"/>
          </a:xfrm>
          <a:prstGeom prst="rect">
            <a:avLst/>
          </a:prstGeom>
          <a:solidFill>
            <a:srgbClr val="D5DDD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700784"/>
            <a:ext cx="3401568" cy="132588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700784"/>
            <a:ext cx="54864" cy="1325880"/>
          </a:xfrm>
          <a:prstGeom prst="rect">
            <a:avLst/>
          </a:prstGeom>
          <a:solidFill>
            <a:srgbClr val="2F80ED"/>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901952"/>
            <a:ext cx="1097280" cy="182880"/>
          </a:xfrm>
          <a:prstGeom prst="rect">
            <a:avLst/>
          </a:prstGeom>
          <a:noFill/>
        </p:spPr>
        <p:txBody>
          <a:bodyPr wrap="none" lIns="0" rIns="0" tIns="0" bIns="0" anchor="t">
            <a:spAutoFit/>
          </a:bodyPr>
          <a:lstStyle/>
          <a:p>
            <a:pPr algn="l"/>
            <a:r>
              <a:rPr sz="800" b="1">
                <a:solidFill>
                  <a:srgbClr val="2F80ED"/>
                </a:solidFill>
                <a:latin typeface="Segoe UI"/>
              </a:rPr>
              <a:t>SOURCE</a:t>
            </a:r>
          </a:p>
        </p:txBody>
      </p:sp>
      <p:sp>
        <p:nvSpPr>
          <p:cNvPr id="10" name="TextBox 9"/>
          <p:cNvSpPr txBox="1"/>
          <p:nvPr/>
        </p:nvSpPr>
        <p:spPr>
          <a:xfrm>
            <a:off x="786384" y="2249424"/>
            <a:ext cx="2907792" cy="274320"/>
          </a:xfrm>
          <a:prstGeom prst="rect">
            <a:avLst/>
          </a:prstGeom>
          <a:noFill/>
        </p:spPr>
        <p:txBody>
          <a:bodyPr wrap="none" lIns="0" rIns="0" tIns="0" bIns="0" anchor="t">
            <a:spAutoFit/>
          </a:bodyPr>
          <a:lstStyle/>
          <a:p>
            <a:pPr algn="l"/>
            <a:r>
              <a:rPr sz="1500" b="1">
                <a:solidFill>
                  <a:srgbClr val="18352F"/>
                </a:solidFill>
                <a:latin typeface="Segoe UI"/>
              </a:rPr>
              <a:t>Original 3DM unchanged</a:t>
            </a:r>
          </a:p>
        </p:txBody>
      </p:sp>
      <p:sp>
        <p:nvSpPr>
          <p:cNvPr id="11" name="TextBox 10"/>
          <p:cNvSpPr txBox="1"/>
          <p:nvPr/>
        </p:nvSpPr>
        <p:spPr>
          <a:xfrm>
            <a:off x="786384" y="2651760"/>
            <a:ext cx="2907792" cy="182880"/>
          </a:xfrm>
          <a:prstGeom prst="rect">
            <a:avLst/>
          </a:prstGeom>
          <a:noFill/>
        </p:spPr>
        <p:txBody>
          <a:bodyPr wrap="none" lIns="0" rIns="0" tIns="0" bIns="0" anchor="t">
            <a:spAutoFit/>
          </a:bodyPr>
          <a:lstStyle/>
          <a:p>
            <a:pPr algn="l"/>
            <a:r>
              <a:rPr sz="900" b="0">
                <a:solidFill>
                  <a:srgbClr val="687B75"/>
                </a:solidFill>
                <a:latin typeface="Segoe UI"/>
              </a:rPr>
              <a:t>SHA-256 linked</a:t>
            </a:r>
          </a:p>
        </p:txBody>
      </p:sp>
      <p:sp>
        <p:nvSpPr>
          <p:cNvPr id="12" name="Rounded Rectangle 11"/>
          <p:cNvSpPr/>
          <p:nvPr/>
        </p:nvSpPr>
        <p:spPr>
          <a:xfrm>
            <a:off x="4261104" y="1700784"/>
            <a:ext cx="3401568" cy="132588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61104" y="1700784"/>
            <a:ext cx="54864" cy="1325880"/>
          </a:xfrm>
          <a:prstGeom prst="rect">
            <a:avLst/>
          </a:prstGeom>
          <a:solidFill>
            <a:srgbClr val="9B51E0"/>
          </a:solidFill>
          <a:ln>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901952"/>
            <a:ext cx="1097280" cy="182880"/>
          </a:xfrm>
          <a:prstGeom prst="rect">
            <a:avLst/>
          </a:prstGeom>
          <a:noFill/>
        </p:spPr>
        <p:txBody>
          <a:bodyPr wrap="none" lIns="0" rIns="0" tIns="0" bIns="0" anchor="t">
            <a:spAutoFit/>
          </a:bodyPr>
          <a:lstStyle/>
          <a:p>
            <a:pPr algn="l"/>
            <a:r>
              <a:rPr sz="800" b="1">
                <a:solidFill>
                  <a:srgbClr val="9B51E0"/>
                </a:solidFill>
                <a:latin typeface="Segoe UI"/>
              </a:rPr>
              <a:t>EVIDENCE</a:t>
            </a:r>
          </a:p>
        </p:txBody>
      </p:sp>
      <p:sp>
        <p:nvSpPr>
          <p:cNvPr id="15" name="TextBox 14"/>
          <p:cNvSpPr txBox="1"/>
          <p:nvPr/>
        </p:nvSpPr>
        <p:spPr>
          <a:xfrm>
            <a:off x="4480560" y="2249424"/>
            <a:ext cx="2907792" cy="274320"/>
          </a:xfrm>
          <a:prstGeom prst="rect">
            <a:avLst/>
          </a:prstGeom>
          <a:noFill/>
        </p:spPr>
        <p:txBody>
          <a:bodyPr wrap="none" lIns="0" rIns="0" tIns="0" bIns="0" anchor="t">
            <a:spAutoFit/>
          </a:bodyPr>
          <a:lstStyle/>
          <a:p>
            <a:pPr algn="l"/>
            <a:r>
              <a:rPr sz="1500" b="1">
                <a:solidFill>
                  <a:srgbClr val="18352F"/>
                </a:solidFill>
                <a:latin typeface="Segoe UI"/>
              </a:rPr>
              <a:t>Current run only</a:t>
            </a:r>
          </a:p>
        </p:txBody>
      </p:sp>
      <p:sp>
        <p:nvSpPr>
          <p:cNvPr id="16" name="TextBox 15"/>
          <p:cNvSpPr txBox="1"/>
          <p:nvPr/>
        </p:nvSpPr>
        <p:spPr>
          <a:xfrm>
            <a:off x="4480560" y="2651760"/>
            <a:ext cx="2907792" cy="182880"/>
          </a:xfrm>
          <a:prstGeom prst="rect">
            <a:avLst/>
          </a:prstGeom>
          <a:noFill/>
        </p:spPr>
        <p:txBody>
          <a:bodyPr wrap="none" lIns="0" rIns="0" tIns="0" bIns="0" anchor="t">
            <a:spAutoFit/>
          </a:bodyPr>
          <a:lstStyle/>
          <a:p>
            <a:pPr algn="l"/>
            <a:r>
              <a:rPr sz="900" b="0">
                <a:solidFill>
                  <a:srgbClr val="687B75"/>
                </a:solidFill>
                <a:latin typeface="Segoe UI"/>
              </a:rPr>
              <a:t>scene + metrics + views</a:t>
            </a:r>
          </a:p>
        </p:txBody>
      </p:sp>
      <p:sp>
        <p:nvSpPr>
          <p:cNvPr id="17" name="Rounded Rectangle 16"/>
          <p:cNvSpPr/>
          <p:nvPr/>
        </p:nvSpPr>
        <p:spPr>
          <a:xfrm>
            <a:off x="7955279" y="1700784"/>
            <a:ext cx="3401568" cy="132588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55279" y="1700784"/>
            <a:ext cx="54864" cy="1325880"/>
          </a:xfrm>
          <a:prstGeom prst="rect">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4736" y="1901952"/>
            <a:ext cx="1097280" cy="182880"/>
          </a:xfrm>
          <a:prstGeom prst="rect">
            <a:avLst/>
          </a:prstGeom>
          <a:noFill/>
        </p:spPr>
        <p:txBody>
          <a:bodyPr wrap="none" lIns="0" rIns="0" tIns="0" bIns="0" anchor="t">
            <a:spAutoFit/>
          </a:bodyPr>
          <a:lstStyle/>
          <a:p>
            <a:pPr algn="l"/>
            <a:r>
              <a:rPr sz="800" b="1">
                <a:solidFill>
                  <a:srgbClr val="D9683F"/>
                </a:solidFill>
                <a:latin typeface="Segoe UI"/>
              </a:rPr>
              <a:t>POLICY</a:t>
            </a:r>
          </a:p>
        </p:txBody>
      </p:sp>
      <p:sp>
        <p:nvSpPr>
          <p:cNvPr id="20" name="TextBox 19"/>
          <p:cNvSpPr txBox="1"/>
          <p:nvPr/>
        </p:nvSpPr>
        <p:spPr>
          <a:xfrm>
            <a:off x="8174736" y="2249424"/>
            <a:ext cx="2907792" cy="274320"/>
          </a:xfrm>
          <a:prstGeom prst="rect">
            <a:avLst/>
          </a:prstGeom>
          <a:noFill/>
        </p:spPr>
        <p:txBody>
          <a:bodyPr wrap="none" lIns="0" rIns="0" tIns="0" bIns="0" anchor="t">
            <a:spAutoFit/>
          </a:bodyPr>
          <a:lstStyle/>
          <a:p>
            <a:pPr algn="l"/>
            <a:r>
              <a:rPr sz="1500" b="1">
                <a:solidFill>
                  <a:srgbClr val="18352F"/>
                </a:solidFill>
                <a:latin typeface="Segoe UI"/>
              </a:rPr>
              <a:t>Site constraints unavailable</a:t>
            </a:r>
          </a:p>
        </p:txBody>
      </p:sp>
      <p:sp>
        <p:nvSpPr>
          <p:cNvPr id="21" name="TextBox 20"/>
          <p:cNvSpPr txBox="1"/>
          <p:nvPr/>
        </p:nvSpPr>
        <p:spPr>
          <a:xfrm>
            <a:off x="8174736" y="2651760"/>
            <a:ext cx="2907792" cy="182880"/>
          </a:xfrm>
          <a:prstGeom prst="rect">
            <a:avLst/>
          </a:prstGeom>
          <a:noFill/>
        </p:spPr>
        <p:txBody>
          <a:bodyPr wrap="none" lIns="0" rIns="0" tIns="0" bIns="0" anchor="t">
            <a:spAutoFit/>
          </a:bodyPr>
          <a:lstStyle/>
          <a:p>
            <a:pPr algn="l"/>
            <a:r>
              <a:rPr sz="900" b="0">
                <a:solidFill>
                  <a:srgbClr val="687B75"/>
                </a:solidFill>
                <a:latin typeface="Segoe UI"/>
              </a:rPr>
              <a:t>no horizontal movement</a:t>
            </a:r>
          </a:p>
        </p:txBody>
      </p:sp>
      <p:sp>
        <p:nvSpPr>
          <p:cNvPr id="22" name="TextBox 21"/>
          <p:cNvSpPr txBox="1"/>
          <p:nvPr/>
        </p:nvSpPr>
        <p:spPr>
          <a:xfrm>
            <a:off x="749808" y="3675887"/>
            <a:ext cx="1554480" cy="201168"/>
          </a:xfrm>
          <a:prstGeom prst="rect">
            <a:avLst/>
          </a:prstGeom>
          <a:noFill/>
        </p:spPr>
        <p:txBody>
          <a:bodyPr wrap="none" lIns="0" rIns="0" tIns="0" bIns="0" anchor="t">
            <a:spAutoFit/>
          </a:bodyPr>
          <a:lstStyle/>
          <a:p>
            <a:pPr algn="l"/>
            <a:r>
              <a:rPr sz="900" b="1">
                <a:solidFill>
                  <a:srgbClr val="687B75"/>
                </a:solidFill>
                <a:latin typeface="Segoe UI"/>
              </a:rPr>
              <a:t>AI PROPOSAL</a:t>
            </a:r>
          </a:p>
        </p:txBody>
      </p:sp>
      <p:sp>
        <p:nvSpPr>
          <p:cNvPr id="23" name="Rounded Rectangle 22"/>
          <p:cNvSpPr/>
          <p:nvPr/>
        </p:nvSpPr>
        <p:spPr>
          <a:xfrm>
            <a:off x="566928" y="3986784"/>
            <a:ext cx="2852928" cy="932688"/>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5528" y="4279392"/>
            <a:ext cx="2395728" cy="310896"/>
          </a:xfrm>
          <a:prstGeom prst="rect">
            <a:avLst/>
          </a:prstGeom>
          <a:noFill/>
        </p:spPr>
        <p:txBody>
          <a:bodyPr wrap="none" lIns="0" rIns="0" tIns="0" bIns="0" anchor="t">
            <a:spAutoFit/>
          </a:bodyPr>
          <a:lstStyle/>
          <a:p>
            <a:pPr algn="l"/>
            <a:r>
              <a:rPr sz="1300" b="1">
                <a:solidFill>
                  <a:srgbClr val="18352F"/>
                </a:solidFill>
                <a:latin typeface="Segoe UI"/>
              </a:rPr>
              <a:t>“Shift Volume A toward the tunnel”</a:t>
            </a:r>
          </a:p>
        </p:txBody>
      </p:sp>
      <p:cxnSp>
        <p:nvCxnSpPr>
          <p:cNvPr id="25" name="Connector 24"/>
          <p:cNvCxnSpPr/>
          <p:nvPr/>
        </p:nvCxnSpPr>
        <p:spPr>
          <a:xfrm>
            <a:off x="3429000" y="4453128"/>
            <a:ext cx="731520" cy="0"/>
          </a:xfrm>
          <a:prstGeom prst="line">
            <a:avLst/>
          </a:prstGeom>
          <a:ln w="27940">
            <a:solidFill>
              <a:srgbClr val="D9683F"/>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187952" y="3840480"/>
            <a:ext cx="2157984" cy="1225296"/>
          </a:xfrm>
          <a:prstGeom prst="roundRect">
            <a:avLst>
              <a:gd name="adj" fmla="val 8000"/>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0832" y="4133087"/>
            <a:ext cx="1792224" cy="274320"/>
          </a:xfrm>
          <a:prstGeom prst="rect">
            <a:avLst/>
          </a:prstGeom>
          <a:noFill/>
        </p:spPr>
        <p:txBody>
          <a:bodyPr wrap="none" lIns="0" rIns="0" tIns="0" bIns="0" anchor="t">
            <a:spAutoFit/>
          </a:bodyPr>
          <a:lstStyle/>
          <a:p>
            <a:pPr algn="ctr"/>
            <a:r>
              <a:rPr sz="2000" b="1">
                <a:solidFill>
                  <a:srgbClr val="FFFFFF"/>
                </a:solidFill>
                <a:latin typeface="Segoe UI"/>
              </a:rPr>
              <a:t>BLOCKED</a:t>
            </a:r>
          </a:p>
        </p:txBody>
      </p:sp>
      <p:sp>
        <p:nvSpPr>
          <p:cNvPr id="28" name="TextBox 27"/>
          <p:cNvSpPr txBox="1"/>
          <p:nvPr/>
        </p:nvSpPr>
        <p:spPr>
          <a:xfrm>
            <a:off x="4370832" y="4526280"/>
            <a:ext cx="1792224" cy="201168"/>
          </a:xfrm>
          <a:prstGeom prst="rect">
            <a:avLst/>
          </a:prstGeom>
          <a:noFill/>
        </p:spPr>
        <p:txBody>
          <a:bodyPr wrap="none" lIns="0" rIns="0" tIns="0" bIns="0" anchor="t">
            <a:spAutoFit/>
          </a:bodyPr>
          <a:lstStyle/>
          <a:p>
            <a:pPr algn="ctr"/>
            <a:r>
              <a:rPr sz="900" b="0">
                <a:solidFill>
                  <a:srgbClr val="FFFFFF"/>
                </a:solidFill>
                <a:latin typeface="Segoe UI"/>
              </a:rPr>
              <a:t>no verified envelope</a:t>
            </a:r>
          </a:p>
        </p:txBody>
      </p:sp>
      <p:cxnSp>
        <p:nvCxnSpPr>
          <p:cNvPr id="29" name="Connector 28"/>
          <p:cNvCxnSpPr/>
          <p:nvPr/>
        </p:nvCxnSpPr>
        <p:spPr>
          <a:xfrm>
            <a:off x="6355080" y="4453128"/>
            <a:ext cx="722376" cy="0"/>
          </a:xfrm>
          <a:prstGeom prst="line">
            <a:avLst/>
          </a:prstGeom>
          <a:ln w="27940">
            <a:solidFill>
              <a:srgbClr val="1F684E"/>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114032" y="3986784"/>
            <a:ext cx="4498848" cy="932688"/>
          </a:xfrm>
          <a:prstGeom prst="roundRect">
            <a:avLst>
              <a:gd name="adj" fmla="val 8000"/>
            </a:avLst>
          </a:prstGeom>
          <a:solidFill>
            <a:srgbClr val="163A3B"/>
          </a:solidFill>
          <a:ln>
            <a:solidFill>
              <a:srgbClr val="163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88352" y="4279392"/>
            <a:ext cx="3950208" cy="310896"/>
          </a:xfrm>
          <a:prstGeom prst="rect">
            <a:avLst/>
          </a:prstGeom>
          <a:noFill/>
        </p:spPr>
        <p:txBody>
          <a:bodyPr wrap="none" lIns="0" rIns="0" tIns="0" bIns="0" anchor="t">
            <a:spAutoFit/>
          </a:bodyPr>
          <a:lstStyle/>
          <a:p>
            <a:pPr algn="ctr"/>
            <a:r>
              <a:rPr sz="1300" b="1">
                <a:solidFill>
                  <a:srgbClr val="FFFFFF"/>
                </a:solidFill>
                <a:latin typeface="Segoe UI"/>
              </a:rPr>
              <a:t>Allowed: test changes within the current footprint</a:t>
            </a:r>
          </a:p>
        </p:txBody>
      </p:sp>
      <p:pic>
        <p:nvPicPr>
          <p:cNvPr id="32" name="Picture 31" descr="parkhaven-logo.png"/>
          <p:cNvPicPr>
            <a:picLocks noChangeAspect="1"/>
          </p:cNvPicPr>
          <p:nvPr/>
        </p:nvPicPr>
        <p:blipFill>
          <a:blip r:embed="rId2"/>
          <a:stretch>
            <a:fillRect/>
          </a:stretch>
        </p:blipFill>
        <p:spPr>
          <a:xfrm>
            <a:off x="566928" y="6364224"/>
            <a:ext cx="208434" cy="338328"/>
          </a:xfrm>
          <a:prstGeom prst="rect">
            <a:avLst/>
          </a:prstGeom>
        </p:spPr>
      </p:pic>
      <p:sp>
        <p:nvSpPr>
          <p:cNvPr id="33" name="TextBox 32"/>
          <p:cNvSpPr txBox="1"/>
          <p:nvPr/>
        </p:nvSpPr>
        <p:spPr>
          <a:xfrm>
            <a:off x="932688" y="6428232"/>
            <a:ext cx="2011680" cy="182880"/>
          </a:xfrm>
          <a:prstGeom prst="rect">
            <a:avLst/>
          </a:prstGeom>
          <a:noFill/>
        </p:spPr>
        <p:txBody>
          <a:bodyPr wrap="none" lIns="0" rIns="0">
            <a:spAutoFit/>
          </a:bodyPr>
          <a:lstStyle/>
          <a:p>
            <a:pPr algn="l"/>
            <a:r>
              <a:rPr sz="800" b="1">
                <a:solidFill>
                  <a:srgbClr val="18352F"/>
                </a:solidFill>
                <a:latin typeface="Segoe UI"/>
              </a:rPr>
              <a:t>PARKHAVEN </a:t>
            </a:r>
            <a:r>
              <a:rPr sz="800" b="0">
                <a:solidFill>
                  <a:srgbClr val="687B75"/>
                </a:solidFill>
                <a:latin typeface="Segoe UI"/>
              </a:rPr>
              <a:t>STUDIO</a:t>
            </a:r>
          </a:p>
        </p:txBody>
      </p:sp>
      <p:sp>
        <p:nvSpPr>
          <p:cNvPr id="34" name="TextBox 33"/>
          <p:cNvSpPr txBox="1"/>
          <p:nvPr/>
        </p:nvSpPr>
        <p:spPr>
          <a:xfrm>
            <a:off x="8458200" y="6428232"/>
            <a:ext cx="3154680" cy="182880"/>
          </a:xfrm>
          <a:prstGeom prst="rect">
            <a:avLst/>
          </a:prstGeom>
          <a:noFill/>
        </p:spPr>
        <p:txBody>
          <a:bodyPr wrap="none" lIns="0" rIns="0" tIns="0" bIns="0" anchor="t">
            <a:spAutoFit/>
          </a:bodyPr>
          <a:lstStyle/>
          <a:p>
            <a:pPr algn="r"/>
            <a:r>
              <a:rPr sz="700" b="1">
                <a:solidFill>
                  <a:srgbClr val="687B75"/>
                </a:solidFill>
                <a:latin typeface="Segoe UI"/>
              </a:rPr>
              <a:t>LOCAL • TRACEABLE • MODEL-GROUNDED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3A3B"/>
          </a:solidFill>
          <a:ln>
            <a:solidFill>
              <a:srgbClr val="163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5303520" cy="274320"/>
          </a:xfrm>
          <a:prstGeom prst="rect">
            <a:avLst/>
          </a:prstGeom>
          <a:noFill/>
        </p:spPr>
        <p:txBody>
          <a:bodyPr wrap="none" lIns="0" rIns="0" tIns="0" bIns="0" anchor="t">
            <a:spAutoFit/>
          </a:bodyPr>
          <a:lstStyle/>
          <a:p>
            <a:pPr algn="l"/>
            <a:r>
              <a:rPr sz="1000" b="1">
                <a:solidFill>
                  <a:srgbClr val="B7E6C8"/>
                </a:solidFill>
                <a:latin typeface="Segoe UI"/>
              </a:rPr>
              <a:t>CURRENT PROGRESS / OCTOBER 2026</a:t>
            </a:r>
          </a:p>
        </p:txBody>
      </p:sp>
      <p:sp>
        <p:nvSpPr>
          <p:cNvPr id="4" name="TextBox 3"/>
          <p:cNvSpPr txBox="1"/>
          <p:nvPr/>
        </p:nvSpPr>
        <p:spPr>
          <a:xfrm>
            <a:off x="658368" y="987552"/>
            <a:ext cx="5669280" cy="566928"/>
          </a:xfrm>
          <a:prstGeom prst="rect">
            <a:avLst/>
          </a:prstGeom>
          <a:noFill/>
        </p:spPr>
        <p:txBody>
          <a:bodyPr wrap="none" lIns="0" rIns="0" tIns="0" bIns="0" anchor="t">
            <a:spAutoFit/>
          </a:bodyPr>
          <a:lstStyle/>
          <a:p>
            <a:pPr algn="l"/>
            <a:r>
              <a:rPr sz="3000" b="1">
                <a:solidFill>
                  <a:srgbClr val="FFFFFF"/>
                </a:solidFill>
                <a:latin typeface="Segoe UI"/>
              </a:rPr>
              <a:t>Working end to end.</a:t>
            </a:r>
          </a:p>
        </p:txBody>
      </p:sp>
      <p:sp>
        <p:nvSpPr>
          <p:cNvPr id="5" name="TextBox 4"/>
          <p:cNvSpPr txBox="1"/>
          <p:nvPr/>
        </p:nvSpPr>
        <p:spPr>
          <a:xfrm>
            <a:off x="658368" y="1709928"/>
            <a:ext cx="5394960" cy="320040"/>
          </a:xfrm>
          <a:prstGeom prst="rect">
            <a:avLst/>
          </a:prstGeom>
          <a:noFill/>
        </p:spPr>
        <p:txBody>
          <a:bodyPr wrap="none" lIns="0" rIns="0" tIns="0" bIns="0" anchor="t">
            <a:spAutoFit/>
          </a:bodyPr>
          <a:lstStyle/>
          <a:p>
            <a:pPr algn="l"/>
            <a:r>
              <a:rPr sz="1500" b="0">
                <a:solidFill>
                  <a:srgbClr val="B7E6C8"/>
                </a:solidFill>
                <a:latin typeface="Segoe UI"/>
              </a:rPr>
              <a:t>Verified with the real Parkhaven massing model</a:t>
            </a:r>
          </a:p>
        </p:txBody>
      </p:sp>
      <p:sp>
        <p:nvSpPr>
          <p:cNvPr id="6" name="Rounded Rectangle 5"/>
          <p:cNvSpPr/>
          <p:nvPr/>
        </p:nvSpPr>
        <p:spPr>
          <a:xfrm>
            <a:off x="658368" y="2468880"/>
            <a:ext cx="1847088" cy="1335024"/>
          </a:xfrm>
          <a:prstGeom prst="roundRect">
            <a:avLst>
              <a:gd name="adj" fmla="val 8000"/>
            </a:avLst>
          </a:prstGeom>
          <a:solidFill>
            <a:srgbClr val="214849"/>
          </a:solidFill>
          <a:ln>
            <a:solidFill>
              <a:srgbClr val="496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706624"/>
            <a:ext cx="1517904" cy="457200"/>
          </a:xfrm>
          <a:prstGeom prst="rect">
            <a:avLst/>
          </a:prstGeom>
          <a:noFill/>
        </p:spPr>
        <p:txBody>
          <a:bodyPr wrap="none" lIns="0" rIns="0" tIns="0" bIns="0" anchor="t">
            <a:spAutoFit/>
          </a:bodyPr>
          <a:lstStyle/>
          <a:p>
            <a:pPr algn="ctr"/>
            <a:r>
              <a:rPr sz="2500" b="1">
                <a:solidFill>
                  <a:srgbClr val="FFFFFF"/>
                </a:solidFill>
                <a:latin typeface="Segoe UI"/>
              </a:rPr>
              <a:t>127</a:t>
            </a:r>
          </a:p>
        </p:txBody>
      </p:sp>
      <p:sp>
        <p:nvSpPr>
          <p:cNvPr id="8" name="TextBox 7"/>
          <p:cNvSpPr txBox="1"/>
          <p:nvPr/>
        </p:nvSpPr>
        <p:spPr>
          <a:xfrm>
            <a:off x="822959" y="3282696"/>
            <a:ext cx="1517904" cy="201168"/>
          </a:xfrm>
          <a:prstGeom prst="rect">
            <a:avLst/>
          </a:prstGeom>
          <a:noFill/>
        </p:spPr>
        <p:txBody>
          <a:bodyPr wrap="none" lIns="0" rIns="0" tIns="0" bIns="0" anchor="t">
            <a:spAutoFit/>
          </a:bodyPr>
          <a:lstStyle/>
          <a:p>
            <a:pPr algn="ctr"/>
            <a:r>
              <a:rPr sz="800" b="1">
                <a:solidFill>
                  <a:srgbClr val="B7E6C8"/>
                </a:solidFill>
                <a:latin typeface="Segoe UI"/>
              </a:rPr>
              <a:t>APP TESTS</a:t>
            </a:r>
          </a:p>
        </p:txBody>
      </p:sp>
      <p:sp>
        <p:nvSpPr>
          <p:cNvPr id="9" name="Rounded Rectangle 8"/>
          <p:cNvSpPr/>
          <p:nvPr/>
        </p:nvSpPr>
        <p:spPr>
          <a:xfrm>
            <a:off x="2807208" y="2468880"/>
            <a:ext cx="1847088" cy="1335024"/>
          </a:xfrm>
          <a:prstGeom prst="roundRect">
            <a:avLst>
              <a:gd name="adj" fmla="val 8000"/>
            </a:avLst>
          </a:prstGeom>
          <a:solidFill>
            <a:srgbClr val="214849"/>
          </a:solidFill>
          <a:ln>
            <a:solidFill>
              <a:srgbClr val="496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2706624"/>
            <a:ext cx="1517904" cy="457200"/>
          </a:xfrm>
          <a:prstGeom prst="rect">
            <a:avLst/>
          </a:prstGeom>
          <a:noFill/>
        </p:spPr>
        <p:txBody>
          <a:bodyPr wrap="none" lIns="0" rIns="0" tIns="0" bIns="0" anchor="t">
            <a:spAutoFit/>
          </a:bodyPr>
          <a:lstStyle/>
          <a:p>
            <a:pPr algn="ctr"/>
            <a:r>
              <a:rPr sz="2500" b="1">
                <a:solidFill>
                  <a:srgbClr val="FFFFFF"/>
                </a:solidFill>
                <a:latin typeface="Segoe UI"/>
              </a:rPr>
              <a:t>25</a:t>
            </a:r>
          </a:p>
        </p:txBody>
      </p:sp>
      <p:sp>
        <p:nvSpPr>
          <p:cNvPr id="11" name="TextBox 10"/>
          <p:cNvSpPr txBox="1"/>
          <p:nvPr/>
        </p:nvSpPr>
        <p:spPr>
          <a:xfrm>
            <a:off x="2971800" y="3282696"/>
            <a:ext cx="1517904" cy="201168"/>
          </a:xfrm>
          <a:prstGeom prst="rect">
            <a:avLst/>
          </a:prstGeom>
          <a:noFill/>
        </p:spPr>
        <p:txBody>
          <a:bodyPr wrap="none" lIns="0" rIns="0" tIns="0" bIns="0" anchor="t">
            <a:spAutoFit/>
          </a:bodyPr>
          <a:lstStyle/>
          <a:p>
            <a:pPr algn="ctr"/>
            <a:r>
              <a:rPr sz="800" b="1">
                <a:solidFill>
                  <a:srgbClr val="B7E6C8"/>
                </a:solidFill>
                <a:latin typeface="Segoe UI"/>
              </a:rPr>
              <a:t>ANALYZER TESTS</a:t>
            </a:r>
          </a:p>
        </p:txBody>
      </p:sp>
      <p:sp>
        <p:nvSpPr>
          <p:cNvPr id="12" name="Rounded Rectangle 11"/>
          <p:cNvSpPr/>
          <p:nvPr/>
        </p:nvSpPr>
        <p:spPr>
          <a:xfrm>
            <a:off x="4956048" y="2468880"/>
            <a:ext cx="1847088" cy="1335024"/>
          </a:xfrm>
          <a:prstGeom prst="roundRect">
            <a:avLst>
              <a:gd name="adj" fmla="val 8000"/>
            </a:avLst>
          </a:prstGeom>
          <a:solidFill>
            <a:srgbClr val="214849"/>
          </a:solidFill>
          <a:ln>
            <a:solidFill>
              <a:srgbClr val="496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2706624"/>
            <a:ext cx="1517904" cy="457200"/>
          </a:xfrm>
          <a:prstGeom prst="rect">
            <a:avLst/>
          </a:prstGeom>
          <a:noFill/>
        </p:spPr>
        <p:txBody>
          <a:bodyPr wrap="none" lIns="0" rIns="0" tIns="0" bIns="0" anchor="t">
            <a:spAutoFit/>
          </a:bodyPr>
          <a:lstStyle/>
          <a:p>
            <a:pPr algn="ctr"/>
            <a:r>
              <a:rPr sz="2500" b="1">
                <a:solidFill>
                  <a:srgbClr val="FFFFFF"/>
                </a:solidFill>
                <a:latin typeface="Segoe UI"/>
              </a:rPr>
              <a:t>4</a:t>
            </a:r>
          </a:p>
        </p:txBody>
      </p:sp>
      <p:sp>
        <p:nvSpPr>
          <p:cNvPr id="14" name="TextBox 13"/>
          <p:cNvSpPr txBox="1"/>
          <p:nvPr/>
        </p:nvSpPr>
        <p:spPr>
          <a:xfrm>
            <a:off x="5120640" y="3282696"/>
            <a:ext cx="1517904" cy="201168"/>
          </a:xfrm>
          <a:prstGeom prst="rect">
            <a:avLst/>
          </a:prstGeom>
          <a:noFill/>
        </p:spPr>
        <p:txBody>
          <a:bodyPr wrap="none" lIns="0" rIns="0" tIns="0" bIns="0" anchor="t">
            <a:spAutoFit/>
          </a:bodyPr>
          <a:lstStyle/>
          <a:p>
            <a:pPr algn="ctr"/>
            <a:r>
              <a:rPr sz="800" b="1">
                <a:solidFill>
                  <a:srgbClr val="B7E6C8"/>
                </a:solidFill>
                <a:latin typeface="Segoe UI"/>
              </a:rPr>
              <a:t>CONTROLLED VIEWS</a:t>
            </a:r>
          </a:p>
        </p:txBody>
      </p:sp>
      <p:sp>
        <p:nvSpPr>
          <p:cNvPr id="15" name="Rounded Rectangle 14"/>
          <p:cNvSpPr/>
          <p:nvPr/>
        </p:nvSpPr>
        <p:spPr>
          <a:xfrm>
            <a:off x="7104888" y="2468880"/>
            <a:ext cx="1847088" cy="1335024"/>
          </a:xfrm>
          <a:prstGeom prst="roundRect">
            <a:avLst>
              <a:gd name="adj" fmla="val 8000"/>
            </a:avLst>
          </a:prstGeom>
          <a:solidFill>
            <a:srgbClr val="214849"/>
          </a:solidFill>
          <a:ln>
            <a:solidFill>
              <a:srgbClr val="496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9480" y="2706624"/>
            <a:ext cx="1517904" cy="457200"/>
          </a:xfrm>
          <a:prstGeom prst="rect">
            <a:avLst/>
          </a:prstGeom>
          <a:noFill/>
        </p:spPr>
        <p:txBody>
          <a:bodyPr wrap="none" lIns="0" rIns="0" tIns="0" bIns="0" anchor="t">
            <a:spAutoFit/>
          </a:bodyPr>
          <a:lstStyle/>
          <a:p>
            <a:pPr algn="ctr"/>
            <a:r>
              <a:rPr sz="2500" b="1">
                <a:solidFill>
                  <a:srgbClr val="FFFFFF"/>
                </a:solidFill>
                <a:latin typeface="Segoe UI"/>
              </a:rPr>
              <a:t>2</a:t>
            </a:r>
          </a:p>
        </p:txBody>
      </p:sp>
      <p:sp>
        <p:nvSpPr>
          <p:cNvPr id="17" name="TextBox 16"/>
          <p:cNvSpPr txBox="1"/>
          <p:nvPr/>
        </p:nvSpPr>
        <p:spPr>
          <a:xfrm>
            <a:off x="7269480" y="3282696"/>
            <a:ext cx="1517904" cy="201168"/>
          </a:xfrm>
          <a:prstGeom prst="rect">
            <a:avLst/>
          </a:prstGeom>
          <a:noFill/>
        </p:spPr>
        <p:txBody>
          <a:bodyPr wrap="none" lIns="0" rIns="0" tIns="0" bIns="0" anchor="t">
            <a:spAutoFit/>
          </a:bodyPr>
          <a:lstStyle/>
          <a:p>
            <a:pPr algn="ctr"/>
            <a:r>
              <a:rPr sz="800" b="1">
                <a:solidFill>
                  <a:srgbClr val="B7E6C8"/>
                </a:solidFill>
                <a:latin typeface="Segoe UI"/>
              </a:rPr>
              <a:t>PDF PAGES</a:t>
            </a:r>
          </a:p>
        </p:txBody>
      </p:sp>
      <p:sp>
        <p:nvSpPr>
          <p:cNvPr id="18" name="Rounded Rectangle 17"/>
          <p:cNvSpPr/>
          <p:nvPr/>
        </p:nvSpPr>
        <p:spPr>
          <a:xfrm>
            <a:off x="9308592" y="2468880"/>
            <a:ext cx="2212848" cy="1335024"/>
          </a:xfrm>
          <a:prstGeom prst="roundRect">
            <a:avLst>
              <a:gd name="adj" fmla="val 8000"/>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91472" y="2724912"/>
            <a:ext cx="1847088" cy="384048"/>
          </a:xfrm>
          <a:prstGeom prst="rect">
            <a:avLst/>
          </a:prstGeom>
          <a:noFill/>
        </p:spPr>
        <p:txBody>
          <a:bodyPr wrap="none" lIns="0" rIns="0" tIns="0" bIns="0" anchor="t">
            <a:spAutoFit/>
          </a:bodyPr>
          <a:lstStyle/>
          <a:p>
            <a:pPr algn="ctr"/>
            <a:r>
              <a:rPr sz="2300" b="1">
                <a:solidFill>
                  <a:srgbClr val="FFFFFF"/>
                </a:solidFill>
                <a:latin typeface="Segoe UI"/>
              </a:rPr>
              <a:t>PASS</a:t>
            </a:r>
          </a:p>
        </p:txBody>
      </p:sp>
      <p:sp>
        <p:nvSpPr>
          <p:cNvPr id="20" name="TextBox 19"/>
          <p:cNvSpPr txBox="1"/>
          <p:nvPr/>
        </p:nvSpPr>
        <p:spPr>
          <a:xfrm>
            <a:off x="9491472" y="3291840"/>
            <a:ext cx="1847088" cy="201168"/>
          </a:xfrm>
          <a:prstGeom prst="rect">
            <a:avLst/>
          </a:prstGeom>
          <a:noFill/>
        </p:spPr>
        <p:txBody>
          <a:bodyPr wrap="none" lIns="0" rIns="0" tIns="0" bIns="0" anchor="t">
            <a:spAutoFit/>
          </a:bodyPr>
          <a:lstStyle/>
          <a:p>
            <a:pPr algn="ctr"/>
            <a:r>
              <a:rPr sz="800" b="1">
                <a:solidFill>
                  <a:srgbClr val="FFFFFF"/>
                </a:solidFill>
                <a:latin typeface="Segoe UI"/>
              </a:rPr>
              <a:t>INSTALLED BUNDLE</a:t>
            </a:r>
          </a:p>
        </p:txBody>
      </p:sp>
      <p:sp>
        <p:nvSpPr>
          <p:cNvPr id="21" name="Rectangle 20"/>
          <p:cNvSpPr/>
          <p:nvPr/>
        </p:nvSpPr>
        <p:spPr>
          <a:xfrm>
            <a:off x="658368" y="4315968"/>
            <a:ext cx="10863072" cy="18288"/>
          </a:xfrm>
          <a:prstGeom prst="rect">
            <a:avLst/>
          </a:prstGeom>
          <a:solidFill>
            <a:srgbClr val="496766"/>
          </a:solidFill>
          <a:ln>
            <a:solidFill>
              <a:srgbClr val="496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4736592"/>
            <a:ext cx="731520" cy="219456"/>
          </a:xfrm>
          <a:prstGeom prst="rect">
            <a:avLst/>
          </a:prstGeom>
          <a:noFill/>
        </p:spPr>
        <p:txBody>
          <a:bodyPr wrap="none" lIns="0" rIns="0" tIns="0" bIns="0" anchor="t">
            <a:spAutoFit/>
          </a:bodyPr>
          <a:lstStyle/>
          <a:p>
            <a:pPr algn="l"/>
            <a:r>
              <a:rPr sz="900" b="1">
                <a:solidFill>
                  <a:srgbClr val="D9683F"/>
                </a:solidFill>
                <a:latin typeface="Segoe UI"/>
              </a:rPr>
              <a:t>NEXT</a:t>
            </a:r>
          </a:p>
        </p:txBody>
      </p:sp>
      <p:sp>
        <p:nvSpPr>
          <p:cNvPr id="23" name="TextBox 22"/>
          <p:cNvSpPr txBox="1"/>
          <p:nvPr/>
        </p:nvSpPr>
        <p:spPr>
          <a:xfrm>
            <a:off x="1517904" y="4663440"/>
            <a:ext cx="2834640" cy="347472"/>
          </a:xfrm>
          <a:prstGeom prst="rect">
            <a:avLst/>
          </a:prstGeom>
          <a:noFill/>
        </p:spPr>
        <p:txBody>
          <a:bodyPr wrap="none" lIns="0" rIns="0" tIns="0" bIns="0" anchor="t">
            <a:spAutoFit/>
          </a:bodyPr>
          <a:lstStyle/>
          <a:p>
            <a:pPr algn="l"/>
            <a:r>
              <a:rPr sz="1700" b="1">
                <a:solidFill>
                  <a:srgbClr val="FFFFFF"/>
                </a:solidFill>
                <a:latin typeface="Segoe UI"/>
              </a:rPr>
              <a:t>Authoritative site constraints</a:t>
            </a:r>
          </a:p>
        </p:txBody>
      </p:sp>
      <p:sp>
        <p:nvSpPr>
          <p:cNvPr id="24" name="TextBox 23"/>
          <p:cNvSpPr txBox="1"/>
          <p:nvPr/>
        </p:nvSpPr>
        <p:spPr>
          <a:xfrm>
            <a:off x="4636008" y="4663440"/>
            <a:ext cx="2286000" cy="347472"/>
          </a:xfrm>
          <a:prstGeom prst="rect">
            <a:avLst/>
          </a:prstGeom>
          <a:noFill/>
        </p:spPr>
        <p:txBody>
          <a:bodyPr wrap="none" lIns="0" rIns="0" tIns="0" bIns="0" anchor="t">
            <a:spAutoFit/>
          </a:bodyPr>
          <a:lstStyle/>
          <a:p>
            <a:pPr algn="l"/>
            <a:r>
              <a:rPr sz="1700" b="1">
                <a:solidFill>
                  <a:srgbClr val="FFFFFF"/>
                </a:solidFill>
                <a:latin typeface="Segoe UI"/>
              </a:rPr>
              <a:t>Signed distribution</a:t>
            </a:r>
          </a:p>
        </p:txBody>
      </p:sp>
      <p:sp>
        <p:nvSpPr>
          <p:cNvPr id="25" name="TextBox 24"/>
          <p:cNvSpPr txBox="1"/>
          <p:nvPr/>
        </p:nvSpPr>
        <p:spPr>
          <a:xfrm>
            <a:off x="7406640" y="4663440"/>
            <a:ext cx="3017520" cy="347472"/>
          </a:xfrm>
          <a:prstGeom prst="rect">
            <a:avLst/>
          </a:prstGeom>
          <a:noFill/>
        </p:spPr>
        <p:txBody>
          <a:bodyPr wrap="none" lIns="0" rIns="0" tIns="0" bIns="0" anchor="t">
            <a:spAutoFit/>
          </a:bodyPr>
          <a:lstStyle/>
          <a:p>
            <a:pPr algn="l"/>
            <a:r>
              <a:rPr sz="1700" b="1">
                <a:solidFill>
                  <a:srgbClr val="FFFFFF"/>
                </a:solidFill>
                <a:latin typeface="Segoe UI"/>
              </a:rPr>
              <a:t>Clean-machine acceptance</a:t>
            </a:r>
          </a:p>
        </p:txBody>
      </p:sp>
      <p:sp>
        <p:nvSpPr>
          <p:cNvPr id="26" name="TextBox 25"/>
          <p:cNvSpPr txBox="1"/>
          <p:nvPr/>
        </p:nvSpPr>
        <p:spPr>
          <a:xfrm>
            <a:off x="658368" y="5879592"/>
            <a:ext cx="5669280" cy="274320"/>
          </a:xfrm>
          <a:prstGeom prst="rect">
            <a:avLst/>
          </a:prstGeom>
          <a:noFill/>
        </p:spPr>
        <p:txBody>
          <a:bodyPr wrap="none" lIns="0" rIns="0" tIns="0" bIns="0" anchor="t">
            <a:spAutoFit/>
          </a:bodyPr>
          <a:lstStyle/>
          <a:p>
            <a:pPr algn="l"/>
            <a:r>
              <a:rPr sz="1100" b="1">
                <a:solidFill>
                  <a:srgbClr val="B7E6C8"/>
                </a:solidFill>
                <a:latin typeface="Segoe UI"/>
              </a:rPr>
              <a:t>VISUAL  •  MEASURABLE  •  AUDITABLE</a:t>
            </a:r>
          </a:p>
        </p:txBody>
      </p:sp>
      <p:pic>
        <p:nvPicPr>
          <p:cNvPr id="27" name="Picture 26" descr="parkhaven-logo.png"/>
          <p:cNvPicPr>
            <a:picLocks noChangeAspect="1"/>
          </p:cNvPicPr>
          <p:nvPr/>
        </p:nvPicPr>
        <p:blipFill>
          <a:blip r:embed="rId2"/>
          <a:stretch>
            <a:fillRect/>
          </a:stretch>
        </p:blipFill>
        <p:spPr>
          <a:xfrm>
            <a:off x="10625328" y="5084064"/>
            <a:ext cx="754870" cy="12252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ParkHaven Studio progress presentation</dc:title>
  <dc:subject>Four-minute explanation of the ParkHaven workflow</dc:subject>
  <dc:creator>ParkHaven Studio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