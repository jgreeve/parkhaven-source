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ParkHaven Studio is een lokale ontwerpomgeving die een Rhino-model omzet in een begrijpelijke ontwerpbeoordeling. De app brengt Rhino, Grasshopper, modelbeelden, meetresultaten en rapportage samen in één begeleide route. De gebruiker importeert een ontwerp, plaatst het op de locatie, analyseert het en maakt een controleerbaar verslag. Eerst bekijken we die hoofdwerking; daarna zoomen we in op de technische opbouw.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 huidige proces is vaak versnipperd. Geometrie staat in Rhino, berekeningen in Grasshopper, beelden worden handmatig gemaakt en conclusies belanden in losse documenten. Daardoor is moeilijk te herleiden welke uitkomst bij welke modelversie hoort. ParkHaven Studio verbindt die onderdelen, bewaart de bron en koppelt iedere analyse, afbeelding en conclusie aan dezelfde modelstatus. Zo wordt itereren overzichtelijker en beter uitlegbaar.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Voor de gebruiker zijn er vijf stappen. Eerst wordt een 3DM-bestand geïmporteerd. Daarna controleert de ontwerper positie, rotatie en modeleenheid met een snelle 3D-preview. Vervolgens start de lokale Rhino- en Grasshopper-analyse. Na afloop toont de app prestaties en vier vaste modelbeelden. Optioneel volgt begrensd AI-advies. Tot slot ontstaat een leesbaar rapport dat als PDF kan worden opgeslagen.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centrale werkruimte is de 3D-viewer. Hier staat het ontwerp naast gevels, parkdoel, referentiegebouwen en de lokale luchtfoto. Lagen kunnen afzonderlijk aan en uit, en vaste camera's maken varianten vergelijkbaar. Ontwerpvolumes houden overal dezelfde kleuren: blauw, oranje en paars. Zo blijven Volume A, B en C herkenbaar in de viewer, de bewijsbeelden en het rapport.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app levert kerngetallen zoals bruto vloeroppervlak, zicht en indicatieve kosten. Daarnaast zijn er vergelijkende screenings voor zon, thermisch comfort en fundering; deze zijn geen definitief ingenieursadvies. Alles komt samen in een ontwerpverslag met modelbeelden, meetresultaten, aannames en eventuele ontwerpacties. Het resultaat is dus niet alleen een dashboard, maar een dossier dat de onderbouwing van een ontwerpkeuze zichtbaar maakt.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Onder de interface werken zes onderdelen samen. Een Windows-programma met WebView2 toont de app. De lokale FastAPI-backend beheert projecten, runs en rapporten. Three.js verzorgt de 3D-viewer. Voor analyse opent de backend Rhino zichtbaar; een eigen plug-in laadt de Grasshopper-definitie en exporteert JSON-resultaten. Een optionele AI-provider ontvangt alleen begrensde tekst. Beelden blijven lokaal en het rapport wordt lokaal opgebouwd.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Iedere analyse is technisch een geïsoleerde run. Het originele 3DM-bestand blijft ongewijzigd. Per run maakt de app een modelkopie, jobbestand, Grasshopper-definitie, weerbestand en datamap. Meetwaarden, scene en geometriesamenvatting worden atomair gepubliceerd. SHA-256-hashes koppelen bron, definitie, weerdata, resultaten en beelden. Daardoor kan de app verouderd of verwisseld bewijs weigeren en overschrijft een nieuwe analyse niet ongemerkt een eerder resultaat.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bewijs- en AI-keten heeft een harde datagrens. De viewer maakt vier gestandaardiseerde beelden met bekende camera's en lagen. De backend bouwt daarnaast een compacte tekstbeschrijving van volumes en meetwaarden. Alleen die tekst mag naar een AI-endpoint; afbeeldingen en ruwe geometrie blijven lokaal. Het antwoord wordt gevalideerd op bekende volumes en meetwaarden. Verschuivingen zijn toegestaan als verkennende tests, maar zonder geverifieerde plot- of tunnelcontour gelden ze nooit als bewijs van haalbaarheid.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basisworkflow werkt nu van import tot PDF en is getest met het echte Parkhaven-model. De huidige versie ondersteunt projectopslag, plaatsing, Rhino- en Grasshopper-analyse, 3D-weergave, bewijsbeelden, begrensd AI-advies en rapportage. De volgende fase richt zich op betrouwbaarheid: geverifieerde locatiegrenzen, gekalibreerde normen, ondertekende distributie en tests op schone machines. De kern staat; v0.2 bereidt de app voor op bredere praktijktesten.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EFE9"/>
          </a:solidFill>
          <a:ln>
            <a:solidFill>
              <a:srgbClr val="ECE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verview.png"/>
          <p:cNvPicPr>
            <a:picLocks noChangeAspect="1"/>
          </p:cNvPicPr>
          <p:nvPr/>
        </p:nvPicPr>
        <p:blipFill>
          <a:blip r:embed="rId2"/>
          <a:stretch>
            <a:fillRect/>
          </a:stretch>
        </p:blipFill>
        <p:spPr>
          <a:xfrm>
            <a:off x="6931152" y="0"/>
            <a:ext cx="5260543" cy="6858000"/>
          </a:xfrm>
          <a:prstGeom prst="rect">
            <a:avLst/>
          </a:prstGeom>
        </p:spPr>
      </p:pic>
      <p:sp>
        <p:nvSpPr>
          <p:cNvPr id="4" name="Rectangle 3"/>
          <p:cNvSpPr/>
          <p:nvPr/>
        </p:nvSpPr>
        <p:spPr>
          <a:xfrm>
            <a:off x="0" y="0"/>
            <a:ext cx="7114032" cy="6858000"/>
          </a:xfrm>
          <a:prstGeom prst="rect">
            <a:avLst/>
          </a:prstGeom>
          <a:solidFill>
            <a:srgbClr val="163A3B"/>
          </a:solidFill>
          <a:ln>
            <a:solidFill>
              <a:srgbClr val="163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02920"/>
            <a:ext cx="5669280" cy="274320"/>
          </a:xfrm>
          <a:prstGeom prst="rect">
            <a:avLst/>
          </a:prstGeom>
          <a:noFill/>
        </p:spPr>
        <p:txBody>
          <a:bodyPr wrap="none" lIns="0" rIns="0" tIns="0" bIns="0" anchor="t">
            <a:spAutoFit/>
          </a:bodyPr>
          <a:lstStyle/>
          <a:p>
            <a:pPr algn="l"/>
            <a:r>
              <a:rPr sz="1000" b="1">
                <a:solidFill>
                  <a:srgbClr val="B7E6C8"/>
                </a:solidFill>
                <a:latin typeface="Segoe UI"/>
              </a:rPr>
              <a:t>PARKHAVEN STUDIO / PRESENTATIE V0.2</a:t>
            </a:r>
          </a:p>
        </p:txBody>
      </p:sp>
      <p:sp>
        <p:nvSpPr>
          <p:cNvPr id="6" name="TextBox 5"/>
          <p:cNvSpPr txBox="1"/>
          <p:nvPr/>
        </p:nvSpPr>
        <p:spPr>
          <a:xfrm>
            <a:off x="658368" y="1234440"/>
            <a:ext cx="5806440" cy="1783080"/>
          </a:xfrm>
          <a:prstGeom prst="rect">
            <a:avLst/>
          </a:prstGeom>
          <a:noFill/>
        </p:spPr>
        <p:txBody>
          <a:bodyPr wrap="none" lIns="0" rIns="0" tIns="0" bIns="0" anchor="t">
            <a:spAutoFit/>
          </a:bodyPr>
          <a:lstStyle/>
          <a:p>
            <a:pPr algn="l"/>
            <a:r>
              <a:rPr sz="3100" b="1">
                <a:solidFill>
                  <a:srgbClr val="FFFFFF"/>
                </a:solidFill>
                <a:latin typeface="Segoe UI"/>
              </a:rPr>
              <a:t>Van 3D-model naar
onderbouwde ontwerpkeuze.</a:t>
            </a:r>
          </a:p>
        </p:txBody>
      </p:sp>
      <p:sp>
        <p:nvSpPr>
          <p:cNvPr id="7" name="TextBox 6"/>
          <p:cNvSpPr txBox="1"/>
          <p:nvPr/>
        </p:nvSpPr>
        <p:spPr>
          <a:xfrm>
            <a:off x="658368" y="3401568"/>
            <a:ext cx="5623560" cy="411480"/>
          </a:xfrm>
          <a:prstGeom prst="rect">
            <a:avLst/>
          </a:prstGeom>
          <a:noFill/>
        </p:spPr>
        <p:txBody>
          <a:bodyPr wrap="none" lIns="0" rIns="0" tIns="0" bIns="0" anchor="t">
            <a:spAutoFit/>
          </a:bodyPr>
          <a:lstStyle/>
          <a:p>
            <a:pPr algn="l"/>
            <a:r>
              <a:rPr sz="1600" b="0">
                <a:solidFill>
                  <a:srgbClr val="B7E6C8"/>
                </a:solidFill>
                <a:latin typeface="Segoe UI"/>
              </a:rPr>
              <a:t>Wat de app doet — en hoe de techniek samenwerkt</a:t>
            </a:r>
          </a:p>
        </p:txBody>
      </p:sp>
      <p:sp>
        <p:nvSpPr>
          <p:cNvPr id="8" name="Rectangle 7"/>
          <p:cNvSpPr/>
          <p:nvPr/>
        </p:nvSpPr>
        <p:spPr>
          <a:xfrm>
            <a:off x="658368" y="4005072"/>
            <a:ext cx="960120" cy="54864"/>
          </a:xfrm>
          <a:prstGeom prst="rect">
            <a:avLst/>
          </a:prstGeom>
          <a:solidFill>
            <a:srgbClr val="D9683F"/>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4315968"/>
            <a:ext cx="5669280" cy="365760"/>
          </a:xfrm>
          <a:prstGeom prst="rect">
            <a:avLst/>
          </a:prstGeom>
          <a:noFill/>
        </p:spPr>
        <p:txBody>
          <a:bodyPr wrap="none" lIns="0" rIns="0" tIns="0" bIns="0" anchor="t">
            <a:spAutoFit/>
          </a:bodyPr>
          <a:lstStyle/>
          <a:p>
            <a:pPr algn="l"/>
            <a:r>
              <a:rPr sz="1300" b="0">
                <a:solidFill>
                  <a:srgbClr val="FFFFFF"/>
                </a:solidFill>
                <a:latin typeface="Segoe UI"/>
              </a:rPr>
              <a:t>Rhino • Grasshopper • 3D-bewijs • AI • rapportage</a:t>
            </a:r>
          </a:p>
        </p:txBody>
      </p:sp>
      <p:pic>
        <p:nvPicPr>
          <p:cNvPr id="10" name="Picture 9" descr="parkhaven-logo.png"/>
          <p:cNvPicPr>
            <a:picLocks noChangeAspect="1"/>
          </p:cNvPicPr>
          <p:nvPr/>
        </p:nvPicPr>
        <p:blipFill>
          <a:blip r:embed="rId3"/>
          <a:stretch>
            <a:fillRect/>
          </a:stretch>
        </p:blipFill>
        <p:spPr>
          <a:xfrm>
            <a:off x="5468112" y="4937760"/>
            <a:ext cx="828104" cy="1344168"/>
          </a:xfrm>
          <a:prstGeom prst="rect">
            <a:avLst/>
          </a:prstGeom>
        </p:spPr>
      </p:pic>
      <p:sp>
        <p:nvSpPr>
          <p:cNvPr id="11" name="TextBox 10"/>
          <p:cNvSpPr txBox="1"/>
          <p:nvPr/>
        </p:nvSpPr>
        <p:spPr>
          <a:xfrm>
            <a:off x="658368" y="6144768"/>
            <a:ext cx="3200400" cy="182880"/>
          </a:xfrm>
          <a:prstGeom prst="rect">
            <a:avLst/>
          </a:prstGeom>
          <a:noFill/>
        </p:spPr>
        <p:txBody>
          <a:bodyPr wrap="none" lIns="0" rIns="0" tIns="0" bIns="0" anchor="t">
            <a:spAutoFit/>
          </a:bodyPr>
          <a:lstStyle/>
          <a:p>
            <a:pPr algn="l"/>
            <a:r>
              <a:rPr sz="800" b="1">
                <a:solidFill>
                  <a:srgbClr val="B7E6C8"/>
                </a:solidFill>
                <a:latin typeface="Segoe UI"/>
              </a:rPr>
              <a:t>OVERZICHT + TECHNISCHE ACHTERGROND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EFE9"/>
          </a:solidFill>
          <a:ln>
            <a:solidFill>
              <a:srgbClr val="ECE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040880" cy="274320"/>
          </a:xfrm>
          <a:prstGeom prst="rect">
            <a:avLst/>
          </a:prstGeom>
          <a:noFill/>
        </p:spPr>
        <p:txBody>
          <a:bodyPr wrap="none" lIns="0" rIns="0" tIns="0" bIns="0" anchor="t">
            <a:spAutoFit/>
          </a:bodyPr>
          <a:lstStyle/>
          <a:p>
            <a:pPr algn="l"/>
            <a:r>
              <a:rPr sz="900" b="1">
                <a:solidFill>
                  <a:srgbClr val="687B75"/>
                </a:solidFill>
                <a:latin typeface="Segoe UI"/>
              </a:rPr>
              <a:t>WAAROM PARKHAVEN STUDIO</a:t>
            </a:r>
          </a:p>
        </p:txBody>
      </p:sp>
      <p:sp>
        <p:nvSpPr>
          <p:cNvPr id="4" name="TextBox 3"/>
          <p:cNvSpPr txBox="1"/>
          <p:nvPr/>
        </p:nvSpPr>
        <p:spPr>
          <a:xfrm>
            <a:off x="566928" y="640080"/>
            <a:ext cx="10789920" cy="621792"/>
          </a:xfrm>
          <a:prstGeom prst="rect">
            <a:avLst/>
          </a:prstGeom>
          <a:noFill/>
        </p:spPr>
        <p:txBody>
          <a:bodyPr wrap="none" lIns="0" rIns="0" tIns="0" bIns="0" anchor="t">
            <a:spAutoFit/>
          </a:bodyPr>
          <a:lstStyle/>
          <a:p>
            <a:pPr algn="l"/>
            <a:r>
              <a:rPr sz="2700" b="1">
                <a:solidFill>
                  <a:srgbClr val="18352F"/>
                </a:solidFill>
                <a:latin typeface="Segoe UI"/>
              </a:rPr>
              <a:t>Van losse gereedschappen naar één ontwerpdossier</a:t>
            </a:r>
          </a:p>
        </p:txBody>
      </p:sp>
      <p:sp>
        <p:nvSpPr>
          <p:cNvPr id="5" name="TextBox 4"/>
          <p:cNvSpPr txBox="1"/>
          <p:nvPr/>
        </p:nvSpPr>
        <p:spPr>
          <a:xfrm>
            <a:off x="11109960" y="365760"/>
            <a:ext cx="502920" cy="256032"/>
          </a:xfrm>
          <a:prstGeom prst="rect">
            <a:avLst/>
          </a:prstGeom>
          <a:noFill/>
        </p:spPr>
        <p:txBody>
          <a:bodyPr wrap="none" lIns="0" rIns="0" tIns="0" bIns="0" anchor="t">
            <a:spAutoFit/>
          </a:bodyPr>
          <a:lstStyle/>
          <a:p>
            <a:pPr algn="r"/>
            <a:r>
              <a:rPr sz="900" b="1">
                <a:solidFill>
                  <a:srgbClr val="687B75"/>
                </a:solidFill>
                <a:latin typeface="Segoe UI"/>
              </a:rPr>
              <a:t>02</a:t>
            </a:r>
          </a:p>
        </p:txBody>
      </p:sp>
      <p:sp>
        <p:nvSpPr>
          <p:cNvPr id="6" name="Rectangle 5"/>
          <p:cNvSpPr/>
          <p:nvPr/>
        </p:nvSpPr>
        <p:spPr>
          <a:xfrm>
            <a:off x="566928" y="1325880"/>
            <a:ext cx="11045952" cy="13716"/>
          </a:xfrm>
          <a:prstGeom prst="rect">
            <a:avLst/>
          </a:prstGeom>
          <a:solidFill>
            <a:srgbClr val="D5DDD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719072"/>
            <a:ext cx="1188720" cy="182880"/>
          </a:xfrm>
          <a:prstGeom prst="rect">
            <a:avLst/>
          </a:prstGeom>
          <a:noFill/>
        </p:spPr>
        <p:txBody>
          <a:bodyPr wrap="none" lIns="0" rIns="0" tIns="0" bIns="0" anchor="t">
            <a:spAutoFit/>
          </a:bodyPr>
          <a:lstStyle/>
          <a:p>
            <a:pPr algn="l"/>
            <a:r>
              <a:rPr sz="800" b="1">
                <a:solidFill>
                  <a:srgbClr val="D9683F"/>
                </a:solidFill>
                <a:latin typeface="Segoe UI"/>
              </a:rPr>
              <a:t>ZONDER APP</a:t>
            </a:r>
          </a:p>
        </p:txBody>
      </p:sp>
      <p:sp>
        <p:nvSpPr>
          <p:cNvPr id="8" name="Rounded Rectangle 7"/>
          <p:cNvSpPr/>
          <p:nvPr/>
        </p:nvSpPr>
        <p:spPr>
          <a:xfrm>
            <a:off x="658368" y="2057400"/>
            <a:ext cx="1417320" cy="493776"/>
          </a:xfrm>
          <a:prstGeom prst="roundRect">
            <a:avLst>
              <a:gd name="adj" fmla="val 8000"/>
            </a:avLst>
          </a:prstGeom>
          <a:solidFill>
            <a:srgbClr val="F8FAF6"/>
          </a:solidFill>
          <a:ln>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203704"/>
            <a:ext cx="1271016" cy="182880"/>
          </a:xfrm>
          <a:prstGeom prst="rect">
            <a:avLst/>
          </a:prstGeom>
          <a:noFill/>
        </p:spPr>
        <p:txBody>
          <a:bodyPr wrap="none" lIns="0" rIns="0" tIns="0" bIns="0" anchor="t">
            <a:spAutoFit/>
          </a:bodyPr>
          <a:lstStyle/>
          <a:p>
            <a:pPr algn="ctr"/>
            <a:r>
              <a:rPr sz="1000" b="1">
                <a:solidFill>
                  <a:srgbClr val="2F80ED"/>
                </a:solidFill>
                <a:latin typeface="Segoe UI"/>
              </a:rPr>
              <a:t>Rhino</a:t>
            </a:r>
          </a:p>
        </p:txBody>
      </p:sp>
      <p:sp>
        <p:nvSpPr>
          <p:cNvPr id="10" name="Rounded Rectangle 9"/>
          <p:cNvSpPr/>
          <p:nvPr/>
        </p:nvSpPr>
        <p:spPr>
          <a:xfrm>
            <a:off x="2322576" y="2770632"/>
            <a:ext cx="1417320" cy="493776"/>
          </a:xfrm>
          <a:prstGeom prst="roundRect">
            <a:avLst>
              <a:gd name="adj" fmla="val 8000"/>
            </a:avLst>
          </a:prstGeom>
          <a:solidFill>
            <a:srgbClr val="F8FAF6"/>
          </a:solidFill>
          <a:ln>
            <a:solidFill>
              <a:srgbClr val="D7A3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5728" y="2916936"/>
            <a:ext cx="1271016" cy="182880"/>
          </a:xfrm>
          <a:prstGeom prst="rect">
            <a:avLst/>
          </a:prstGeom>
          <a:noFill/>
        </p:spPr>
        <p:txBody>
          <a:bodyPr wrap="none" lIns="0" rIns="0" tIns="0" bIns="0" anchor="t">
            <a:spAutoFit/>
          </a:bodyPr>
          <a:lstStyle/>
          <a:p>
            <a:pPr algn="ctr"/>
            <a:r>
              <a:rPr sz="1000" b="1">
                <a:solidFill>
                  <a:srgbClr val="D7A35D"/>
                </a:solidFill>
                <a:latin typeface="Segoe UI"/>
              </a:rPr>
              <a:t>Grasshopper</a:t>
            </a:r>
          </a:p>
        </p:txBody>
      </p:sp>
      <p:sp>
        <p:nvSpPr>
          <p:cNvPr id="12" name="Rounded Rectangle 11"/>
          <p:cNvSpPr/>
          <p:nvPr/>
        </p:nvSpPr>
        <p:spPr>
          <a:xfrm>
            <a:off x="658368" y="3483864"/>
            <a:ext cx="1417320" cy="493776"/>
          </a:xfrm>
          <a:prstGeom prst="roundRect">
            <a:avLst>
              <a:gd name="adj" fmla="val 8000"/>
            </a:avLst>
          </a:prstGeom>
          <a:solidFill>
            <a:srgbClr val="F8FAF6"/>
          </a:solidFill>
          <a:ln>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630168"/>
            <a:ext cx="1271016" cy="182880"/>
          </a:xfrm>
          <a:prstGeom prst="rect">
            <a:avLst/>
          </a:prstGeom>
          <a:noFill/>
        </p:spPr>
        <p:txBody>
          <a:bodyPr wrap="none" lIns="0" rIns="0" tIns="0" bIns="0" anchor="t">
            <a:spAutoFit/>
          </a:bodyPr>
          <a:lstStyle/>
          <a:p>
            <a:pPr algn="ctr"/>
            <a:r>
              <a:rPr sz="1000" b="1">
                <a:solidFill>
                  <a:srgbClr val="9B51E0"/>
                </a:solidFill>
                <a:latin typeface="Segoe UI"/>
              </a:rPr>
              <a:t>Schermafbeeldingen</a:t>
            </a:r>
          </a:p>
        </p:txBody>
      </p:sp>
      <p:sp>
        <p:nvSpPr>
          <p:cNvPr id="14" name="Rounded Rectangle 13"/>
          <p:cNvSpPr/>
          <p:nvPr/>
        </p:nvSpPr>
        <p:spPr>
          <a:xfrm>
            <a:off x="2322576" y="4197096"/>
            <a:ext cx="1417320" cy="493776"/>
          </a:xfrm>
          <a:prstGeom prst="roundRect">
            <a:avLst>
              <a:gd name="adj" fmla="val 8000"/>
            </a:avLst>
          </a:prstGeom>
          <a:solidFill>
            <a:srgbClr val="F8FAF6"/>
          </a:solidFill>
          <a:ln>
            <a:solidFill>
              <a:srgbClr val="5480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95728" y="4343400"/>
            <a:ext cx="1271016" cy="182880"/>
          </a:xfrm>
          <a:prstGeom prst="rect">
            <a:avLst/>
          </a:prstGeom>
          <a:noFill/>
        </p:spPr>
        <p:txBody>
          <a:bodyPr wrap="none" lIns="0" rIns="0" tIns="0" bIns="0" anchor="t">
            <a:spAutoFit/>
          </a:bodyPr>
          <a:lstStyle/>
          <a:p>
            <a:pPr algn="ctr"/>
            <a:r>
              <a:rPr sz="1000" b="1">
                <a:solidFill>
                  <a:srgbClr val="548093"/>
                </a:solidFill>
                <a:latin typeface="Segoe UI"/>
              </a:rPr>
              <a:t>Notities</a:t>
            </a:r>
          </a:p>
        </p:txBody>
      </p:sp>
      <p:cxnSp>
        <p:nvCxnSpPr>
          <p:cNvPr id="16" name="Connector 15"/>
          <p:cNvCxnSpPr/>
          <p:nvPr/>
        </p:nvCxnSpPr>
        <p:spPr>
          <a:xfrm>
            <a:off x="3767328" y="3291840"/>
            <a:ext cx="850392" cy="0"/>
          </a:xfrm>
          <a:prstGeom prst="line">
            <a:avLst/>
          </a:prstGeom>
          <a:ln w="25400">
            <a:solidFill>
              <a:srgbClr val="687B75"/>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736592" y="1810512"/>
            <a:ext cx="2743200" cy="2971800"/>
          </a:xfrm>
          <a:prstGeom prst="roundRect">
            <a:avLst>
              <a:gd name="adj" fmla="val 8000"/>
            </a:avLst>
          </a:prstGeom>
          <a:solidFill>
            <a:srgbClr val="163A3B"/>
          </a:solidFill>
          <a:ln>
            <a:solidFill>
              <a:srgbClr val="163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arkhaven-logo.png"/>
          <p:cNvPicPr>
            <a:picLocks noChangeAspect="1"/>
          </p:cNvPicPr>
          <p:nvPr/>
        </p:nvPicPr>
        <p:blipFill>
          <a:blip r:embed="rId2"/>
          <a:stretch>
            <a:fillRect/>
          </a:stretch>
        </p:blipFill>
        <p:spPr>
          <a:xfrm>
            <a:off x="5669280" y="2066543"/>
            <a:ext cx="495735" cy="804672"/>
          </a:xfrm>
          <a:prstGeom prst="rect">
            <a:avLst/>
          </a:prstGeom>
        </p:spPr>
      </p:pic>
      <p:sp>
        <p:nvSpPr>
          <p:cNvPr id="19" name="TextBox 18"/>
          <p:cNvSpPr txBox="1"/>
          <p:nvPr/>
        </p:nvSpPr>
        <p:spPr>
          <a:xfrm>
            <a:off x="5102352" y="2999232"/>
            <a:ext cx="2011680" cy="685800"/>
          </a:xfrm>
          <a:prstGeom prst="rect">
            <a:avLst/>
          </a:prstGeom>
          <a:noFill/>
        </p:spPr>
        <p:txBody>
          <a:bodyPr wrap="none" lIns="0" rIns="0" tIns="0" bIns="0" anchor="t">
            <a:spAutoFit/>
          </a:bodyPr>
          <a:lstStyle/>
          <a:p>
            <a:pPr algn="ctr"/>
            <a:r>
              <a:rPr sz="2100" b="1">
                <a:solidFill>
                  <a:srgbClr val="FFFFFF"/>
                </a:solidFill>
                <a:latin typeface="Segoe UI"/>
              </a:rPr>
              <a:t>PARKHAVEN
STUDIO</a:t>
            </a:r>
          </a:p>
        </p:txBody>
      </p:sp>
      <p:sp>
        <p:nvSpPr>
          <p:cNvPr id="20" name="TextBox 19"/>
          <p:cNvSpPr txBox="1"/>
          <p:nvPr/>
        </p:nvSpPr>
        <p:spPr>
          <a:xfrm>
            <a:off x="5074920" y="4069080"/>
            <a:ext cx="2066543" cy="274320"/>
          </a:xfrm>
          <a:prstGeom prst="rect">
            <a:avLst/>
          </a:prstGeom>
          <a:noFill/>
        </p:spPr>
        <p:txBody>
          <a:bodyPr wrap="none" lIns="0" rIns="0" tIns="0" bIns="0" anchor="t">
            <a:spAutoFit/>
          </a:bodyPr>
          <a:lstStyle/>
          <a:p>
            <a:pPr algn="ctr"/>
            <a:r>
              <a:rPr sz="1100" b="0">
                <a:solidFill>
                  <a:srgbClr val="B7E6C8"/>
                </a:solidFill>
                <a:latin typeface="Segoe UI"/>
              </a:rPr>
              <a:t>Eén begeleide workflow</a:t>
            </a:r>
          </a:p>
        </p:txBody>
      </p:sp>
      <p:cxnSp>
        <p:nvCxnSpPr>
          <p:cNvPr id="21" name="Connector 20"/>
          <p:cNvCxnSpPr/>
          <p:nvPr/>
        </p:nvCxnSpPr>
        <p:spPr>
          <a:xfrm>
            <a:off x="7626096" y="3291840"/>
            <a:ext cx="850392" cy="0"/>
          </a:xfrm>
          <a:prstGeom prst="line">
            <a:avLst/>
          </a:prstGeom>
          <a:ln w="25400">
            <a:solidFill>
              <a:srgbClr val="1F684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641080" y="1719072"/>
            <a:ext cx="1188720" cy="182880"/>
          </a:xfrm>
          <a:prstGeom prst="rect">
            <a:avLst/>
          </a:prstGeom>
          <a:noFill/>
        </p:spPr>
        <p:txBody>
          <a:bodyPr wrap="none" lIns="0" rIns="0" tIns="0" bIns="0" anchor="t">
            <a:spAutoFit/>
          </a:bodyPr>
          <a:lstStyle/>
          <a:p>
            <a:pPr algn="l"/>
            <a:r>
              <a:rPr sz="800" b="1">
                <a:solidFill>
                  <a:srgbClr val="1F684E"/>
                </a:solidFill>
                <a:latin typeface="Segoe UI"/>
              </a:rPr>
              <a:t>MET APP</a:t>
            </a:r>
          </a:p>
        </p:txBody>
      </p:sp>
      <p:sp>
        <p:nvSpPr>
          <p:cNvPr id="23" name="Rounded Rectangle 22"/>
          <p:cNvSpPr/>
          <p:nvPr/>
        </p:nvSpPr>
        <p:spPr>
          <a:xfrm>
            <a:off x="8577072" y="2057400"/>
            <a:ext cx="2542032" cy="493776"/>
          </a:xfrm>
          <a:prstGeom prst="roundRect">
            <a:avLst>
              <a:gd name="adj" fmla="val 8000"/>
            </a:avLst>
          </a:prstGeom>
          <a:solidFill>
            <a:srgbClr val="F8FAF6"/>
          </a:solidFill>
          <a:ln>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59952" y="2203704"/>
            <a:ext cx="2176272" cy="182880"/>
          </a:xfrm>
          <a:prstGeom prst="rect">
            <a:avLst/>
          </a:prstGeom>
          <a:noFill/>
        </p:spPr>
        <p:txBody>
          <a:bodyPr wrap="none" lIns="0" rIns="0" tIns="0" bIns="0" anchor="t">
            <a:spAutoFit/>
          </a:bodyPr>
          <a:lstStyle/>
          <a:p>
            <a:pPr algn="l"/>
            <a:r>
              <a:rPr sz="1100" b="1">
                <a:solidFill>
                  <a:srgbClr val="18352F"/>
                </a:solidFill>
                <a:latin typeface="Segoe UI"/>
              </a:rPr>
              <a:t>Model + versie</a:t>
            </a:r>
          </a:p>
        </p:txBody>
      </p:sp>
      <p:sp>
        <p:nvSpPr>
          <p:cNvPr id="25" name="TextBox 24"/>
          <p:cNvSpPr txBox="1"/>
          <p:nvPr/>
        </p:nvSpPr>
        <p:spPr>
          <a:xfrm>
            <a:off x="10716768" y="2185416"/>
            <a:ext cx="237744" cy="201168"/>
          </a:xfrm>
          <a:prstGeom prst="rect">
            <a:avLst/>
          </a:prstGeom>
          <a:noFill/>
        </p:spPr>
        <p:txBody>
          <a:bodyPr wrap="none" lIns="0" rIns="0" tIns="0" bIns="0" anchor="t">
            <a:spAutoFit/>
          </a:bodyPr>
          <a:lstStyle/>
          <a:p>
            <a:pPr algn="ctr"/>
            <a:r>
              <a:rPr sz="1200" b="1">
                <a:solidFill>
                  <a:srgbClr val="2F80ED"/>
                </a:solidFill>
                <a:latin typeface="Segoe UI"/>
              </a:rPr>
              <a:t>✓</a:t>
            </a:r>
          </a:p>
        </p:txBody>
      </p:sp>
      <p:sp>
        <p:nvSpPr>
          <p:cNvPr id="26" name="Rounded Rectangle 25"/>
          <p:cNvSpPr/>
          <p:nvPr/>
        </p:nvSpPr>
        <p:spPr>
          <a:xfrm>
            <a:off x="8577072" y="2770632"/>
            <a:ext cx="2542032" cy="493776"/>
          </a:xfrm>
          <a:prstGeom prst="roundRect">
            <a:avLst>
              <a:gd name="adj" fmla="val 8000"/>
            </a:avLst>
          </a:prstGeom>
          <a:solidFill>
            <a:srgbClr val="F8FAF6"/>
          </a:solidFill>
          <a:ln>
            <a:solidFill>
              <a:srgbClr val="1F68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59952" y="2916936"/>
            <a:ext cx="2176272" cy="182880"/>
          </a:xfrm>
          <a:prstGeom prst="rect">
            <a:avLst/>
          </a:prstGeom>
          <a:noFill/>
        </p:spPr>
        <p:txBody>
          <a:bodyPr wrap="none" lIns="0" rIns="0" tIns="0" bIns="0" anchor="t">
            <a:spAutoFit/>
          </a:bodyPr>
          <a:lstStyle/>
          <a:p>
            <a:pPr algn="l"/>
            <a:r>
              <a:rPr sz="1100" b="1">
                <a:solidFill>
                  <a:srgbClr val="18352F"/>
                </a:solidFill>
                <a:latin typeface="Segoe UI"/>
              </a:rPr>
              <a:t>Resultaten</a:t>
            </a:r>
          </a:p>
        </p:txBody>
      </p:sp>
      <p:sp>
        <p:nvSpPr>
          <p:cNvPr id="28" name="TextBox 27"/>
          <p:cNvSpPr txBox="1"/>
          <p:nvPr/>
        </p:nvSpPr>
        <p:spPr>
          <a:xfrm>
            <a:off x="10716768" y="2898648"/>
            <a:ext cx="237744" cy="201168"/>
          </a:xfrm>
          <a:prstGeom prst="rect">
            <a:avLst/>
          </a:prstGeom>
          <a:noFill/>
        </p:spPr>
        <p:txBody>
          <a:bodyPr wrap="none" lIns="0" rIns="0" tIns="0" bIns="0" anchor="t">
            <a:spAutoFit/>
          </a:bodyPr>
          <a:lstStyle/>
          <a:p>
            <a:pPr algn="ctr"/>
            <a:r>
              <a:rPr sz="1200" b="1">
                <a:solidFill>
                  <a:srgbClr val="1F684E"/>
                </a:solidFill>
                <a:latin typeface="Segoe UI"/>
              </a:rPr>
              <a:t>✓</a:t>
            </a:r>
          </a:p>
        </p:txBody>
      </p:sp>
      <p:sp>
        <p:nvSpPr>
          <p:cNvPr id="29" name="Rounded Rectangle 28"/>
          <p:cNvSpPr/>
          <p:nvPr/>
        </p:nvSpPr>
        <p:spPr>
          <a:xfrm>
            <a:off x="8577072" y="3483864"/>
            <a:ext cx="2542032" cy="493776"/>
          </a:xfrm>
          <a:prstGeom prst="roundRect">
            <a:avLst>
              <a:gd name="adj" fmla="val 8000"/>
            </a:avLst>
          </a:prstGeom>
          <a:solidFill>
            <a:srgbClr val="F8FAF6"/>
          </a:solidFill>
          <a:ln>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59952" y="3630168"/>
            <a:ext cx="2176272" cy="182880"/>
          </a:xfrm>
          <a:prstGeom prst="rect">
            <a:avLst/>
          </a:prstGeom>
          <a:noFill/>
        </p:spPr>
        <p:txBody>
          <a:bodyPr wrap="none" lIns="0" rIns="0" tIns="0" bIns="0" anchor="t">
            <a:spAutoFit/>
          </a:bodyPr>
          <a:lstStyle/>
          <a:p>
            <a:pPr algn="l"/>
            <a:r>
              <a:rPr sz="1100" b="1">
                <a:solidFill>
                  <a:srgbClr val="18352F"/>
                </a:solidFill>
                <a:latin typeface="Segoe UI"/>
              </a:rPr>
              <a:t>Beelden</a:t>
            </a:r>
          </a:p>
        </p:txBody>
      </p:sp>
      <p:sp>
        <p:nvSpPr>
          <p:cNvPr id="31" name="TextBox 30"/>
          <p:cNvSpPr txBox="1"/>
          <p:nvPr/>
        </p:nvSpPr>
        <p:spPr>
          <a:xfrm>
            <a:off x="10716768" y="3611880"/>
            <a:ext cx="237744" cy="201168"/>
          </a:xfrm>
          <a:prstGeom prst="rect">
            <a:avLst/>
          </a:prstGeom>
          <a:noFill/>
        </p:spPr>
        <p:txBody>
          <a:bodyPr wrap="none" lIns="0" rIns="0" tIns="0" bIns="0" anchor="t">
            <a:spAutoFit/>
          </a:bodyPr>
          <a:lstStyle/>
          <a:p>
            <a:pPr algn="ctr"/>
            <a:r>
              <a:rPr sz="1200" b="1">
                <a:solidFill>
                  <a:srgbClr val="9B51E0"/>
                </a:solidFill>
                <a:latin typeface="Segoe UI"/>
              </a:rPr>
              <a:t>✓</a:t>
            </a:r>
          </a:p>
        </p:txBody>
      </p:sp>
      <p:sp>
        <p:nvSpPr>
          <p:cNvPr id="32" name="Rounded Rectangle 31"/>
          <p:cNvSpPr/>
          <p:nvPr/>
        </p:nvSpPr>
        <p:spPr>
          <a:xfrm>
            <a:off x="8577072" y="4197096"/>
            <a:ext cx="2542032" cy="493776"/>
          </a:xfrm>
          <a:prstGeom prst="roundRect">
            <a:avLst>
              <a:gd name="adj" fmla="val 8000"/>
            </a:avLst>
          </a:prstGeom>
          <a:solidFill>
            <a:srgbClr val="F8FAF6"/>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59952" y="4343400"/>
            <a:ext cx="2176272" cy="182880"/>
          </a:xfrm>
          <a:prstGeom prst="rect">
            <a:avLst/>
          </a:prstGeom>
          <a:noFill/>
        </p:spPr>
        <p:txBody>
          <a:bodyPr wrap="none" lIns="0" rIns="0" tIns="0" bIns="0" anchor="t">
            <a:spAutoFit/>
          </a:bodyPr>
          <a:lstStyle/>
          <a:p>
            <a:pPr algn="l"/>
            <a:r>
              <a:rPr sz="1100" b="1">
                <a:solidFill>
                  <a:srgbClr val="18352F"/>
                </a:solidFill>
                <a:latin typeface="Segoe UI"/>
              </a:rPr>
              <a:t>Rapport</a:t>
            </a:r>
          </a:p>
        </p:txBody>
      </p:sp>
      <p:sp>
        <p:nvSpPr>
          <p:cNvPr id="34" name="TextBox 33"/>
          <p:cNvSpPr txBox="1"/>
          <p:nvPr/>
        </p:nvSpPr>
        <p:spPr>
          <a:xfrm>
            <a:off x="10716768" y="4325112"/>
            <a:ext cx="237744" cy="201168"/>
          </a:xfrm>
          <a:prstGeom prst="rect">
            <a:avLst/>
          </a:prstGeom>
          <a:noFill/>
        </p:spPr>
        <p:txBody>
          <a:bodyPr wrap="none" lIns="0" rIns="0" tIns="0" bIns="0" anchor="t">
            <a:spAutoFit/>
          </a:bodyPr>
          <a:lstStyle/>
          <a:p>
            <a:pPr algn="ctr"/>
            <a:r>
              <a:rPr sz="1200" b="1">
                <a:solidFill>
                  <a:srgbClr val="D9683F"/>
                </a:solidFill>
                <a:latin typeface="Segoe UI"/>
              </a:rPr>
              <a:t>✓</a:t>
            </a:r>
          </a:p>
        </p:txBody>
      </p:sp>
      <p:sp>
        <p:nvSpPr>
          <p:cNvPr id="35" name="Rounded Rectangle 34"/>
          <p:cNvSpPr/>
          <p:nvPr/>
        </p:nvSpPr>
        <p:spPr>
          <a:xfrm>
            <a:off x="658368" y="5230368"/>
            <a:ext cx="10460736" cy="585216"/>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431536"/>
            <a:ext cx="9948672" cy="219456"/>
          </a:xfrm>
          <a:prstGeom prst="rect">
            <a:avLst/>
          </a:prstGeom>
          <a:noFill/>
        </p:spPr>
        <p:txBody>
          <a:bodyPr wrap="none" lIns="0" rIns="0" tIns="0" bIns="0" anchor="t">
            <a:spAutoFit/>
          </a:bodyPr>
          <a:lstStyle/>
          <a:p>
            <a:pPr algn="ctr"/>
            <a:r>
              <a:rPr sz="1300" b="1">
                <a:solidFill>
                  <a:srgbClr val="18352F"/>
                </a:solidFill>
                <a:latin typeface="Segoe UI"/>
              </a:rPr>
              <a:t>Iedere conclusie blijft gekoppeld aan dezelfde modelversie, berekening en hetzelfde bewijs.</a:t>
            </a:r>
          </a:p>
        </p:txBody>
      </p:sp>
      <p:pic>
        <p:nvPicPr>
          <p:cNvPr id="37" name="Picture 36" descr="parkhaven-logo.png"/>
          <p:cNvPicPr>
            <a:picLocks noChangeAspect="1"/>
          </p:cNvPicPr>
          <p:nvPr/>
        </p:nvPicPr>
        <p:blipFill>
          <a:blip r:embed="rId2"/>
          <a:stretch>
            <a:fillRect/>
          </a:stretch>
        </p:blipFill>
        <p:spPr>
          <a:xfrm>
            <a:off x="566928" y="6364224"/>
            <a:ext cx="208434" cy="338328"/>
          </a:xfrm>
          <a:prstGeom prst="rect">
            <a:avLst/>
          </a:prstGeom>
        </p:spPr>
      </p:pic>
      <p:sp>
        <p:nvSpPr>
          <p:cNvPr id="38" name="TextBox 37"/>
          <p:cNvSpPr txBox="1"/>
          <p:nvPr/>
        </p:nvSpPr>
        <p:spPr>
          <a:xfrm>
            <a:off x="932688" y="6428232"/>
            <a:ext cx="2011680" cy="182880"/>
          </a:xfrm>
          <a:prstGeom prst="rect">
            <a:avLst/>
          </a:prstGeom>
          <a:noFill/>
        </p:spPr>
        <p:txBody>
          <a:bodyPr wrap="none" lIns="0" rIns="0">
            <a:spAutoFit/>
          </a:bodyPr>
          <a:lstStyle/>
          <a:p>
            <a:pPr algn="l"/>
            <a:r>
              <a:rPr sz="800" b="1">
                <a:solidFill>
                  <a:srgbClr val="18352F"/>
                </a:solidFill>
                <a:latin typeface="Segoe UI"/>
              </a:rPr>
              <a:t>PARKHAVEN </a:t>
            </a:r>
            <a:r>
              <a:rPr sz="800" b="0">
                <a:solidFill>
                  <a:srgbClr val="687B75"/>
                </a:solidFill>
                <a:latin typeface="Segoe UI"/>
              </a:rPr>
              <a:t>STUDIO</a:t>
            </a:r>
          </a:p>
        </p:txBody>
      </p:sp>
      <p:sp>
        <p:nvSpPr>
          <p:cNvPr id="39" name="TextBox 38"/>
          <p:cNvSpPr txBox="1"/>
          <p:nvPr/>
        </p:nvSpPr>
        <p:spPr>
          <a:xfrm>
            <a:off x="8001000" y="6428232"/>
            <a:ext cx="3611880" cy="182880"/>
          </a:xfrm>
          <a:prstGeom prst="rect">
            <a:avLst/>
          </a:prstGeom>
          <a:noFill/>
        </p:spPr>
        <p:txBody>
          <a:bodyPr wrap="none" lIns="0" rIns="0" tIns="0" bIns="0" anchor="t">
            <a:spAutoFit/>
          </a:bodyPr>
          <a:lstStyle/>
          <a:p>
            <a:pPr algn="r"/>
            <a:r>
              <a:rPr sz="700" b="1">
                <a:solidFill>
                  <a:srgbClr val="687B75"/>
                </a:solidFill>
                <a:latin typeface="Segoe UI"/>
              </a:rPr>
              <a:t>LOKAAL • HERLEIDBAAR • MODELGEBASEERD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EFE9"/>
          </a:solidFill>
          <a:ln>
            <a:solidFill>
              <a:srgbClr val="ECE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040880" cy="274320"/>
          </a:xfrm>
          <a:prstGeom prst="rect">
            <a:avLst/>
          </a:prstGeom>
          <a:noFill/>
        </p:spPr>
        <p:txBody>
          <a:bodyPr wrap="none" lIns="0" rIns="0" tIns="0" bIns="0" anchor="t">
            <a:spAutoFit/>
          </a:bodyPr>
          <a:lstStyle/>
          <a:p>
            <a:pPr algn="l"/>
            <a:r>
              <a:rPr sz="900" b="1">
                <a:solidFill>
                  <a:srgbClr val="687B75"/>
                </a:solidFill>
                <a:latin typeface="Segoe UI"/>
              </a:rPr>
              <a:t>GEBRUIKERSERVARING</a:t>
            </a:r>
          </a:p>
        </p:txBody>
      </p:sp>
      <p:sp>
        <p:nvSpPr>
          <p:cNvPr id="4" name="TextBox 3"/>
          <p:cNvSpPr txBox="1"/>
          <p:nvPr/>
        </p:nvSpPr>
        <p:spPr>
          <a:xfrm>
            <a:off x="566928" y="640080"/>
            <a:ext cx="10789920" cy="621792"/>
          </a:xfrm>
          <a:prstGeom prst="rect">
            <a:avLst/>
          </a:prstGeom>
          <a:noFill/>
        </p:spPr>
        <p:txBody>
          <a:bodyPr wrap="none" lIns="0" rIns="0" tIns="0" bIns="0" anchor="t">
            <a:spAutoFit/>
          </a:bodyPr>
          <a:lstStyle/>
          <a:p>
            <a:pPr algn="l"/>
            <a:r>
              <a:rPr sz="2700" b="1">
                <a:solidFill>
                  <a:srgbClr val="18352F"/>
                </a:solidFill>
                <a:latin typeface="Segoe UI"/>
              </a:rPr>
              <a:t>Vijf stappen van model naar besluit</a:t>
            </a:r>
          </a:p>
        </p:txBody>
      </p:sp>
      <p:sp>
        <p:nvSpPr>
          <p:cNvPr id="5" name="TextBox 4"/>
          <p:cNvSpPr txBox="1"/>
          <p:nvPr/>
        </p:nvSpPr>
        <p:spPr>
          <a:xfrm>
            <a:off x="11109960" y="365760"/>
            <a:ext cx="502920" cy="256032"/>
          </a:xfrm>
          <a:prstGeom prst="rect">
            <a:avLst/>
          </a:prstGeom>
          <a:noFill/>
        </p:spPr>
        <p:txBody>
          <a:bodyPr wrap="none" lIns="0" rIns="0" tIns="0" bIns="0" anchor="t">
            <a:spAutoFit/>
          </a:bodyPr>
          <a:lstStyle/>
          <a:p>
            <a:pPr algn="r"/>
            <a:r>
              <a:rPr sz="900" b="1">
                <a:solidFill>
                  <a:srgbClr val="687B75"/>
                </a:solidFill>
                <a:latin typeface="Segoe UI"/>
              </a:rPr>
              <a:t>03</a:t>
            </a:r>
          </a:p>
        </p:txBody>
      </p:sp>
      <p:sp>
        <p:nvSpPr>
          <p:cNvPr id="6" name="Rectangle 5"/>
          <p:cNvSpPr/>
          <p:nvPr/>
        </p:nvSpPr>
        <p:spPr>
          <a:xfrm>
            <a:off x="566928" y="1325880"/>
            <a:ext cx="11045952" cy="13716"/>
          </a:xfrm>
          <a:prstGeom prst="rect">
            <a:avLst/>
          </a:prstGeom>
          <a:solidFill>
            <a:srgbClr val="D5DDD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965960"/>
            <a:ext cx="1938528" cy="233172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139696"/>
            <a:ext cx="457200" cy="457200"/>
          </a:xfrm>
          <a:prstGeom prst="roundRect">
            <a:avLst>
              <a:gd name="adj" fmla="val 8000"/>
            </a:avLst>
          </a:prstGeom>
          <a:solidFill>
            <a:srgbClr val="2F80ED"/>
          </a:solidFill>
          <a:ln>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221992"/>
            <a:ext cx="457200" cy="164592"/>
          </a:xfrm>
          <a:prstGeom prst="rect">
            <a:avLst/>
          </a:prstGeom>
          <a:noFill/>
        </p:spPr>
        <p:txBody>
          <a:bodyPr wrap="none" lIns="0" rIns="0" tIns="0" bIns="0" anchor="t">
            <a:spAutoFit/>
          </a:bodyPr>
          <a:lstStyle/>
          <a:p>
            <a:pPr algn="ctr"/>
            <a:r>
              <a:rPr sz="900" b="1">
                <a:solidFill>
                  <a:srgbClr val="FFFFFF"/>
                </a:solidFill>
                <a:latin typeface="Segoe UI"/>
              </a:rPr>
              <a:t>01</a:t>
            </a:r>
          </a:p>
        </p:txBody>
      </p:sp>
      <p:sp>
        <p:nvSpPr>
          <p:cNvPr id="10" name="TextBox 9"/>
          <p:cNvSpPr txBox="1"/>
          <p:nvPr/>
        </p:nvSpPr>
        <p:spPr>
          <a:xfrm>
            <a:off x="731520" y="2761488"/>
            <a:ext cx="1609344" cy="438912"/>
          </a:xfrm>
          <a:prstGeom prst="rect">
            <a:avLst/>
          </a:prstGeom>
          <a:noFill/>
        </p:spPr>
        <p:txBody>
          <a:bodyPr wrap="none" lIns="0" rIns="0" tIns="0" bIns="0" anchor="t">
            <a:spAutoFit/>
          </a:bodyPr>
          <a:lstStyle/>
          <a:p>
            <a:pPr algn="l"/>
            <a:r>
              <a:rPr sz="1700" b="1">
                <a:solidFill>
                  <a:srgbClr val="18352F"/>
                </a:solidFill>
                <a:latin typeface="Segoe UI"/>
              </a:rPr>
              <a:t>Importeren</a:t>
            </a:r>
          </a:p>
        </p:txBody>
      </p:sp>
      <p:sp>
        <p:nvSpPr>
          <p:cNvPr id="11" name="TextBox 10"/>
          <p:cNvSpPr txBox="1"/>
          <p:nvPr/>
        </p:nvSpPr>
        <p:spPr>
          <a:xfrm>
            <a:off x="731520" y="3319272"/>
            <a:ext cx="1609344" cy="658368"/>
          </a:xfrm>
          <a:prstGeom prst="rect">
            <a:avLst/>
          </a:prstGeom>
          <a:noFill/>
        </p:spPr>
        <p:txBody>
          <a:bodyPr wrap="none" lIns="0" rIns="0" tIns="0" bIns="0" anchor="t">
            <a:spAutoFit/>
          </a:bodyPr>
          <a:lstStyle/>
          <a:p>
            <a:pPr algn="l"/>
            <a:r>
              <a:rPr sz="1000" b="0">
                <a:solidFill>
                  <a:srgbClr val="687B75"/>
                </a:solidFill>
                <a:latin typeface="Segoe UI"/>
              </a:rPr>
              <a:t>Bronmodel bewaren</a:t>
            </a:r>
          </a:p>
        </p:txBody>
      </p:sp>
      <p:sp>
        <p:nvSpPr>
          <p:cNvPr id="12" name="Rectangle 11"/>
          <p:cNvSpPr/>
          <p:nvPr/>
        </p:nvSpPr>
        <p:spPr>
          <a:xfrm>
            <a:off x="731520" y="4050791"/>
            <a:ext cx="603504" cy="50292"/>
          </a:xfrm>
          <a:prstGeom prst="rect">
            <a:avLst/>
          </a:prstGeom>
          <a:solidFill>
            <a:srgbClr val="2F80ED"/>
          </a:solidFill>
          <a:ln>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2505456" y="3136392"/>
            <a:ext cx="246888" cy="0"/>
          </a:xfrm>
          <a:prstGeom prst="line">
            <a:avLst/>
          </a:prstGeom>
          <a:ln w="19050">
            <a:solidFill>
              <a:srgbClr val="687B7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07208" y="1965960"/>
            <a:ext cx="1938528" cy="233172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971800" y="2139696"/>
            <a:ext cx="457200" cy="457200"/>
          </a:xfrm>
          <a:prstGeom prst="roundRect">
            <a:avLst>
              <a:gd name="adj" fmla="val 8000"/>
            </a:avLst>
          </a:prstGeom>
          <a:solidFill>
            <a:srgbClr val="D7A35D"/>
          </a:solidFill>
          <a:ln>
            <a:solidFill>
              <a:srgbClr val="D7A3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2221992"/>
            <a:ext cx="457200" cy="164592"/>
          </a:xfrm>
          <a:prstGeom prst="rect">
            <a:avLst/>
          </a:prstGeom>
          <a:noFill/>
        </p:spPr>
        <p:txBody>
          <a:bodyPr wrap="none" lIns="0" rIns="0" tIns="0" bIns="0" anchor="t">
            <a:spAutoFit/>
          </a:bodyPr>
          <a:lstStyle/>
          <a:p>
            <a:pPr algn="ctr"/>
            <a:r>
              <a:rPr sz="900" b="1">
                <a:solidFill>
                  <a:srgbClr val="FFFFFF"/>
                </a:solidFill>
                <a:latin typeface="Segoe UI"/>
              </a:rPr>
              <a:t>02</a:t>
            </a:r>
          </a:p>
        </p:txBody>
      </p:sp>
      <p:sp>
        <p:nvSpPr>
          <p:cNvPr id="17" name="TextBox 16"/>
          <p:cNvSpPr txBox="1"/>
          <p:nvPr/>
        </p:nvSpPr>
        <p:spPr>
          <a:xfrm>
            <a:off x="2971800" y="2761488"/>
            <a:ext cx="1609344" cy="438912"/>
          </a:xfrm>
          <a:prstGeom prst="rect">
            <a:avLst/>
          </a:prstGeom>
          <a:noFill/>
        </p:spPr>
        <p:txBody>
          <a:bodyPr wrap="none" lIns="0" rIns="0" tIns="0" bIns="0" anchor="t">
            <a:spAutoFit/>
          </a:bodyPr>
          <a:lstStyle/>
          <a:p>
            <a:pPr algn="l"/>
            <a:r>
              <a:rPr sz="1700" b="1">
                <a:solidFill>
                  <a:srgbClr val="18352F"/>
                </a:solidFill>
                <a:latin typeface="Segoe UI"/>
              </a:rPr>
              <a:t>Positioneren</a:t>
            </a:r>
          </a:p>
        </p:txBody>
      </p:sp>
      <p:sp>
        <p:nvSpPr>
          <p:cNvPr id="18" name="TextBox 17"/>
          <p:cNvSpPr txBox="1"/>
          <p:nvPr/>
        </p:nvSpPr>
        <p:spPr>
          <a:xfrm>
            <a:off x="2971800" y="3319272"/>
            <a:ext cx="1609344" cy="658368"/>
          </a:xfrm>
          <a:prstGeom prst="rect">
            <a:avLst/>
          </a:prstGeom>
          <a:noFill/>
        </p:spPr>
        <p:txBody>
          <a:bodyPr wrap="none" lIns="0" rIns="0" tIns="0" bIns="0" anchor="t">
            <a:spAutoFit/>
          </a:bodyPr>
          <a:lstStyle/>
          <a:p>
            <a:pPr algn="l"/>
            <a:r>
              <a:rPr sz="1000" b="0">
                <a:solidFill>
                  <a:srgbClr val="687B75"/>
                </a:solidFill>
                <a:latin typeface="Segoe UI"/>
              </a:rPr>
              <a:t>Eenheden + positie</a:t>
            </a:r>
          </a:p>
        </p:txBody>
      </p:sp>
      <p:sp>
        <p:nvSpPr>
          <p:cNvPr id="19" name="Rectangle 18"/>
          <p:cNvSpPr/>
          <p:nvPr/>
        </p:nvSpPr>
        <p:spPr>
          <a:xfrm>
            <a:off x="2971800" y="4050791"/>
            <a:ext cx="603504" cy="50292"/>
          </a:xfrm>
          <a:prstGeom prst="rect">
            <a:avLst/>
          </a:prstGeom>
          <a:solidFill>
            <a:srgbClr val="D7A35D"/>
          </a:solidFill>
          <a:ln>
            <a:solidFill>
              <a:srgbClr val="D7A3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4745736" y="3136392"/>
            <a:ext cx="246888" cy="0"/>
          </a:xfrm>
          <a:prstGeom prst="line">
            <a:avLst/>
          </a:prstGeom>
          <a:ln w="19050">
            <a:solidFill>
              <a:srgbClr val="687B75"/>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47488" y="1965960"/>
            <a:ext cx="1938528" cy="233172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12080" y="2139696"/>
            <a:ext cx="457200" cy="457200"/>
          </a:xfrm>
          <a:prstGeom prst="roundRect">
            <a:avLst>
              <a:gd name="adj" fmla="val 8000"/>
            </a:avLst>
          </a:prstGeom>
          <a:solidFill>
            <a:srgbClr val="1F684E"/>
          </a:solidFill>
          <a:ln>
            <a:solidFill>
              <a:srgbClr val="1F68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2221992"/>
            <a:ext cx="457200" cy="164592"/>
          </a:xfrm>
          <a:prstGeom prst="rect">
            <a:avLst/>
          </a:prstGeom>
          <a:noFill/>
        </p:spPr>
        <p:txBody>
          <a:bodyPr wrap="none" lIns="0" rIns="0" tIns="0" bIns="0" anchor="t">
            <a:spAutoFit/>
          </a:bodyPr>
          <a:lstStyle/>
          <a:p>
            <a:pPr algn="ctr"/>
            <a:r>
              <a:rPr sz="900" b="1">
                <a:solidFill>
                  <a:srgbClr val="FFFFFF"/>
                </a:solidFill>
                <a:latin typeface="Segoe UI"/>
              </a:rPr>
              <a:t>03</a:t>
            </a:r>
          </a:p>
        </p:txBody>
      </p:sp>
      <p:sp>
        <p:nvSpPr>
          <p:cNvPr id="24" name="TextBox 23"/>
          <p:cNvSpPr txBox="1"/>
          <p:nvPr/>
        </p:nvSpPr>
        <p:spPr>
          <a:xfrm>
            <a:off x="5212080" y="2761488"/>
            <a:ext cx="1609344" cy="438912"/>
          </a:xfrm>
          <a:prstGeom prst="rect">
            <a:avLst/>
          </a:prstGeom>
          <a:noFill/>
        </p:spPr>
        <p:txBody>
          <a:bodyPr wrap="none" lIns="0" rIns="0" tIns="0" bIns="0" anchor="t">
            <a:spAutoFit/>
          </a:bodyPr>
          <a:lstStyle/>
          <a:p>
            <a:pPr algn="l"/>
            <a:r>
              <a:rPr sz="1700" b="1">
                <a:solidFill>
                  <a:srgbClr val="18352F"/>
                </a:solidFill>
                <a:latin typeface="Segoe UI"/>
              </a:rPr>
              <a:t>Analyseren</a:t>
            </a:r>
          </a:p>
        </p:txBody>
      </p:sp>
      <p:sp>
        <p:nvSpPr>
          <p:cNvPr id="25" name="TextBox 24"/>
          <p:cNvSpPr txBox="1"/>
          <p:nvPr/>
        </p:nvSpPr>
        <p:spPr>
          <a:xfrm>
            <a:off x="5212080" y="3319272"/>
            <a:ext cx="1609344" cy="658368"/>
          </a:xfrm>
          <a:prstGeom prst="rect">
            <a:avLst/>
          </a:prstGeom>
          <a:noFill/>
        </p:spPr>
        <p:txBody>
          <a:bodyPr wrap="none" lIns="0" rIns="0" tIns="0" bIns="0" anchor="t">
            <a:spAutoFit/>
          </a:bodyPr>
          <a:lstStyle/>
          <a:p>
            <a:pPr algn="l"/>
            <a:r>
              <a:rPr sz="1000" b="0">
                <a:solidFill>
                  <a:srgbClr val="687B75"/>
                </a:solidFill>
                <a:latin typeface="Segoe UI"/>
              </a:rPr>
              <a:t>Rhino + Grasshopper</a:t>
            </a:r>
          </a:p>
        </p:txBody>
      </p:sp>
      <p:sp>
        <p:nvSpPr>
          <p:cNvPr id="26" name="Rectangle 25"/>
          <p:cNvSpPr/>
          <p:nvPr/>
        </p:nvSpPr>
        <p:spPr>
          <a:xfrm>
            <a:off x="5212080" y="4050791"/>
            <a:ext cx="603504" cy="50292"/>
          </a:xfrm>
          <a:prstGeom prst="rect">
            <a:avLst/>
          </a:prstGeom>
          <a:solidFill>
            <a:srgbClr val="1F684E"/>
          </a:solidFill>
          <a:ln>
            <a:solidFill>
              <a:srgbClr val="1F68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6986016" y="3136392"/>
            <a:ext cx="246888" cy="0"/>
          </a:xfrm>
          <a:prstGeom prst="line">
            <a:avLst/>
          </a:prstGeom>
          <a:ln w="19050">
            <a:solidFill>
              <a:srgbClr val="687B75"/>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287768" y="1965960"/>
            <a:ext cx="1938528" cy="233172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452360" y="2139696"/>
            <a:ext cx="457200" cy="457200"/>
          </a:xfrm>
          <a:prstGeom prst="roundRect">
            <a:avLst>
              <a:gd name="adj" fmla="val 8000"/>
            </a:avLst>
          </a:prstGeom>
          <a:solidFill>
            <a:srgbClr val="9B51E0"/>
          </a:solidFill>
          <a:ln>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52360" y="2221992"/>
            <a:ext cx="457200" cy="164592"/>
          </a:xfrm>
          <a:prstGeom prst="rect">
            <a:avLst/>
          </a:prstGeom>
          <a:noFill/>
        </p:spPr>
        <p:txBody>
          <a:bodyPr wrap="none" lIns="0" rIns="0" tIns="0" bIns="0" anchor="t">
            <a:spAutoFit/>
          </a:bodyPr>
          <a:lstStyle/>
          <a:p>
            <a:pPr algn="ctr"/>
            <a:r>
              <a:rPr sz="900" b="1">
                <a:solidFill>
                  <a:srgbClr val="FFFFFF"/>
                </a:solidFill>
                <a:latin typeface="Segoe UI"/>
              </a:rPr>
              <a:t>04</a:t>
            </a:r>
          </a:p>
        </p:txBody>
      </p:sp>
      <p:sp>
        <p:nvSpPr>
          <p:cNvPr id="31" name="TextBox 30"/>
          <p:cNvSpPr txBox="1"/>
          <p:nvPr/>
        </p:nvSpPr>
        <p:spPr>
          <a:xfrm>
            <a:off x="7452360" y="2761488"/>
            <a:ext cx="1609344" cy="438912"/>
          </a:xfrm>
          <a:prstGeom prst="rect">
            <a:avLst/>
          </a:prstGeom>
          <a:noFill/>
        </p:spPr>
        <p:txBody>
          <a:bodyPr wrap="none" lIns="0" rIns="0" tIns="0" bIns="0" anchor="t">
            <a:spAutoFit/>
          </a:bodyPr>
          <a:lstStyle/>
          <a:p>
            <a:pPr algn="l"/>
            <a:r>
              <a:rPr sz="1700" b="1">
                <a:solidFill>
                  <a:srgbClr val="18352F"/>
                </a:solidFill>
                <a:latin typeface="Segoe UI"/>
              </a:rPr>
              <a:t>Begrijpen</a:t>
            </a:r>
          </a:p>
        </p:txBody>
      </p:sp>
      <p:sp>
        <p:nvSpPr>
          <p:cNvPr id="32" name="TextBox 31"/>
          <p:cNvSpPr txBox="1"/>
          <p:nvPr/>
        </p:nvSpPr>
        <p:spPr>
          <a:xfrm>
            <a:off x="7452360" y="3319272"/>
            <a:ext cx="1609344" cy="658368"/>
          </a:xfrm>
          <a:prstGeom prst="rect">
            <a:avLst/>
          </a:prstGeom>
          <a:noFill/>
        </p:spPr>
        <p:txBody>
          <a:bodyPr wrap="none" lIns="0" rIns="0" tIns="0" bIns="0" anchor="t">
            <a:spAutoFit/>
          </a:bodyPr>
          <a:lstStyle/>
          <a:p>
            <a:pPr algn="l"/>
            <a:r>
              <a:rPr sz="1000" b="0">
                <a:solidFill>
                  <a:srgbClr val="687B75"/>
                </a:solidFill>
                <a:latin typeface="Segoe UI"/>
              </a:rPr>
              <a:t>Viewer + vaste beelden</a:t>
            </a:r>
          </a:p>
        </p:txBody>
      </p:sp>
      <p:sp>
        <p:nvSpPr>
          <p:cNvPr id="33" name="Rectangle 32"/>
          <p:cNvSpPr/>
          <p:nvPr/>
        </p:nvSpPr>
        <p:spPr>
          <a:xfrm>
            <a:off x="7452360" y="4050791"/>
            <a:ext cx="603504" cy="50292"/>
          </a:xfrm>
          <a:prstGeom prst="rect">
            <a:avLst/>
          </a:prstGeom>
          <a:solidFill>
            <a:srgbClr val="9B51E0"/>
          </a:solidFill>
          <a:ln>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9226296" y="3136392"/>
            <a:ext cx="246888" cy="0"/>
          </a:xfrm>
          <a:prstGeom prst="line">
            <a:avLst/>
          </a:prstGeom>
          <a:ln w="19050">
            <a:solidFill>
              <a:srgbClr val="687B75"/>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28048" y="1965960"/>
            <a:ext cx="1938528" cy="233172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92640" y="2139696"/>
            <a:ext cx="457200" cy="457200"/>
          </a:xfrm>
          <a:prstGeom prst="roundRect">
            <a:avLst>
              <a:gd name="adj" fmla="val 8000"/>
            </a:avLst>
          </a:prstGeom>
          <a:solidFill>
            <a:srgbClr val="D9683F"/>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92640" y="2221992"/>
            <a:ext cx="457200" cy="164592"/>
          </a:xfrm>
          <a:prstGeom prst="rect">
            <a:avLst/>
          </a:prstGeom>
          <a:noFill/>
        </p:spPr>
        <p:txBody>
          <a:bodyPr wrap="none" lIns="0" rIns="0" tIns="0" bIns="0" anchor="t">
            <a:spAutoFit/>
          </a:bodyPr>
          <a:lstStyle/>
          <a:p>
            <a:pPr algn="ctr"/>
            <a:r>
              <a:rPr sz="900" b="1">
                <a:solidFill>
                  <a:srgbClr val="FFFFFF"/>
                </a:solidFill>
                <a:latin typeface="Segoe UI"/>
              </a:rPr>
              <a:t>05</a:t>
            </a:r>
          </a:p>
        </p:txBody>
      </p:sp>
      <p:sp>
        <p:nvSpPr>
          <p:cNvPr id="38" name="TextBox 37"/>
          <p:cNvSpPr txBox="1"/>
          <p:nvPr/>
        </p:nvSpPr>
        <p:spPr>
          <a:xfrm>
            <a:off x="9692640" y="2761488"/>
            <a:ext cx="1609344" cy="438912"/>
          </a:xfrm>
          <a:prstGeom prst="rect">
            <a:avLst/>
          </a:prstGeom>
          <a:noFill/>
        </p:spPr>
        <p:txBody>
          <a:bodyPr wrap="none" lIns="0" rIns="0" tIns="0" bIns="0" anchor="t">
            <a:spAutoFit/>
          </a:bodyPr>
          <a:lstStyle/>
          <a:p>
            <a:pPr algn="l"/>
            <a:r>
              <a:rPr sz="1700" b="1">
                <a:solidFill>
                  <a:srgbClr val="18352F"/>
                </a:solidFill>
                <a:latin typeface="Segoe UI"/>
              </a:rPr>
              <a:t>Rapporteren</a:t>
            </a:r>
          </a:p>
        </p:txBody>
      </p:sp>
      <p:sp>
        <p:nvSpPr>
          <p:cNvPr id="39" name="TextBox 38"/>
          <p:cNvSpPr txBox="1"/>
          <p:nvPr/>
        </p:nvSpPr>
        <p:spPr>
          <a:xfrm>
            <a:off x="9692640" y="3319272"/>
            <a:ext cx="1609344" cy="658368"/>
          </a:xfrm>
          <a:prstGeom prst="rect">
            <a:avLst/>
          </a:prstGeom>
          <a:noFill/>
        </p:spPr>
        <p:txBody>
          <a:bodyPr wrap="none" lIns="0" rIns="0" tIns="0" bIns="0" anchor="t">
            <a:spAutoFit/>
          </a:bodyPr>
          <a:lstStyle/>
          <a:p>
            <a:pPr algn="l"/>
            <a:r>
              <a:rPr sz="1000" b="0">
                <a:solidFill>
                  <a:srgbClr val="687B75"/>
                </a:solidFill>
                <a:latin typeface="Segoe UI"/>
              </a:rPr>
              <a:t>Advies + PDF</a:t>
            </a:r>
          </a:p>
        </p:txBody>
      </p:sp>
      <p:sp>
        <p:nvSpPr>
          <p:cNvPr id="40" name="Rectangle 39"/>
          <p:cNvSpPr/>
          <p:nvPr/>
        </p:nvSpPr>
        <p:spPr>
          <a:xfrm>
            <a:off x="9692640" y="4050791"/>
            <a:ext cx="603504" cy="50292"/>
          </a:xfrm>
          <a:prstGeom prst="rect">
            <a:avLst/>
          </a:prstGeom>
          <a:solidFill>
            <a:srgbClr val="D9683F"/>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566928" y="4736592"/>
            <a:ext cx="11045952" cy="841248"/>
          </a:xfrm>
          <a:prstGeom prst="roundRect">
            <a:avLst>
              <a:gd name="adj" fmla="val 8000"/>
            </a:avLst>
          </a:prstGeom>
          <a:solidFill>
            <a:srgbClr val="163A3B"/>
          </a:solidFill>
          <a:ln>
            <a:solidFill>
              <a:srgbClr val="163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1248" y="4992624"/>
            <a:ext cx="10497312" cy="274320"/>
          </a:xfrm>
          <a:prstGeom prst="rect">
            <a:avLst/>
          </a:prstGeom>
          <a:noFill/>
        </p:spPr>
        <p:txBody>
          <a:bodyPr wrap="none" lIns="0" rIns="0" tIns="0" bIns="0" anchor="t">
            <a:spAutoFit/>
          </a:bodyPr>
          <a:lstStyle/>
          <a:p>
            <a:pPr algn="ctr"/>
            <a:r>
              <a:rPr sz="1300" b="1">
                <a:solidFill>
                  <a:srgbClr val="FFFFFF"/>
                </a:solidFill>
                <a:latin typeface="Segoe UI"/>
              </a:rPr>
              <a:t>De app begeleidt de route; de ontwerper blijft degene die plaatsing, doelen en conclusies goedkeurt.</a:t>
            </a:r>
          </a:p>
        </p:txBody>
      </p:sp>
      <p:pic>
        <p:nvPicPr>
          <p:cNvPr id="43" name="Picture 42" descr="parkhaven-logo.png"/>
          <p:cNvPicPr>
            <a:picLocks noChangeAspect="1"/>
          </p:cNvPicPr>
          <p:nvPr/>
        </p:nvPicPr>
        <p:blipFill>
          <a:blip r:embed="rId2"/>
          <a:stretch>
            <a:fillRect/>
          </a:stretch>
        </p:blipFill>
        <p:spPr>
          <a:xfrm>
            <a:off x="566928" y="6364224"/>
            <a:ext cx="208434" cy="338328"/>
          </a:xfrm>
          <a:prstGeom prst="rect">
            <a:avLst/>
          </a:prstGeom>
        </p:spPr>
      </p:pic>
      <p:sp>
        <p:nvSpPr>
          <p:cNvPr id="44" name="TextBox 43"/>
          <p:cNvSpPr txBox="1"/>
          <p:nvPr/>
        </p:nvSpPr>
        <p:spPr>
          <a:xfrm>
            <a:off x="932688" y="6428232"/>
            <a:ext cx="2011680" cy="182880"/>
          </a:xfrm>
          <a:prstGeom prst="rect">
            <a:avLst/>
          </a:prstGeom>
          <a:noFill/>
        </p:spPr>
        <p:txBody>
          <a:bodyPr wrap="none" lIns="0" rIns="0">
            <a:spAutoFit/>
          </a:bodyPr>
          <a:lstStyle/>
          <a:p>
            <a:pPr algn="l"/>
            <a:r>
              <a:rPr sz="800" b="1">
                <a:solidFill>
                  <a:srgbClr val="18352F"/>
                </a:solidFill>
                <a:latin typeface="Segoe UI"/>
              </a:rPr>
              <a:t>PARKHAVEN </a:t>
            </a:r>
            <a:r>
              <a:rPr sz="800" b="0">
                <a:solidFill>
                  <a:srgbClr val="687B75"/>
                </a:solidFill>
                <a:latin typeface="Segoe UI"/>
              </a:rPr>
              <a:t>STUDIO</a:t>
            </a:r>
          </a:p>
        </p:txBody>
      </p:sp>
      <p:sp>
        <p:nvSpPr>
          <p:cNvPr id="45" name="TextBox 44"/>
          <p:cNvSpPr txBox="1"/>
          <p:nvPr/>
        </p:nvSpPr>
        <p:spPr>
          <a:xfrm>
            <a:off x="8001000" y="6428232"/>
            <a:ext cx="3611880" cy="182880"/>
          </a:xfrm>
          <a:prstGeom prst="rect">
            <a:avLst/>
          </a:prstGeom>
          <a:noFill/>
        </p:spPr>
        <p:txBody>
          <a:bodyPr wrap="none" lIns="0" rIns="0" tIns="0" bIns="0" anchor="t">
            <a:spAutoFit/>
          </a:bodyPr>
          <a:lstStyle/>
          <a:p>
            <a:pPr algn="r"/>
            <a:r>
              <a:rPr sz="700" b="1">
                <a:solidFill>
                  <a:srgbClr val="687B75"/>
                </a:solidFill>
                <a:latin typeface="Segoe UI"/>
              </a:rPr>
              <a:t>LOKAAL • HERLEIDBAAR • MODELGEBASEERD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EFE9"/>
          </a:solidFill>
          <a:ln>
            <a:solidFill>
              <a:srgbClr val="ECE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040880" cy="274320"/>
          </a:xfrm>
          <a:prstGeom prst="rect">
            <a:avLst/>
          </a:prstGeom>
          <a:noFill/>
        </p:spPr>
        <p:txBody>
          <a:bodyPr wrap="none" lIns="0" rIns="0" tIns="0" bIns="0" anchor="t">
            <a:spAutoFit/>
          </a:bodyPr>
          <a:lstStyle/>
          <a:p>
            <a:pPr algn="l"/>
            <a:r>
              <a:rPr sz="900" b="1">
                <a:solidFill>
                  <a:srgbClr val="687B75"/>
                </a:solidFill>
                <a:latin typeface="Segoe UI"/>
              </a:rPr>
              <a:t>CENTRALE WERKRUIMTE</a:t>
            </a:r>
          </a:p>
        </p:txBody>
      </p:sp>
      <p:sp>
        <p:nvSpPr>
          <p:cNvPr id="4" name="TextBox 3"/>
          <p:cNvSpPr txBox="1"/>
          <p:nvPr/>
        </p:nvSpPr>
        <p:spPr>
          <a:xfrm>
            <a:off x="566928" y="640080"/>
            <a:ext cx="10789920" cy="621792"/>
          </a:xfrm>
          <a:prstGeom prst="rect">
            <a:avLst/>
          </a:prstGeom>
          <a:noFill/>
        </p:spPr>
        <p:txBody>
          <a:bodyPr wrap="none" lIns="0" rIns="0" tIns="0" bIns="0" anchor="t">
            <a:spAutoFit/>
          </a:bodyPr>
          <a:lstStyle/>
          <a:p>
            <a:pPr algn="l"/>
            <a:r>
              <a:rPr sz="2700" b="1">
                <a:solidFill>
                  <a:srgbClr val="18352F"/>
                </a:solidFill>
                <a:latin typeface="Segoe UI"/>
              </a:rPr>
              <a:t>Vrij onderzoeken én gecontroleerd vergelijken</a:t>
            </a:r>
          </a:p>
        </p:txBody>
      </p:sp>
      <p:sp>
        <p:nvSpPr>
          <p:cNvPr id="5" name="TextBox 4"/>
          <p:cNvSpPr txBox="1"/>
          <p:nvPr/>
        </p:nvSpPr>
        <p:spPr>
          <a:xfrm>
            <a:off x="11109960" y="365760"/>
            <a:ext cx="502920" cy="256032"/>
          </a:xfrm>
          <a:prstGeom prst="rect">
            <a:avLst/>
          </a:prstGeom>
          <a:noFill/>
        </p:spPr>
        <p:txBody>
          <a:bodyPr wrap="none" lIns="0" rIns="0" tIns="0" bIns="0" anchor="t">
            <a:spAutoFit/>
          </a:bodyPr>
          <a:lstStyle/>
          <a:p>
            <a:pPr algn="r"/>
            <a:r>
              <a:rPr sz="900" b="1">
                <a:solidFill>
                  <a:srgbClr val="687B75"/>
                </a:solidFill>
                <a:latin typeface="Segoe UI"/>
              </a:rPr>
              <a:t>04</a:t>
            </a:r>
          </a:p>
        </p:txBody>
      </p:sp>
      <p:sp>
        <p:nvSpPr>
          <p:cNvPr id="6" name="Rectangle 5"/>
          <p:cNvSpPr/>
          <p:nvPr/>
        </p:nvSpPr>
        <p:spPr>
          <a:xfrm>
            <a:off x="566928" y="1325880"/>
            <a:ext cx="11045952" cy="13716"/>
          </a:xfrm>
          <a:prstGeom prst="rect">
            <a:avLst/>
          </a:prstGeom>
          <a:solidFill>
            <a:srgbClr val="D5DDD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overview.png"/>
          <p:cNvPicPr>
            <a:picLocks noChangeAspect="1"/>
          </p:cNvPicPr>
          <p:nvPr/>
        </p:nvPicPr>
        <p:blipFill>
          <a:blip r:embed="rId2"/>
          <a:stretch>
            <a:fillRect/>
          </a:stretch>
        </p:blipFill>
        <p:spPr>
          <a:xfrm>
            <a:off x="566928" y="1572768"/>
            <a:ext cx="6537960" cy="4361688"/>
          </a:xfrm>
          <a:prstGeom prst="rect">
            <a:avLst/>
          </a:prstGeom>
        </p:spPr>
      </p:pic>
      <p:sp>
        <p:nvSpPr>
          <p:cNvPr id="8" name="Rounded Rectangle 7"/>
          <p:cNvSpPr/>
          <p:nvPr/>
        </p:nvSpPr>
        <p:spPr>
          <a:xfrm>
            <a:off x="7333488" y="1572768"/>
            <a:ext cx="4279392" cy="4361688"/>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6096" y="1847088"/>
            <a:ext cx="1097280" cy="182880"/>
          </a:xfrm>
          <a:prstGeom prst="rect">
            <a:avLst/>
          </a:prstGeom>
          <a:noFill/>
        </p:spPr>
        <p:txBody>
          <a:bodyPr wrap="none" lIns="0" rIns="0" tIns="0" bIns="0" anchor="t">
            <a:spAutoFit/>
          </a:bodyPr>
          <a:lstStyle/>
          <a:p>
            <a:pPr algn="l"/>
            <a:r>
              <a:rPr sz="800" b="1">
                <a:solidFill>
                  <a:srgbClr val="1F684E"/>
                </a:solidFill>
                <a:latin typeface="Segoe UI"/>
              </a:rPr>
              <a:t>3D-VIEWER</a:t>
            </a:r>
          </a:p>
        </p:txBody>
      </p:sp>
      <p:sp>
        <p:nvSpPr>
          <p:cNvPr id="10" name="Rounded Rectangle 9"/>
          <p:cNvSpPr/>
          <p:nvPr/>
        </p:nvSpPr>
        <p:spPr>
          <a:xfrm>
            <a:off x="7626096" y="2267712"/>
            <a:ext cx="310896" cy="310896"/>
          </a:xfrm>
          <a:prstGeom prst="roundRect">
            <a:avLst>
              <a:gd name="adj" fmla="val 8000"/>
            </a:avLst>
          </a:prstGeom>
          <a:solidFill>
            <a:srgbClr val="2F80ED"/>
          </a:solidFill>
          <a:ln>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83296" y="2258568"/>
            <a:ext cx="1097280" cy="219456"/>
          </a:xfrm>
          <a:prstGeom prst="rect">
            <a:avLst/>
          </a:prstGeom>
          <a:noFill/>
        </p:spPr>
        <p:txBody>
          <a:bodyPr wrap="none" lIns="0" rIns="0" tIns="0" bIns="0" anchor="t">
            <a:spAutoFit/>
          </a:bodyPr>
          <a:lstStyle/>
          <a:p>
            <a:pPr algn="l"/>
            <a:r>
              <a:rPr sz="1100" b="1">
                <a:solidFill>
                  <a:srgbClr val="18352F"/>
                </a:solidFill>
                <a:latin typeface="Segoe UI"/>
              </a:rPr>
              <a:t>Context</a:t>
            </a:r>
          </a:p>
        </p:txBody>
      </p:sp>
      <p:sp>
        <p:nvSpPr>
          <p:cNvPr id="12" name="TextBox 11"/>
          <p:cNvSpPr txBox="1"/>
          <p:nvPr/>
        </p:nvSpPr>
        <p:spPr>
          <a:xfrm>
            <a:off x="9162288" y="2258568"/>
            <a:ext cx="2084831" cy="384048"/>
          </a:xfrm>
          <a:prstGeom prst="rect">
            <a:avLst/>
          </a:prstGeom>
          <a:noFill/>
        </p:spPr>
        <p:txBody>
          <a:bodyPr wrap="none" lIns="0" rIns="0" tIns="0" bIns="0" anchor="t">
            <a:spAutoFit/>
          </a:bodyPr>
          <a:lstStyle/>
          <a:p>
            <a:pPr algn="l"/>
            <a:r>
              <a:rPr sz="900" b="0">
                <a:solidFill>
                  <a:srgbClr val="687B75"/>
                </a:solidFill>
                <a:latin typeface="Segoe UI"/>
              </a:rPr>
              <a:t>Ontwerp, referenties, parkdoel en luchtfoto</a:t>
            </a:r>
          </a:p>
        </p:txBody>
      </p:sp>
      <p:sp>
        <p:nvSpPr>
          <p:cNvPr id="13" name="Rounded Rectangle 12"/>
          <p:cNvSpPr/>
          <p:nvPr/>
        </p:nvSpPr>
        <p:spPr>
          <a:xfrm>
            <a:off x="7626096" y="3017520"/>
            <a:ext cx="310896" cy="310896"/>
          </a:xfrm>
          <a:prstGeom prst="roundRect">
            <a:avLst>
              <a:gd name="adj" fmla="val 8000"/>
            </a:avLst>
          </a:prstGeom>
          <a:solidFill>
            <a:srgbClr val="1F684E"/>
          </a:solidFill>
          <a:ln>
            <a:solidFill>
              <a:srgbClr val="1F68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6" y="3008376"/>
            <a:ext cx="1097280" cy="219456"/>
          </a:xfrm>
          <a:prstGeom prst="rect">
            <a:avLst/>
          </a:prstGeom>
          <a:noFill/>
        </p:spPr>
        <p:txBody>
          <a:bodyPr wrap="none" lIns="0" rIns="0" tIns="0" bIns="0" anchor="t">
            <a:spAutoFit/>
          </a:bodyPr>
          <a:lstStyle/>
          <a:p>
            <a:pPr algn="l"/>
            <a:r>
              <a:rPr sz="1100" b="1">
                <a:solidFill>
                  <a:srgbClr val="18352F"/>
                </a:solidFill>
                <a:latin typeface="Segoe UI"/>
              </a:rPr>
              <a:t>Lagen</a:t>
            </a:r>
          </a:p>
        </p:txBody>
      </p:sp>
      <p:sp>
        <p:nvSpPr>
          <p:cNvPr id="15" name="TextBox 14"/>
          <p:cNvSpPr txBox="1"/>
          <p:nvPr/>
        </p:nvSpPr>
        <p:spPr>
          <a:xfrm>
            <a:off x="9162288" y="3008376"/>
            <a:ext cx="2084831" cy="384048"/>
          </a:xfrm>
          <a:prstGeom prst="rect">
            <a:avLst/>
          </a:prstGeom>
          <a:noFill/>
        </p:spPr>
        <p:txBody>
          <a:bodyPr wrap="none" lIns="0" rIns="0" tIns="0" bIns="0" anchor="t">
            <a:spAutoFit/>
          </a:bodyPr>
          <a:lstStyle/>
          <a:p>
            <a:pPr algn="l"/>
            <a:r>
              <a:rPr sz="900" b="0">
                <a:solidFill>
                  <a:srgbClr val="687B75"/>
                </a:solidFill>
                <a:latin typeface="Segoe UI"/>
              </a:rPr>
              <a:t>Zichtbaarheid per analyse- en modellaag</a:t>
            </a:r>
          </a:p>
        </p:txBody>
      </p:sp>
      <p:sp>
        <p:nvSpPr>
          <p:cNvPr id="16" name="Rounded Rectangle 15"/>
          <p:cNvSpPr/>
          <p:nvPr/>
        </p:nvSpPr>
        <p:spPr>
          <a:xfrm>
            <a:off x="7626096" y="3767328"/>
            <a:ext cx="310896" cy="310896"/>
          </a:xfrm>
          <a:prstGeom prst="roundRect">
            <a:avLst>
              <a:gd name="adj" fmla="val 8000"/>
            </a:avLst>
          </a:prstGeom>
          <a:solidFill>
            <a:srgbClr val="D7A35D"/>
          </a:solidFill>
          <a:ln>
            <a:solidFill>
              <a:srgbClr val="D7A3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83296" y="3758184"/>
            <a:ext cx="1097280" cy="219456"/>
          </a:xfrm>
          <a:prstGeom prst="rect">
            <a:avLst/>
          </a:prstGeom>
          <a:noFill/>
        </p:spPr>
        <p:txBody>
          <a:bodyPr wrap="none" lIns="0" rIns="0" tIns="0" bIns="0" anchor="t">
            <a:spAutoFit/>
          </a:bodyPr>
          <a:lstStyle/>
          <a:p>
            <a:pPr algn="l"/>
            <a:r>
              <a:rPr sz="1100" b="1">
                <a:solidFill>
                  <a:srgbClr val="18352F"/>
                </a:solidFill>
                <a:latin typeface="Segoe UI"/>
              </a:rPr>
              <a:t>Camera</a:t>
            </a:r>
          </a:p>
        </p:txBody>
      </p:sp>
      <p:sp>
        <p:nvSpPr>
          <p:cNvPr id="18" name="TextBox 17"/>
          <p:cNvSpPr txBox="1"/>
          <p:nvPr/>
        </p:nvSpPr>
        <p:spPr>
          <a:xfrm>
            <a:off x="9162288" y="3758184"/>
            <a:ext cx="2084831" cy="384048"/>
          </a:xfrm>
          <a:prstGeom prst="rect">
            <a:avLst/>
          </a:prstGeom>
          <a:noFill/>
        </p:spPr>
        <p:txBody>
          <a:bodyPr wrap="none" lIns="0" rIns="0" tIns="0" bIns="0" anchor="t">
            <a:spAutoFit/>
          </a:bodyPr>
          <a:lstStyle/>
          <a:p>
            <a:pPr algn="l"/>
            <a:r>
              <a:rPr sz="900" b="0">
                <a:solidFill>
                  <a:srgbClr val="687B75"/>
                </a:solidFill>
                <a:latin typeface="Segoe UI"/>
              </a:rPr>
              <a:t>Vrij navigeren of vaste kijkrichtingen kiezen</a:t>
            </a:r>
          </a:p>
        </p:txBody>
      </p:sp>
      <p:sp>
        <p:nvSpPr>
          <p:cNvPr id="19" name="Rounded Rectangle 18"/>
          <p:cNvSpPr/>
          <p:nvPr/>
        </p:nvSpPr>
        <p:spPr>
          <a:xfrm>
            <a:off x="7626096" y="4517136"/>
            <a:ext cx="310896" cy="310896"/>
          </a:xfrm>
          <a:prstGeom prst="roundRect">
            <a:avLst>
              <a:gd name="adj" fmla="val 8000"/>
            </a:avLst>
          </a:prstGeom>
          <a:solidFill>
            <a:srgbClr val="9B51E0"/>
          </a:solidFill>
          <a:ln>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83296" y="4507992"/>
            <a:ext cx="1097280" cy="219456"/>
          </a:xfrm>
          <a:prstGeom prst="rect">
            <a:avLst/>
          </a:prstGeom>
          <a:noFill/>
        </p:spPr>
        <p:txBody>
          <a:bodyPr wrap="none" lIns="0" rIns="0" tIns="0" bIns="0" anchor="t">
            <a:spAutoFit/>
          </a:bodyPr>
          <a:lstStyle/>
          <a:p>
            <a:pPr algn="l"/>
            <a:r>
              <a:rPr sz="1100" b="1">
                <a:solidFill>
                  <a:srgbClr val="18352F"/>
                </a:solidFill>
                <a:latin typeface="Segoe UI"/>
              </a:rPr>
              <a:t>Herkenning</a:t>
            </a:r>
          </a:p>
        </p:txBody>
      </p:sp>
      <p:sp>
        <p:nvSpPr>
          <p:cNvPr id="21" name="TextBox 20"/>
          <p:cNvSpPr txBox="1"/>
          <p:nvPr/>
        </p:nvSpPr>
        <p:spPr>
          <a:xfrm>
            <a:off x="9162288" y="4507992"/>
            <a:ext cx="2084831" cy="384048"/>
          </a:xfrm>
          <a:prstGeom prst="rect">
            <a:avLst/>
          </a:prstGeom>
          <a:noFill/>
        </p:spPr>
        <p:txBody>
          <a:bodyPr wrap="none" lIns="0" rIns="0" tIns="0" bIns="0" anchor="t">
            <a:spAutoFit/>
          </a:bodyPr>
          <a:lstStyle/>
          <a:p>
            <a:pPr algn="l"/>
            <a:r>
              <a:rPr sz="900" b="0">
                <a:solidFill>
                  <a:srgbClr val="687B75"/>
                </a:solidFill>
                <a:latin typeface="Segoe UI"/>
              </a:rPr>
              <a:t>Stabiele kleuren voor Volume A, B en C</a:t>
            </a:r>
          </a:p>
        </p:txBody>
      </p:sp>
      <p:sp>
        <p:nvSpPr>
          <p:cNvPr id="22" name="Rounded Rectangle 21"/>
          <p:cNvSpPr/>
          <p:nvPr/>
        </p:nvSpPr>
        <p:spPr>
          <a:xfrm>
            <a:off x="7626096" y="5413248"/>
            <a:ext cx="1005840" cy="347472"/>
          </a:xfrm>
          <a:prstGeom prst="roundRect">
            <a:avLst>
              <a:gd name="adj" fmla="val 8000"/>
            </a:avLst>
          </a:prstGeom>
          <a:solidFill>
            <a:srgbClr val="F8FAF6"/>
          </a:solidFill>
          <a:ln>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5509260"/>
            <a:ext cx="859536" cy="146304"/>
          </a:xfrm>
          <a:prstGeom prst="rect">
            <a:avLst/>
          </a:prstGeom>
          <a:noFill/>
        </p:spPr>
        <p:txBody>
          <a:bodyPr wrap="none" lIns="0" rIns="0" tIns="0" bIns="0" anchor="t">
            <a:spAutoFit/>
          </a:bodyPr>
          <a:lstStyle/>
          <a:p>
            <a:pPr algn="ctr"/>
            <a:r>
              <a:rPr sz="800" b="1">
                <a:solidFill>
                  <a:srgbClr val="2F80ED"/>
                </a:solidFill>
                <a:latin typeface="Segoe UI"/>
              </a:rPr>
              <a:t>Volume A</a:t>
            </a:r>
          </a:p>
        </p:txBody>
      </p:sp>
      <p:sp>
        <p:nvSpPr>
          <p:cNvPr id="24" name="Rounded Rectangle 23"/>
          <p:cNvSpPr/>
          <p:nvPr/>
        </p:nvSpPr>
        <p:spPr>
          <a:xfrm>
            <a:off x="8759952" y="5413248"/>
            <a:ext cx="1005840" cy="347472"/>
          </a:xfrm>
          <a:prstGeom prst="roundRect">
            <a:avLst>
              <a:gd name="adj" fmla="val 8000"/>
            </a:avLst>
          </a:prstGeom>
          <a:solidFill>
            <a:srgbClr val="F8FAF6"/>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33104" y="5509260"/>
            <a:ext cx="859536" cy="146304"/>
          </a:xfrm>
          <a:prstGeom prst="rect">
            <a:avLst/>
          </a:prstGeom>
          <a:noFill/>
        </p:spPr>
        <p:txBody>
          <a:bodyPr wrap="none" lIns="0" rIns="0" tIns="0" bIns="0" anchor="t">
            <a:spAutoFit/>
          </a:bodyPr>
          <a:lstStyle/>
          <a:p>
            <a:pPr algn="ctr"/>
            <a:r>
              <a:rPr sz="800" b="1">
                <a:solidFill>
                  <a:srgbClr val="F2994A"/>
                </a:solidFill>
                <a:latin typeface="Segoe UI"/>
              </a:rPr>
              <a:t>Volume B</a:t>
            </a:r>
          </a:p>
        </p:txBody>
      </p:sp>
      <p:sp>
        <p:nvSpPr>
          <p:cNvPr id="26" name="Rounded Rectangle 25"/>
          <p:cNvSpPr/>
          <p:nvPr/>
        </p:nvSpPr>
        <p:spPr>
          <a:xfrm>
            <a:off x="9893808" y="5413248"/>
            <a:ext cx="1005840" cy="347472"/>
          </a:xfrm>
          <a:prstGeom prst="roundRect">
            <a:avLst>
              <a:gd name="adj" fmla="val 8000"/>
            </a:avLst>
          </a:prstGeom>
          <a:solidFill>
            <a:srgbClr val="F8FAF6"/>
          </a:solidFill>
          <a:ln>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66960" y="5509260"/>
            <a:ext cx="859536" cy="146304"/>
          </a:xfrm>
          <a:prstGeom prst="rect">
            <a:avLst/>
          </a:prstGeom>
          <a:noFill/>
        </p:spPr>
        <p:txBody>
          <a:bodyPr wrap="none" lIns="0" rIns="0" tIns="0" bIns="0" anchor="t">
            <a:spAutoFit/>
          </a:bodyPr>
          <a:lstStyle/>
          <a:p>
            <a:pPr algn="ctr"/>
            <a:r>
              <a:rPr sz="800" b="1">
                <a:solidFill>
                  <a:srgbClr val="9B51E0"/>
                </a:solidFill>
                <a:latin typeface="Segoe UI"/>
              </a:rPr>
              <a:t>Volume C</a:t>
            </a:r>
          </a:p>
        </p:txBody>
      </p:sp>
      <p:pic>
        <p:nvPicPr>
          <p:cNvPr id="28" name="Picture 27" descr="parkhaven-logo.png"/>
          <p:cNvPicPr>
            <a:picLocks noChangeAspect="1"/>
          </p:cNvPicPr>
          <p:nvPr/>
        </p:nvPicPr>
        <p:blipFill>
          <a:blip r:embed="rId3"/>
          <a:stretch>
            <a:fillRect/>
          </a:stretch>
        </p:blipFill>
        <p:spPr>
          <a:xfrm>
            <a:off x="566928" y="6364224"/>
            <a:ext cx="208434" cy="338328"/>
          </a:xfrm>
          <a:prstGeom prst="rect">
            <a:avLst/>
          </a:prstGeom>
        </p:spPr>
      </p:pic>
      <p:sp>
        <p:nvSpPr>
          <p:cNvPr id="29" name="TextBox 28"/>
          <p:cNvSpPr txBox="1"/>
          <p:nvPr/>
        </p:nvSpPr>
        <p:spPr>
          <a:xfrm>
            <a:off x="932688" y="6428232"/>
            <a:ext cx="2011680" cy="182880"/>
          </a:xfrm>
          <a:prstGeom prst="rect">
            <a:avLst/>
          </a:prstGeom>
          <a:noFill/>
        </p:spPr>
        <p:txBody>
          <a:bodyPr wrap="none" lIns="0" rIns="0">
            <a:spAutoFit/>
          </a:bodyPr>
          <a:lstStyle/>
          <a:p>
            <a:pPr algn="l"/>
            <a:r>
              <a:rPr sz="800" b="1">
                <a:solidFill>
                  <a:srgbClr val="18352F"/>
                </a:solidFill>
                <a:latin typeface="Segoe UI"/>
              </a:rPr>
              <a:t>PARKHAVEN </a:t>
            </a:r>
            <a:r>
              <a:rPr sz="800" b="0">
                <a:solidFill>
                  <a:srgbClr val="687B75"/>
                </a:solidFill>
                <a:latin typeface="Segoe UI"/>
              </a:rPr>
              <a:t>STUDIO</a:t>
            </a:r>
          </a:p>
        </p:txBody>
      </p:sp>
      <p:sp>
        <p:nvSpPr>
          <p:cNvPr id="30" name="TextBox 29"/>
          <p:cNvSpPr txBox="1"/>
          <p:nvPr/>
        </p:nvSpPr>
        <p:spPr>
          <a:xfrm>
            <a:off x="8001000" y="6428232"/>
            <a:ext cx="3611880" cy="182880"/>
          </a:xfrm>
          <a:prstGeom prst="rect">
            <a:avLst/>
          </a:prstGeom>
          <a:noFill/>
        </p:spPr>
        <p:txBody>
          <a:bodyPr wrap="none" lIns="0" rIns="0" tIns="0" bIns="0" anchor="t">
            <a:spAutoFit/>
          </a:bodyPr>
          <a:lstStyle/>
          <a:p>
            <a:pPr algn="r"/>
            <a:r>
              <a:rPr sz="700" b="1">
                <a:solidFill>
                  <a:srgbClr val="687B75"/>
                </a:solidFill>
                <a:latin typeface="Segoe UI"/>
              </a:rPr>
              <a:t>LOKAAL • HERLEIDBAAR • MODELGEBASEERD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EFE9"/>
          </a:solidFill>
          <a:ln>
            <a:solidFill>
              <a:srgbClr val="ECE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040880" cy="274320"/>
          </a:xfrm>
          <a:prstGeom prst="rect">
            <a:avLst/>
          </a:prstGeom>
          <a:noFill/>
        </p:spPr>
        <p:txBody>
          <a:bodyPr wrap="none" lIns="0" rIns="0" tIns="0" bIns="0" anchor="t">
            <a:spAutoFit/>
          </a:bodyPr>
          <a:lstStyle/>
          <a:p>
            <a:pPr algn="l"/>
            <a:r>
              <a:rPr sz="900" b="1">
                <a:solidFill>
                  <a:srgbClr val="687B75"/>
                </a:solidFill>
                <a:latin typeface="Segoe UI"/>
              </a:rPr>
              <a:t>WAT DE APP OPLEVERT</a:t>
            </a:r>
          </a:p>
        </p:txBody>
      </p:sp>
      <p:sp>
        <p:nvSpPr>
          <p:cNvPr id="4" name="TextBox 3"/>
          <p:cNvSpPr txBox="1"/>
          <p:nvPr/>
        </p:nvSpPr>
        <p:spPr>
          <a:xfrm>
            <a:off x="566928" y="640080"/>
            <a:ext cx="10789920" cy="621792"/>
          </a:xfrm>
          <a:prstGeom prst="rect">
            <a:avLst/>
          </a:prstGeom>
          <a:noFill/>
        </p:spPr>
        <p:txBody>
          <a:bodyPr wrap="none" lIns="0" rIns="0" tIns="0" bIns="0" anchor="t">
            <a:spAutoFit/>
          </a:bodyPr>
          <a:lstStyle/>
          <a:p>
            <a:pPr algn="l"/>
            <a:r>
              <a:rPr sz="2700" b="1">
                <a:solidFill>
                  <a:srgbClr val="18352F"/>
                </a:solidFill>
                <a:latin typeface="Segoe UI"/>
              </a:rPr>
              <a:t>Van kerngetal naar leesbaar ontwerpdossier</a:t>
            </a:r>
          </a:p>
        </p:txBody>
      </p:sp>
      <p:sp>
        <p:nvSpPr>
          <p:cNvPr id="5" name="TextBox 4"/>
          <p:cNvSpPr txBox="1"/>
          <p:nvPr/>
        </p:nvSpPr>
        <p:spPr>
          <a:xfrm>
            <a:off x="11109960" y="365760"/>
            <a:ext cx="502920" cy="256032"/>
          </a:xfrm>
          <a:prstGeom prst="rect">
            <a:avLst/>
          </a:prstGeom>
          <a:noFill/>
        </p:spPr>
        <p:txBody>
          <a:bodyPr wrap="none" lIns="0" rIns="0" tIns="0" bIns="0" anchor="t">
            <a:spAutoFit/>
          </a:bodyPr>
          <a:lstStyle/>
          <a:p>
            <a:pPr algn="r"/>
            <a:r>
              <a:rPr sz="900" b="1">
                <a:solidFill>
                  <a:srgbClr val="687B75"/>
                </a:solidFill>
                <a:latin typeface="Segoe UI"/>
              </a:rPr>
              <a:t>05</a:t>
            </a:r>
          </a:p>
        </p:txBody>
      </p:sp>
      <p:sp>
        <p:nvSpPr>
          <p:cNvPr id="6" name="Rectangle 5"/>
          <p:cNvSpPr/>
          <p:nvPr/>
        </p:nvSpPr>
        <p:spPr>
          <a:xfrm>
            <a:off x="566928" y="1325880"/>
            <a:ext cx="11045952" cy="13716"/>
          </a:xfrm>
          <a:prstGeom prst="rect">
            <a:avLst/>
          </a:prstGeom>
          <a:solidFill>
            <a:srgbClr val="D5DDD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554480"/>
            <a:ext cx="3429000" cy="96012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00784"/>
            <a:ext cx="3099816" cy="182880"/>
          </a:xfrm>
          <a:prstGeom prst="rect">
            <a:avLst/>
          </a:prstGeom>
          <a:noFill/>
        </p:spPr>
        <p:txBody>
          <a:bodyPr wrap="none" lIns="0" rIns="0" tIns="0" bIns="0" anchor="t">
            <a:spAutoFit/>
          </a:bodyPr>
          <a:lstStyle/>
          <a:p>
            <a:pPr algn="l"/>
            <a:r>
              <a:rPr sz="800" b="1">
                <a:solidFill>
                  <a:srgbClr val="687B75"/>
                </a:solidFill>
                <a:latin typeface="Segoe UI"/>
              </a:rPr>
              <a:t>BRUTO VLOEROPPERVLAK</a:t>
            </a:r>
          </a:p>
        </p:txBody>
      </p:sp>
      <p:sp>
        <p:nvSpPr>
          <p:cNvPr id="9" name="TextBox 8"/>
          <p:cNvSpPr txBox="1"/>
          <p:nvPr/>
        </p:nvSpPr>
        <p:spPr>
          <a:xfrm>
            <a:off x="731520" y="1965960"/>
            <a:ext cx="3099816" cy="347472"/>
          </a:xfrm>
          <a:prstGeom prst="rect">
            <a:avLst/>
          </a:prstGeom>
          <a:noFill/>
        </p:spPr>
        <p:txBody>
          <a:bodyPr wrap="none" lIns="0" rIns="0">
            <a:spAutoFit/>
          </a:bodyPr>
          <a:lstStyle/>
          <a:p>
            <a:pPr algn="l"/>
            <a:r>
              <a:rPr sz="1900" b="1">
                <a:solidFill>
                  <a:srgbClr val="18352F"/>
                </a:solidFill>
                <a:latin typeface="Segoe UI"/>
              </a:rPr>
              <a:t>51.868</a:t>
            </a:r>
            <a:r>
              <a:rPr sz="1900" b="0">
                <a:solidFill>
                  <a:srgbClr val="687B75"/>
                </a:solidFill>
                <a:latin typeface="Segoe UI"/>
              </a:rPr>
              <a:t> m²</a:t>
            </a:r>
          </a:p>
        </p:txBody>
      </p:sp>
      <p:sp>
        <p:nvSpPr>
          <p:cNvPr id="10" name="Rectangle 9"/>
          <p:cNvSpPr/>
          <p:nvPr/>
        </p:nvSpPr>
        <p:spPr>
          <a:xfrm>
            <a:off x="566928" y="1554480"/>
            <a:ext cx="50292" cy="960120"/>
          </a:xfrm>
          <a:prstGeom prst="rect">
            <a:avLst/>
          </a:prstGeom>
          <a:solidFill>
            <a:srgbClr val="1F684E"/>
          </a:solidFill>
          <a:ln>
            <a:solidFill>
              <a:srgbClr val="1F68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60520" y="1554480"/>
            <a:ext cx="3429000" cy="96012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5112" y="1700784"/>
            <a:ext cx="3099816" cy="182880"/>
          </a:xfrm>
          <a:prstGeom prst="rect">
            <a:avLst/>
          </a:prstGeom>
          <a:noFill/>
        </p:spPr>
        <p:txBody>
          <a:bodyPr wrap="none" lIns="0" rIns="0" tIns="0" bIns="0" anchor="t">
            <a:spAutoFit/>
          </a:bodyPr>
          <a:lstStyle/>
          <a:p>
            <a:pPr algn="l"/>
            <a:r>
              <a:rPr sz="800" b="1">
                <a:solidFill>
                  <a:srgbClr val="687B75"/>
                </a:solidFill>
                <a:latin typeface="Segoe UI"/>
              </a:rPr>
              <a:t>ZICHT</a:t>
            </a:r>
          </a:p>
        </p:txBody>
      </p:sp>
      <p:sp>
        <p:nvSpPr>
          <p:cNvPr id="13" name="TextBox 12"/>
          <p:cNvSpPr txBox="1"/>
          <p:nvPr/>
        </p:nvSpPr>
        <p:spPr>
          <a:xfrm>
            <a:off x="4325112" y="1965960"/>
            <a:ext cx="3099816" cy="347472"/>
          </a:xfrm>
          <a:prstGeom prst="rect">
            <a:avLst/>
          </a:prstGeom>
          <a:noFill/>
        </p:spPr>
        <p:txBody>
          <a:bodyPr wrap="none" lIns="0" rIns="0">
            <a:spAutoFit/>
          </a:bodyPr>
          <a:lstStyle/>
          <a:p>
            <a:pPr algn="l"/>
            <a:r>
              <a:rPr sz="1900" b="1">
                <a:solidFill>
                  <a:srgbClr val="18352F"/>
                </a:solidFill>
                <a:latin typeface="Segoe UI"/>
              </a:rPr>
              <a:t>24,5</a:t>
            </a:r>
            <a:r>
              <a:rPr sz="1900" b="0">
                <a:solidFill>
                  <a:srgbClr val="687B75"/>
                </a:solidFill>
                <a:latin typeface="Segoe UI"/>
              </a:rPr>
              <a:t>%</a:t>
            </a:r>
          </a:p>
        </p:txBody>
      </p:sp>
      <p:sp>
        <p:nvSpPr>
          <p:cNvPr id="14" name="Rectangle 13"/>
          <p:cNvSpPr/>
          <p:nvPr/>
        </p:nvSpPr>
        <p:spPr>
          <a:xfrm>
            <a:off x="4160520" y="1554480"/>
            <a:ext cx="50292" cy="960120"/>
          </a:xfrm>
          <a:prstGeom prst="rect">
            <a:avLst/>
          </a:prstGeom>
          <a:solidFill>
            <a:srgbClr val="2F80ED"/>
          </a:solidFill>
          <a:ln>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54112" y="1554480"/>
            <a:ext cx="3858768" cy="96012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8704" y="1700784"/>
            <a:ext cx="3529584" cy="182880"/>
          </a:xfrm>
          <a:prstGeom prst="rect">
            <a:avLst/>
          </a:prstGeom>
          <a:noFill/>
        </p:spPr>
        <p:txBody>
          <a:bodyPr wrap="none" lIns="0" rIns="0" tIns="0" bIns="0" anchor="t">
            <a:spAutoFit/>
          </a:bodyPr>
          <a:lstStyle/>
          <a:p>
            <a:pPr algn="l"/>
            <a:r>
              <a:rPr sz="800" b="1">
                <a:solidFill>
                  <a:srgbClr val="687B75"/>
                </a:solidFill>
                <a:latin typeface="Segoe UI"/>
              </a:rPr>
              <a:t>INDICATIEVE KOSTEN</a:t>
            </a:r>
          </a:p>
        </p:txBody>
      </p:sp>
      <p:sp>
        <p:nvSpPr>
          <p:cNvPr id="17" name="TextBox 16"/>
          <p:cNvSpPr txBox="1"/>
          <p:nvPr/>
        </p:nvSpPr>
        <p:spPr>
          <a:xfrm>
            <a:off x="7918704" y="1965960"/>
            <a:ext cx="3529584" cy="347472"/>
          </a:xfrm>
          <a:prstGeom prst="rect">
            <a:avLst/>
          </a:prstGeom>
          <a:noFill/>
        </p:spPr>
        <p:txBody>
          <a:bodyPr wrap="none" lIns="0" rIns="0">
            <a:spAutoFit/>
          </a:bodyPr>
          <a:lstStyle/>
          <a:p>
            <a:pPr algn="l"/>
            <a:r>
              <a:rPr sz="1900" b="1">
                <a:solidFill>
                  <a:srgbClr val="18352F"/>
                </a:solidFill>
                <a:latin typeface="Segoe UI"/>
              </a:rPr>
              <a:t>€ 93,4</a:t>
            </a:r>
            <a:r>
              <a:rPr sz="1900" b="0">
                <a:solidFill>
                  <a:srgbClr val="687B75"/>
                </a:solidFill>
                <a:latin typeface="Segoe UI"/>
              </a:rPr>
              <a:t> mln</a:t>
            </a:r>
          </a:p>
        </p:txBody>
      </p:sp>
      <p:sp>
        <p:nvSpPr>
          <p:cNvPr id="18" name="Rectangle 17"/>
          <p:cNvSpPr/>
          <p:nvPr/>
        </p:nvSpPr>
        <p:spPr>
          <a:xfrm>
            <a:off x="7754112" y="1554480"/>
            <a:ext cx="50292" cy="960120"/>
          </a:xfrm>
          <a:prstGeom prst="rect">
            <a:avLst/>
          </a:prstGeom>
          <a:solidFill>
            <a:srgbClr val="D9683F"/>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66928" y="2834640"/>
            <a:ext cx="5440680" cy="1024128"/>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2834640"/>
            <a:ext cx="54864" cy="1024128"/>
          </a:xfrm>
          <a:prstGeom prst="rect">
            <a:avLst/>
          </a:prstGeom>
          <a:solidFill>
            <a:srgbClr val="D7A35D"/>
          </a:solidFill>
          <a:ln>
            <a:solidFill>
              <a:srgbClr val="D7A3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3017520"/>
            <a:ext cx="1572768" cy="274320"/>
          </a:xfrm>
          <a:prstGeom prst="rect">
            <a:avLst/>
          </a:prstGeom>
          <a:noFill/>
        </p:spPr>
        <p:txBody>
          <a:bodyPr wrap="none" lIns="0" rIns="0" tIns="0" bIns="0" anchor="t">
            <a:spAutoFit/>
          </a:bodyPr>
          <a:lstStyle/>
          <a:p>
            <a:pPr algn="l"/>
            <a:r>
              <a:rPr sz="1400" b="1">
                <a:solidFill>
                  <a:srgbClr val="18352F"/>
                </a:solidFill>
                <a:latin typeface="Segoe UI"/>
              </a:rPr>
              <a:t>Zon &amp; klimaat</a:t>
            </a:r>
          </a:p>
        </p:txBody>
      </p:sp>
      <p:sp>
        <p:nvSpPr>
          <p:cNvPr id="22" name="TextBox 21"/>
          <p:cNvSpPr txBox="1"/>
          <p:nvPr/>
        </p:nvSpPr>
        <p:spPr>
          <a:xfrm>
            <a:off x="2414016" y="2999232"/>
            <a:ext cx="3264408" cy="502920"/>
          </a:xfrm>
          <a:prstGeom prst="rect">
            <a:avLst/>
          </a:prstGeom>
          <a:noFill/>
        </p:spPr>
        <p:txBody>
          <a:bodyPr wrap="none" lIns="0" rIns="0" tIns="0" bIns="0" anchor="t">
            <a:spAutoFit/>
          </a:bodyPr>
          <a:lstStyle/>
          <a:p>
            <a:pPr algn="l"/>
            <a:r>
              <a:rPr sz="1000" b="0">
                <a:solidFill>
                  <a:srgbClr val="687B75"/>
                </a:solidFill>
                <a:latin typeface="Segoe UI"/>
              </a:rPr>
              <a:t>Zonuren, UTCI en hittestress als vergelijkende screening</a:t>
            </a:r>
          </a:p>
        </p:txBody>
      </p:sp>
      <p:sp>
        <p:nvSpPr>
          <p:cNvPr id="23" name="Rounded Rectangle 22"/>
          <p:cNvSpPr/>
          <p:nvPr/>
        </p:nvSpPr>
        <p:spPr>
          <a:xfrm>
            <a:off x="6172200" y="2834640"/>
            <a:ext cx="5440680" cy="1024128"/>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2834640"/>
            <a:ext cx="54864" cy="1024128"/>
          </a:xfrm>
          <a:prstGeom prst="rect">
            <a:avLst/>
          </a:prstGeom>
          <a:solidFill>
            <a:srgbClr val="548093"/>
          </a:solidFill>
          <a:ln>
            <a:solidFill>
              <a:srgbClr val="5480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3017520"/>
            <a:ext cx="1572768" cy="274320"/>
          </a:xfrm>
          <a:prstGeom prst="rect">
            <a:avLst/>
          </a:prstGeom>
          <a:noFill/>
        </p:spPr>
        <p:txBody>
          <a:bodyPr wrap="none" lIns="0" rIns="0" tIns="0" bIns="0" anchor="t">
            <a:spAutoFit/>
          </a:bodyPr>
          <a:lstStyle/>
          <a:p>
            <a:pPr algn="l"/>
            <a:r>
              <a:rPr sz="1400" b="1">
                <a:solidFill>
                  <a:srgbClr val="18352F"/>
                </a:solidFill>
                <a:latin typeface="Segoe UI"/>
              </a:rPr>
              <a:t>Fundering</a:t>
            </a:r>
          </a:p>
        </p:txBody>
      </p:sp>
      <p:sp>
        <p:nvSpPr>
          <p:cNvPr id="26" name="TextBox 25"/>
          <p:cNvSpPr txBox="1"/>
          <p:nvPr/>
        </p:nvSpPr>
        <p:spPr>
          <a:xfrm>
            <a:off x="8019288" y="2999232"/>
            <a:ext cx="3264408" cy="502920"/>
          </a:xfrm>
          <a:prstGeom prst="rect">
            <a:avLst/>
          </a:prstGeom>
          <a:noFill/>
        </p:spPr>
        <p:txBody>
          <a:bodyPr wrap="none" lIns="0" rIns="0" tIns="0" bIns="0" anchor="t">
            <a:spAutoFit/>
          </a:bodyPr>
          <a:lstStyle/>
          <a:p>
            <a:pPr algn="l"/>
            <a:r>
              <a:rPr sz="1000" b="0">
                <a:solidFill>
                  <a:srgbClr val="687B75"/>
                </a:solidFill>
                <a:latin typeface="Segoe UI"/>
              </a:rPr>
              <a:t>Paalindicatie, belasting en benuttingsgraad</a:t>
            </a:r>
          </a:p>
        </p:txBody>
      </p:sp>
      <p:sp>
        <p:nvSpPr>
          <p:cNvPr id="27" name="Rounded Rectangle 26"/>
          <p:cNvSpPr/>
          <p:nvPr/>
        </p:nvSpPr>
        <p:spPr>
          <a:xfrm>
            <a:off x="566928" y="4133087"/>
            <a:ext cx="5440680" cy="1024128"/>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133087"/>
            <a:ext cx="54864" cy="1024128"/>
          </a:xfrm>
          <a:prstGeom prst="rect">
            <a:avLst/>
          </a:prstGeom>
          <a:solidFill>
            <a:srgbClr val="9B51E0"/>
          </a:solidFill>
          <a:ln>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4315968"/>
            <a:ext cx="1572768" cy="274320"/>
          </a:xfrm>
          <a:prstGeom prst="rect">
            <a:avLst/>
          </a:prstGeom>
          <a:noFill/>
        </p:spPr>
        <p:txBody>
          <a:bodyPr wrap="none" lIns="0" rIns="0" tIns="0" bIns="0" anchor="t">
            <a:spAutoFit/>
          </a:bodyPr>
          <a:lstStyle/>
          <a:p>
            <a:pPr algn="l"/>
            <a:r>
              <a:rPr sz="1400" b="1">
                <a:solidFill>
                  <a:srgbClr val="18352F"/>
                </a:solidFill>
                <a:latin typeface="Segoe UI"/>
              </a:rPr>
              <a:t>Ontwerpadvies</a:t>
            </a:r>
          </a:p>
        </p:txBody>
      </p:sp>
      <p:sp>
        <p:nvSpPr>
          <p:cNvPr id="30" name="TextBox 29"/>
          <p:cNvSpPr txBox="1"/>
          <p:nvPr/>
        </p:nvSpPr>
        <p:spPr>
          <a:xfrm>
            <a:off x="2414016" y="4297679"/>
            <a:ext cx="3264408" cy="502920"/>
          </a:xfrm>
          <a:prstGeom prst="rect">
            <a:avLst/>
          </a:prstGeom>
          <a:noFill/>
        </p:spPr>
        <p:txBody>
          <a:bodyPr wrap="none" lIns="0" rIns="0" tIns="0" bIns="0" anchor="t">
            <a:spAutoFit/>
          </a:bodyPr>
          <a:lstStyle/>
          <a:p>
            <a:pPr algn="l"/>
            <a:r>
              <a:rPr sz="1000" b="0">
                <a:solidFill>
                  <a:srgbClr val="687B75"/>
                </a:solidFill>
                <a:latin typeface="Segoe UI"/>
              </a:rPr>
              <a:t>Meetbare acties, bewijsreferenties en onzekerheden</a:t>
            </a:r>
          </a:p>
        </p:txBody>
      </p:sp>
      <p:sp>
        <p:nvSpPr>
          <p:cNvPr id="31" name="Rounded Rectangle 30"/>
          <p:cNvSpPr/>
          <p:nvPr/>
        </p:nvSpPr>
        <p:spPr>
          <a:xfrm>
            <a:off x="6172200" y="4133087"/>
            <a:ext cx="5440680" cy="1024128"/>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72200" y="4133087"/>
            <a:ext cx="54864" cy="1024128"/>
          </a:xfrm>
          <a:prstGeom prst="rect">
            <a:avLst/>
          </a:prstGeom>
          <a:solidFill>
            <a:srgbClr val="1F684E"/>
          </a:solidFill>
          <a:ln>
            <a:solidFill>
              <a:srgbClr val="1F68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91656" y="4315968"/>
            <a:ext cx="1572768" cy="274320"/>
          </a:xfrm>
          <a:prstGeom prst="rect">
            <a:avLst/>
          </a:prstGeom>
          <a:noFill/>
        </p:spPr>
        <p:txBody>
          <a:bodyPr wrap="none" lIns="0" rIns="0" tIns="0" bIns="0" anchor="t">
            <a:spAutoFit/>
          </a:bodyPr>
          <a:lstStyle/>
          <a:p>
            <a:pPr algn="l"/>
            <a:r>
              <a:rPr sz="1400" b="1">
                <a:solidFill>
                  <a:srgbClr val="18352F"/>
                </a:solidFill>
                <a:latin typeface="Segoe UI"/>
              </a:rPr>
              <a:t>Rapport</a:t>
            </a:r>
          </a:p>
        </p:txBody>
      </p:sp>
      <p:sp>
        <p:nvSpPr>
          <p:cNvPr id="34" name="TextBox 33"/>
          <p:cNvSpPr txBox="1"/>
          <p:nvPr/>
        </p:nvSpPr>
        <p:spPr>
          <a:xfrm>
            <a:off x="8019288" y="4297679"/>
            <a:ext cx="3264408" cy="502920"/>
          </a:xfrm>
          <a:prstGeom prst="rect">
            <a:avLst/>
          </a:prstGeom>
          <a:noFill/>
        </p:spPr>
        <p:txBody>
          <a:bodyPr wrap="none" lIns="0" rIns="0" tIns="0" bIns="0" anchor="t">
            <a:spAutoFit/>
          </a:bodyPr>
          <a:lstStyle/>
          <a:p>
            <a:pPr algn="l"/>
            <a:r>
              <a:rPr sz="1000" b="0">
                <a:solidFill>
                  <a:srgbClr val="687B75"/>
                </a:solidFill>
                <a:latin typeface="Segoe UI"/>
              </a:rPr>
              <a:t>Vier beelden, legenda, meetwaarden, methode en beperkingen</a:t>
            </a:r>
          </a:p>
        </p:txBody>
      </p:sp>
      <p:sp>
        <p:nvSpPr>
          <p:cNvPr id="35" name="TextBox 34"/>
          <p:cNvSpPr txBox="1"/>
          <p:nvPr/>
        </p:nvSpPr>
        <p:spPr>
          <a:xfrm>
            <a:off x="8741664" y="5660136"/>
            <a:ext cx="2871216" cy="201168"/>
          </a:xfrm>
          <a:prstGeom prst="rect">
            <a:avLst/>
          </a:prstGeom>
          <a:noFill/>
        </p:spPr>
        <p:txBody>
          <a:bodyPr wrap="none" lIns="0" rIns="0" tIns="0" bIns="0" anchor="t">
            <a:spAutoFit/>
          </a:bodyPr>
          <a:lstStyle/>
          <a:p>
            <a:pPr algn="r"/>
            <a:r>
              <a:rPr sz="800" b="1">
                <a:solidFill>
                  <a:srgbClr val="D9683F"/>
                </a:solidFill>
                <a:latin typeface="Segoe UI"/>
              </a:rPr>
              <a:t>SCREENING ≠ DEFINITIEF ONTWERP</a:t>
            </a:r>
          </a:p>
        </p:txBody>
      </p:sp>
      <p:pic>
        <p:nvPicPr>
          <p:cNvPr id="36" name="Picture 35" descr="parkhaven-logo.png"/>
          <p:cNvPicPr>
            <a:picLocks noChangeAspect="1"/>
          </p:cNvPicPr>
          <p:nvPr/>
        </p:nvPicPr>
        <p:blipFill>
          <a:blip r:embed="rId2"/>
          <a:stretch>
            <a:fillRect/>
          </a:stretch>
        </p:blipFill>
        <p:spPr>
          <a:xfrm>
            <a:off x="566928" y="6364224"/>
            <a:ext cx="208434" cy="338328"/>
          </a:xfrm>
          <a:prstGeom prst="rect">
            <a:avLst/>
          </a:prstGeom>
        </p:spPr>
      </p:pic>
      <p:sp>
        <p:nvSpPr>
          <p:cNvPr id="37" name="TextBox 36"/>
          <p:cNvSpPr txBox="1"/>
          <p:nvPr/>
        </p:nvSpPr>
        <p:spPr>
          <a:xfrm>
            <a:off x="932688" y="6428232"/>
            <a:ext cx="2011680" cy="182880"/>
          </a:xfrm>
          <a:prstGeom prst="rect">
            <a:avLst/>
          </a:prstGeom>
          <a:noFill/>
        </p:spPr>
        <p:txBody>
          <a:bodyPr wrap="none" lIns="0" rIns="0">
            <a:spAutoFit/>
          </a:bodyPr>
          <a:lstStyle/>
          <a:p>
            <a:pPr algn="l"/>
            <a:r>
              <a:rPr sz="800" b="1">
                <a:solidFill>
                  <a:srgbClr val="18352F"/>
                </a:solidFill>
                <a:latin typeface="Segoe UI"/>
              </a:rPr>
              <a:t>PARKHAVEN </a:t>
            </a:r>
            <a:r>
              <a:rPr sz="800" b="0">
                <a:solidFill>
                  <a:srgbClr val="687B75"/>
                </a:solidFill>
                <a:latin typeface="Segoe UI"/>
              </a:rPr>
              <a:t>STUDIO</a:t>
            </a:r>
          </a:p>
        </p:txBody>
      </p:sp>
      <p:sp>
        <p:nvSpPr>
          <p:cNvPr id="38" name="TextBox 37"/>
          <p:cNvSpPr txBox="1"/>
          <p:nvPr/>
        </p:nvSpPr>
        <p:spPr>
          <a:xfrm>
            <a:off x="8001000" y="6428232"/>
            <a:ext cx="3611880" cy="182880"/>
          </a:xfrm>
          <a:prstGeom prst="rect">
            <a:avLst/>
          </a:prstGeom>
          <a:noFill/>
        </p:spPr>
        <p:txBody>
          <a:bodyPr wrap="none" lIns="0" rIns="0" tIns="0" bIns="0" anchor="t">
            <a:spAutoFit/>
          </a:bodyPr>
          <a:lstStyle/>
          <a:p>
            <a:pPr algn="r"/>
            <a:r>
              <a:rPr sz="700" b="1">
                <a:solidFill>
                  <a:srgbClr val="687B75"/>
                </a:solidFill>
                <a:latin typeface="Segoe UI"/>
              </a:rPr>
              <a:t>LOKAAL • HERLEIDBAAR • MODELGEBASEERD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EFE9"/>
          </a:solidFill>
          <a:ln>
            <a:solidFill>
              <a:srgbClr val="ECE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040880" cy="274320"/>
          </a:xfrm>
          <a:prstGeom prst="rect">
            <a:avLst/>
          </a:prstGeom>
          <a:noFill/>
        </p:spPr>
        <p:txBody>
          <a:bodyPr wrap="none" lIns="0" rIns="0" tIns="0" bIns="0" anchor="t">
            <a:spAutoFit/>
          </a:bodyPr>
          <a:lstStyle/>
          <a:p>
            <a:pPr algn="l"/>
            <a:r>
              <a:rPr sz="900" b="1">
                <a:solidFill>
                  <a:srgbClr val="687B75"/>
                </a:solidFill>
                <a:latin typeface="Segoe UI"/>
              </a:rPr>
              <a:t>ARCHITECTUUR</a:t>
            </a:r>
          </a:p>
        </p:txBody>
      </p:sp>
      <p:sp>
        <p:nvSpPr>
          <p:cNvPr id="4" name="TextBox 3"/>
          <p:cNvSpPr txBox="1"/>
          <p:nvPr/>
        </p:nvSpPr>
        <p:spPr>
          <a:xfrm>
            <a:off x="566928" y="640080"/>
            <a:ext cx="10789920" cy="621792"/>
          </a:xfrm>
          <a:prstGeom prst="rect">
            <a:avLst/>
          </a:prstGeom>
          <a:noFill/>
        </p:spPr>
        <p:txBody>
          <a:bodyPr wrap="none" lIns="0" rIns="0" tIns="0" bIns="0" anchor="t">
            <a:spAutoFit/>
          </a:bodyPr>
          <a:lstStyle/>
          <a:p>
            <a:pPr algn="l"/>
            <a:r>
              <a:rPr sz="2700" b="1">
                <a:solidFill>
                  <a:srgbClr val="18352F"/>
                </a:solidFill>
                <a:latin typeface="Segoe UI"/>
              </a:rPr>
              <a:t>Zes componenten, één lokale workflow</a:t>
            </a:r>
          </a:p>
        </p:txBody>
      </p:sp>
      <p:sp>
        <p:nvSpPr>
          <p:cNvPr id="5" name="TextBox 4"/>
          <p:cNvSpPr txBox="1"/>
          <p:nvPr/>
        </p:nvSpPr>
        <p:spPr>
          <a:xfrm>
            <a:off x="11109960" y="365760"/>
            <a:ext cx="502920" cy="256032"/>
          </a:xfrm>
          <a:prstGeom prst="rect">
            <a:avLst/>
          </a:prstGeom>
          <a:noFill/>
        </p:spPr>
        <p:txBody>
          <a:bodyPr wrap="none" lIns="0" rIns="0" tIns="0" bIns="0" anchor="t">
            <a:spAutoFit/>
          </a:bodyPr>
          <a:lstStyle/>
          <a:p>
            <a:pPr algn="r"/>
            <a:r>
              <a:rPr sz="900" b="1">
                <a:solidFill>
                  <a:srgbClr val="687B75"/>
                </a:solidFill>
                <a:latin typeface="Segoe UI"/>
              </a:rPr>
              <a:t>06</a:t>
            </a:r>
          </a:p>
        </p:txBody>
      </p:sp>
      <p:sp>
        <p:nvSpPr>
          <p:cNvPr id="6" name="Rectangle 5"/>
          <p:cNvSpPr/>
          <p:nvPr/>
        </p:nvSpPr>
        <p:spPr>
          <a:xfrm>
            <a:off x="566928" y="1325880"/>
            <a:ext cx="11045952" cy="13716"/>
          </a:xfrm>
          <a:prstGeom prst="rect">
            <a:avLst/>
          </a:prstGeom>
          <a:solidFill>
            <a:srgbClr val="D5DDD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609344"/>
            <a:ext cx="2057400" cy="114300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50292" cy="1143000"/>
          </a:xfrm>
          <a:prstGeom prst="rect">
            <a:avLst/>
          </a:prstGeom>
          <a:solidFill>
            <a:srgbClr val="2F80ED"/>
          </a:solidFill>
          <a:ln>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773936"/>
            <a:ext cx="1691640" cy="182880"/>
          </a:xfrm>
          <a:prstGeom prst="rect">
            <a:avLst/>
          </a:prstGeom>
          <a:noFill/>
        </p:spPr>
        <p:txBody>
          <a:bodyPr wrap="none" lIns="0" rIns="0" tIns="0" bIns="0" anchor="t">
            <a:spAutoFit/>
          </a:bodyPr>
          <a:lstStyle/>
          <a:p>
            <a:pPr algn="l"/>
            <a:r>
              <a:rPr sz="800" b="1">
                <a:solidFill>
                  <a:srgbClr val="2F80ED"/>
                </a:solidFill>
                <a:latin typeface="Segoe UI"/>
              </a:rPr>
              <a:t>DESKTOP</a:t>
            </a:r>
          </a:p>
        </p:txBody>
      </p:sp>
      <p:sp>
        <p:nvSpPr>
          <p:cNvPr id="10" name="TextBox 9"/>
          <p:cNvSpPr txBox="1"/>
          <p:nvPr/>
        </p:nvSpPr>
        <p:spPr>
          <a:xfrm>
            <a:off x="749808" y="2103120"/>
            <a:ext cx="1691640" cy="521207"/>
          </a:xfrm>
          <a:prstGeom prst="rect">
            <a:avLst/>
          </a:prstGeom>
          <a:noFill/>
        </p:spPr>
        <p:txBody>
          <a:bodyPr wrap="none" lIns="0" rIns="0" tIns="0" bIns="0" anchor="t">
            <a:spAutoFit/>
          </a:bodyPr>
          <a:lstStyle/>
          <a:p>
            <a:pPr algn="l"/>
            <a:r>
              <a:rPr sz="1200" b="1">
                <a:solidFill>
                  <a:srgbClr val="18352F"/>
                </a:solidFill>
                <a:latin typeface="Segoe UI"/>
              </a:rPr>
              <a:t>WPF + WebView2
venster en levenscyclus</a:t>
            </a:r>
          </a:p>
        </p:txBody>
      </p:sp>
      <p:sp>
        <p:nvSpPr>
          <p:cNvPr id="11" name="Rounded Rectangle 10"/>
          <p:cNvSpPr/>
          <p:nvPr/>
        </p:nvSpPr>
        <p:spPr>
          <a:xfrm>
            <a:off x="2926080" y="1609344"/>
            <a:ext cx="2057400" cy="114300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26080" y="1609344"/>
            <a:ext cx="50292" cy="1143000"/>
          </a:xfrm>
          <a:prstGeom prst="rect">
            <a:avLst/>
          </a:prstGeom>
          <a:solidFill>
            <a:srgbClr val="1F684E"/>
          </a:solidFill>
          <a:ln>
            <a:solidFill>
              <a:srgbClr val="1F68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8960" y="1773936"/>
            <a:ext cx="1691640" cy="182880"/>
          </a:xfrm>
          <a:prstGeom prst="rect">
            <a:avLst/>
          </a:prstGeom>
          <a:noFill/>
        </p:spPr>
        <p:txBody>
          <a:bodyPr wrap="none" lIns="0" rIns="0" tIns="0" bIns="0" anchor="t">
            <a:spAutoFit/>
          </a:bodyPr>
          <a:lstStyle/>
          <a:p>
            <a:pPr algn="l"/>
            <a:r>
              <a:rPr sz="800" b="1">
                <a:solidFill>
                  <a:srgbClr val="1F684E"/>
                </a:solidFill>
                <a:latin typeface="Segoe UI"/>
              </a:rPr>
              <a:t>BACKEND</a:t>
            </a:r>
          </a:p>
        </p:txBody>
      </p:sp>
      <p:sp>
        <p:nvSpPr>
          <p:cNvPr id="14" name="TextBox 13"/>
          <p:cNvSpPr txBox="1"/>
          <p:nvPr/>
        </p:nvSpPr>
        <p:spPr>
          <a:xfrm>
            <a:off x="3108960" y="2103120"/>
            <a:ext cx="1691640" cy="521207"/>
          </a:xfrm>
          <a:prstGeom prst="rect">
            <a:avLst/>
          </a:prstGeom>
          <a:noFill/>
        </p:spPr>
        <p:txBody>
          <a:bodyPr wrap="none" lIns="0" rIns="0" tIns="0" bIns="0" anchor="t">
            <a:spAutoFit/>
          </a:bodyPr>
          <a:lstStyle/>
          <a:p>
            <a:pPr algn="l"/>
            <a:r>
              <a:rPr sz="1200" b="1">
                <a:solidFill>
                  <a:srgbClr val="18352F"/>
                </a:solidFill>
                <a:latin typeface="Segoe UI"/>
              </a:rPr>
              <a:t>FastAPI
projecten, runs en API</a:t>
            </a:r>
          </a:p>
        </p:txBody>
      </p:sp>
      <p:sp>
        <p:nvSpPr>
          <p:cNvPr id="15" name="Rounded Rectangle 14"/>
          <p:cNvSpPr/>
          <p:nvPr/>
        </p:nvSpPr>
        <p:spPr>
          <a:xfrm>
            <a:off x="5285232" y="1609344"/>
            <a:ext cx="2057400" cy="114300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85232" y="1609344"/>
            <a:ext cx="50292" cy="1143000"/>
          </a:xfrm>
          <a:prstGeom prst="rect">
            <a:avLst/>
          </a:prstGeom>
          <a:solidFill>
            <a:srgbClr val="D7A35D"/>
          </a:solidFill>
          <a:ln>
            <a:solidFill>
              <a:srgbClr val="D7A3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68112" y="1773936"/>
            <a:ext cx="1691640" cy="182880"/>
          </a:xfrm>
          <a:prstGeom prst="rect">
            <a:avLst/>
          </a:prstGeom>
          <a:noFill/>
        </p:spPr>
        <p:txBody>
          <a:bodyPr wrap="none" lIns="0" rIns="0" tIns="0" bIns="0" anchor="t">
            <a:spAutoFit/>
          </a:bodyPr>
          <a:lstStyle/>
          <a:p>
            <a:pPr algn="l"/>
            <a:r>
              <a:rPr sz="800" b="1">
                <a:solidFill>
                  <a:srgbClr val="D7A35D"/>
                </a:solidFill>
                <a:latin typeface="Segoe UI"/>
              </a:rPr>
              <a:t>REKENKERN</a:t>
            </a:r>
          </a:p>
        </p:txBody>
      </p:sp>
      <p:sp>
        <p:nvSpPr>
          <p:cNvPr id="18" name="TextBox 17"/>
          <p:cNvSpPr txBox="1"/>
          <p:nvPr/>
        </p:nvSpPr>
        <p:spPr>
          <a:xfrm>
            <a:off x="5468112" y="2103120"/>
            <a:ext cx="1691640" cy="521207"/>
          </a:xfrm>
          <a:prstGeom prst="rect">
            <a:avLst/>
          </a:prstGeom>
          <a:noFill/>
        </p:spPr>
        <p:txBody>
          <a:bodyPr wrap="none" lIns="0" rIns="0" tIns="0" bIns="0" anchor="t">
            <a:spAutoFit/>
          </a:bodyPr>
          <a:lstStyle/>
          <a:p>
            <a:pPr algn="l"/>
            <a:r>
              <a:rPr sz="1200" b="1">
                <a:solidFill>
                  <a:srgbClr val="18352F"/>
                </a:solidFill>
                <a:latin typeface="Segoe UI"/>
              </a:rPr>
              <a:t>Rhino-plug-in +
Grasshopper-definitie</a:t>
            </a:r>
          </a:p>
        </p:txBody>
      </p:sp>
      <p:sp>
        <p:nvSpPr>
          <p:cNvPr id="19" name="Rounded Rectangle 18"/>
          <p:cNvSpPr/>
          <p:nvPr/>
        </p:nvSpPr>
        <p:spPr>
          <a:xfrm>
            <a:off x="7644383" y="1609344"/>
            <a:ext cx="2057400" cy="114300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44383" y="1609344"/>
            <a:ext cx="50292" cy="1143000"/>
          </a:xfrm>
          <a:prstGeom prst="rect">
            <a:avLst/>
          </a:prstGeom>
          <a:solidFill>
            <a:srgbClr val="9B51E0"/>
          </a:solidFill>
          <a:ln>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27263" y="1773936"/>
            <a:ext cx="1691640" cy="182880"/>
          </a:xfrm>
          <a:prstGeom prst="rect">
            <a:avLst/>
          </a:prstGeom>
          <a:noFill/>
        </p:spPr>
        <p:txBody>
          <a:bodyPr wrap="none" lIns="0" rIns="0" tIns="0" bIns="0" anchor="t">
            <a:spAutoFit/>
          </a:bodyPr>
          <a:lstStyle/>
          <a:p>
            <a:pPr algn="l"/>
            <a:r>
              <a:rPr sz="800" b="1">
                <a:solidFill>
                  <a:srgbClr val="9B51E0"/>
                </a:solidFill>
                <a:latin typeface="Segoe UI"/>
              </a:rPr>
              <a:t>VIEWER</a:t>
            </a:r>
          </a:p>
        </p:txBody>
      </p:sp>
      <p:sp>
        <p:nvSpPr>
          <p:cNvPr id="22" name="TextBox 21"/>
          <p:cNvSpPr txBox="1"/>
          <p:nvPr/>
        </p:nvSpPr>
        <p:spPr>
          <a:xfrm>
            <a:off x="7827263" y="2103120"/>
            <a:ext cx="1691640" cy="521207"/>
          </a:xfrm>
          <a:prstGeom prst="rect">
            <a:avLst/>
          </a:prstGeom>
          <a:noFill/>
        </p:spPr>
        <p:txBody>
          <a:bodyPr wrap="none" lIns="0" rIns="0" tIns="0" bIns="0" anchor="t">
            <a:spAutoFit/>
          </a:bodyPr>
          <a:lstStyle/>
          <a:p>
            <a:pPr algn="l"/>
            <a:r>
              <a:rPr sz="1200" b="1">
                <a:solidFill>
                  <a:srgbClr val="18352F"/>
                </a:solidFill>
                <a:latin typeface="Segoe UI"/>
              </a:rPr>
              <a:t>Three.js
scene en bewijs</a:t>
            </a:r>
          </a:p>
        </p:txBody>
      </p:sp>
      <p:sp>
        <p:nvSpPr>
          <p:cNvPr id="23" name="Rounded Rectangle 22"/>
          <p:cNvSpPr/>
          <p:nvPr/>
        </p:nvSpPr>
        <p:spPr>
          <a:xfrm>
            <a:off x="10003536" y="1609344"/>
            <a:ext cx="1609344" cy="1143000"/>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03536" y="1609344"/>
            <a:ext cx="50292" cy="1143000"/>
          </a:xfrm>
          <a:prstGeom prst="rect">
            <a:avLst/>
          </a:prstGeom>
          <a:solidFill>
            <a:srgbClr val="D9683F"/>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86415" y="1773936"/>
            <a:ext cx="1243584" cy="182880"/>
          </a:xfrm>
          <a:prstGeom prst="rect">
            <a:avLst/>
          </a:prstGeom>
          <a:noFill/>
        </p:spPr>
        <p:txBody>
          <a:bodyPr wrap="none" lIns="0" rIns="0" tIns="0" bIns="0" anchor="t">
            <a:spAutoFit/>
          </a:bodyPr>
          <a:lstStyle/>
          <a:p>
            <a:pPr algn="l"/>
            <a:r>
              <a:rPr sz="800" b="1">
                <a:solidFill>
                  <a:srgbClr val="D9683F"/>
                </a:solidFill>
                <a:latin typeface="Segoe UI"/>
              </a:rPr>
              <a:t>RAPPORT</a:t>
            </a:r>
          </a:p>
        </p:txBody>
      </p:sp>
      <p:sp>
        <p:nvSpPr>
          <p:cNvPr id="26" name="TextBox 25"/>
          <p:cNvSpPr txBox="1"/>
          <p:nvPr/>
        </p:nvSpPr>
        <p:spPr>
          <a:xfrm>
            <a:off x="10186415" y="2103120"/>
            <a:ext cx="1243584" cy="521207"/>
          </a:xfrm>
          <a:prstGeom prst="rect">
            <a:avLst/>
          </a:prstGeom>
          <a:noFill/>
        </p:spPr>
        <p:txBody>
          <a:bodyPr wrap="none" lIns="0" rIns="0" tIns="0" bIns="0" anchor="t">
            <a:spAutoFit/>
          </a:bodyPr>
          <a:lstStyle/>
          <a:p>
            <a:pPr algn="l"/>
            <a:r>
              <a:rPr sz="1200" b="1">
                <a:solidFill>
                  <a:srgbClr val="18352F"/>
                </a:solidFill>
                <a:latin typeface="Segoe UI"/>
              </a:rPr>
              <a:t>HTML → PDF</a:t>
            </a:r>
          </a:p>
        </p:txBody>
      </p:sp>
      <p:cxnSp>
        <p:nvCxnSpPr>
          <p:cNvPr id="27" name="Connector 26"/>
          <p:cNvCxnSpPr/>
          <p:nvPr/>
        </p:nvCxnSpPr>
        <p:spPr>
          <a:xfrm>
            <a:off x="2624328" y="2176272"/>
            <a:ext cx="246888" cy="0"/>
          </a:xfrm>
          <a:prstGeom prst="line">
            <a:avLst/>
          </a:prstGeom>
          <a:ln w="17780">
            <a:solidFill>
              <a:srgbClr val="687B7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983480" y="2176272"/>
            <a:ext cx="246888" cy="0"/>
          </a:xfrm>
          <a:prstGeom prst="line">
            <a:avLst/>
          </a:prstGeom>
          <a:ln w="17780">
            <a:solidFill>
              <a:srgbClr val="687B75"/>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342631" y="2176272"/>
            <a:ext cx="246888" cy="0"/>
          </a:xfrm>
          <a:prstGeom prst="line">
            <a:avLst/>
          </a:prstGeom>
          <a:ln w="17780">
            <a:solidFill>
              <a:srgbClr val="687B75"/>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701784" y="2176272"/>
            <a:ext cx="246888" cy="0"/>
          </a:xfrm>
          <a:prstGeom prst="line">
            <a:avLst/>
          </a:prstGeom>
          <a:ln w="17780">
            <a:solidFill>
              <a:srgbClr val="687B75"/>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66928" y="3200400"/>
            <a:ext cx="6775704" cy="2039112"/>
          </a:xfrm>
          <a:prstGeom prst="roundRect">
            <a:avLst>
              <a:gd name="adj" fmla="val 8000"/>
            </a:avLst>
          </a:prstGeom>
          <a:solidFill>
            <a:srgbClr val="163A3B"/>
          </a:solidFill>
          <a:ln>
            <a:solidFill>
              <a:srgbClr val="163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 y="3474720"/>
            <a:ext cx="1645920" cy="201168"/>
          </a:xfrm>
          <a:prstGeom prst="rect">
            <a:avLst/>
          </a:prstGeom>
          <a:noFill/>
        </p:spPr>
        <p:txBody>
          <a:bodyPr wrap="none" lIns="0" rIns="0" tIns="0" bIns="0" anchor="t">
            <a:spAutoFit/>
          </a:bodyPr>
          <a:lstStyle/>
          <a:p>
            <a:pPr algn="l"/>
            <a:r>
              <a:rPr sz="800" b="1">
                <a:solidFill>
                  <a:srgbClr val="B7E6C8"/>
                </a:solidFill>
                <a:latin typeface="Segoe UI"/>
              </a:rPr>
              <a:t>LOKALE DATAROUTE</a:t>
            </a:r>
          </a:p>
        </p:txBody>
      </p:sp>
      <p:sp>
        <p:nvSpPr>
          <p:cNvPr id="33" name="TextBox 32"/>
          <p:cNvSpPr txBox="1"/>
          <p:nvPr/>
        </p:nvSpPr>
        <p:spPr>
          <a:xfrm>
            <a:off x="841248" y="3950208"/>
            <a:ext cx="1143000" cy="201168"/>
          </a:xfrm>
          <a:prstGeom prst="rect">
            <a:avLst/>
          </a:prstGeom>
          <a:noFill/>
        </p:spPr>
        <p:txBody>
          <a:bodyPr wrap="none" lIns="0" rIns="0" tIns="0" bIns="0" anchor="t">
            <a:spAutoFit/>
          </a:bodyPr>
          <a:lstStyle/>
          <a:p>
            <a:pPr algn="l"/>
            <a:r>
              <a:rPr sz="1000" b="1">
                <a:solidFill>
                  <a:srgbClr val="FFFFFF"/>
                </a:solidFill>
                <a:latin typeface="Segoe UI"/>
              </a:rPr>
              <a:t>PROJECT</a:t>
            </a:r>
          </a:p>
        </p:txBody>
      </p:sp>
      <p:sp>
        <p:nvSpPr>
          <p:cNvPr id="34" name="TextBox 33"/>
          <p:cNvSpPr txBox="1"/>
          <p:nvPr/>
        </p:nvSpPr>
        <p:spPr>
          <a:xfrm>
            <a:off x="841248" y="4297680"/>
            <a:ext cx="1243584" cy="347472"/>
          </a:xfrm>
          <a:prstGeom prst="rect">
            <a:avLst/>
          </a:prstGeom>
          <a:noFill/>
        </p:spPr>
        <p:txBody>
          <a:bodyPr wrap="none" lIns="0" rIns="0" tIns="0" bIns="0" anchor="t">
            <a:spAutoFit/>
          </a:bodyPr>
          <a:lstStyle/>
          <a:p>
            <a:pPr algn="l"/>
            <a:r>
              <a:rPr sz="900" b="0">
                <a:solidFill>
                  <a:srgbClr val="B7E6C8"/>
                </a:solidFill>
                <a:latin typeface="Segoe UI"/>
              </a:rPr>
              <a:t>bron + werkmodel</a:t>
            </a:r>
          </a:p>
        </p:txBody>
      </p:sp>
      <p:cxnSp>
        <p:nvCxnSpPr>
          <p:cNvPr id="35" name="Connector 34"/>
          <p:cNvCxnSpPr/>
          <p:nvPr/>
        </p:nvCxnSpPr>
        <p:spPr>
          <a:xfrm>
            <a:off x="1975104" y="4069080"/>
            <a:ext cx="274320" cy="0"/>
          </a:xfrm>
          <a:prstGeom prst="line">
            <a:avLst/>
          </a:prstGeom>
          <a:ln w="16510">
            <a:solidFill>
              <a:srgbClr val="9DBDB5"/>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395728" y="3950208"/>
            <a:ext cx="1143000" cy="201168"/>
          </a:xfrm>
          <a:prstGeom prst="rect">
            <a:avLst/>
          </a:prstGeom>
          <a:noFill/>
        </p:spPr>
        <p:txBody>
          <a:bodyPr wrap="none" lIns="0" rIns="0" tIns="0" bIns="0" anchor="t">
            <a:spAutoFit/>
          </a:bodyPr>
          <a:lstStyle/>
          <a:p>
            <a:pPr algn="l"/>
            <a:r>
              <a:rPr sz="1000" b="1">
                <a:solidFill>
                  <a:srgbClr val="FFFFFF"/>
                </a:solidFill>
                <a:latin typeface="Segoe UI"/>
              </a:rPr>
              <a:t>RUN</a:t>
            </a:r>
          </a:p>
        </p:txBody>
      </p:sp>
      <p:sp>
        <p:nvSpPr>
          <p:cNvPr id="37" name="TextBox 36"/>
          <p:cNvSpPr txBox="1"/>
          <p:nvPr/>
        </p:nvSpPr>
        <p:spPr>
          <a:xfrm>
            <a:off x="2395728" y="4297680"/>
            <a:ext cx="1243584" cy="347472"/>
          </a:xfrm>
          <a:prstGeom prst="rect">
            <a:avLst/>
          </a:prstGeom>
          <a:noFill/>
        </p:spPr>
        <p:txBody>
          <a:bodyPr wrap="none" lIns="0" rIns="0" tIns="0" bIns="0" anchor="t">
            <a:spAutoFit/>
          </a:bodyPr>
          <a:lstStyle/>
          <a:p>
            <a:pPr algn="l"/>
            <a:r>
              <a:rPr sz="900" b="0">
                <a:solidFill>
                  <a:srgbClr val="B7E6C8"/>
                </a:solidFill>
                <a:latin typeface="Segoe UI"/>
              </a:rPr>
              <a:t>job + kopieën</a:t>
            </a:r>
          </a:p>
        </p:txBody>
      </p:sp>
      <p:cxnSp>
        <p:nvCxnSpPr>
          <p:cNvPr id="38" name="Connector 37"/>
          <p:cNvCxnSpPr/>
          <p:nvPr/>
        </p:nvCxnSpPr>
        <p:spPr>
          <a:xfrm>
            <a:off x="3529584" y="4069080"/>
            <a:ext cx="274320" cy="0"/>
          </a:xfrm>
          <a:prstGeom prst="line">
            <a:avLst/>
          </a:prstGeom>
          <a:ln w="16510">
            <a:solidFill>
              <a:srgbClr val="9DBDB5"/>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950208" y="3950208"/>
            <a:ext cx="1143000" cy="201168"/>
          </a:xfrm>
          <a:prstGeom prst="rect">
            <a:avLst/>
          </a:prstGeom>
          <a:noFill/>
        </p:spPr>
        <p:txBody>
          <a:bodyPr wrap="none" lIns="0" rIns="0" tIns="0" bIns="0" anchor="t">
            <a:spAutoFit/>
          </a:bodyPr>
          <a:lstStyle/>
          <a:p>
            <a:pPr algn="l"/>
            <a:r>
              <a:rPr sz="1000" b="1">
                <a:solidFill>
                  <a:srgbClr val="FFFFFF"/>
                </a:solidFill>
                <a:latin typeface="Segoe UI"/>
              </a:rPr>
              <a:t>DATA</a:t>
            </a:r>
          </a:p>
        </p:txBody>
      </p:sp>
      <p:sp>
        <p:nvSpPr>
          <p:cNvPr id="40" name="TextBox 39"/>
          <p:cNvSpPr txBox="1"/>
          <p:nvPr/>
        </p:nvSpPr>
        <p:spPr>
          <a:xfrm>
            <a:off x="3950208" y="4297680"/>
            <a:ext cx="1243584" cy="347472"/>
          </a:xfrm>
          <a:prstGeom prst="rect">
            <a:avLst/>
          </a:prstGeom>
          <a:noFill/>
        </p:spPr>
        <p:txBody>
          <a:bodyPr wrap="none" lIns="0" rIns="0" tIns="0" bIns="0" anchor="t">
            <a:spAutoFit/>
          </a:bodyPr>
          <a:lstStyle/>
          <a:p>
            <a:pPr algn="l"/>
            <a:r>
              <a:rPr sz="900" b="0">
                <a:solidFill>
                  <a:srgbClr val="B7E6C8"/>
                </a:solidFill>
                <a:latin typeface="Segoe UI"/>
              </a:rPr>
              <a:t>meetwaarden + scene</a:t>
            </a:r>
          </a:p>
        </p:txBody>
      </p:sp>
      <p:cxnSp>
        <p:nvCxnSpPr>
          <p:cNvPr id="41" name="Connector 40"/>
          <p:cNvCxnSpPr/>
          <p:nvPr/>
        </p:nvCxnSpPr>
        <p:spPr>
          <a:xfrm>
            <a:off x="5084064" y="4069080"/>
            <a:ext cx="274320" cy="0"/>
          </a:xfrm>
          <a:prstGeom prst="line">
            <a:avLst/>
          </a:prstGeom>
          <a:ln w="16510">
            <a:solidFill>
              <a:srgbClr val="9DBDB5"/>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504688" y="3950208"/>
            <a:ext cx="1143000" cy="201168"/>
          </a:xfrm>
          <a:prstGeom prst="rect">
            <a:avLst/>
          </a:prstGeom>
          <a:noFill/>
        </p:spPr>
        <p:txBody>
          <a:bodyPr wrap="none" lIns="0" rIns="0" tIns="0" bIns="0" anchor="t">
            <a:spAutoFit/>
          </a:bodyPr>
          <a:lstStyle/>
          <a:p>
            <a:pPr algn="l"/>
            <a:r>
              <a:rPr sz="1000" b="1">
                <a:solidFill>
                  <a:srgbClr val="FFFFFF"/>
                </a:solidFill>
                <a:latin typeface="Segoe UI"/>
              </a:rPr>
              <a:t>OUTPUT</a:t>
            </a:r>
          </a:p>
        </p:txBody>
      </p:sp>
      <p:sp>
        <p:nvSpPr>
          <p:cNvPr id="43" name="TextBox 42"/>
          <p:cNvSpPr txBox="1"/>
          <p:nvPr/>
        </p:nvSpPr>
        <p:spPr>
          <a:xfrm>
            <a:off x="5504688" y="4297680"/>
            <a:ext cx="1243584" cy="347472"/>
          </a:xfrm>
          <a:prstGeom prst="rect">
            <a:avLst/>
          </a:prstGeom>
          <a:noFill/>
        </p:spPr>
        <p:txBody>
          <a:bodyPr wrap="none" lIns="0" rIns="0" tIns="0" bIns="0" anchor="t">
            <a:spAutoFit/>
          </a:bodyPr>
          <a:lstStyle/>
          <a:p>
            <a:pPr algn="l"/>
            <a:r>
              <a:rPr sz="900" b="0">
                <a:solidFill>
                  <a:srgbClr val="B7E6C8"/>
                </a:solidFill>
                <a:latin typeface="Segoe UI"/>
              </a:rPr>
              <a:t>viewer + rapport</a:t>
            </a:r>
          </a:p>
        </p:txBody>
      </p:sp>
      <p:sp>
        <p:nvSpPr>
          <p:cNvPr id="44" name="Rounded Rectangle 43"/>
          <p:cNvSpPr/>
          <p:nvPr/>
        </p:nvSpPr>
        <p:spPr>
          <a:xfrm>
            <a:off x="7644383" y="3200400"/>
            <a:ext cx="3968496" cy="2039112"/>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18704" y="3474720"/>
            <a:ext cx="2011680" cy="201168"/>
          </a:xfrm>
          <a:prstGeom prst="rect">
            <a:avLst/>
          </a:prstGeom>
          <a:noFill/>
        </p:spPr>
        <p:txBody>
          <a:bodyPr wrap="none" lIns="0" rIns="0" tIns="0" bIns="0" anchor="t">
            <a:spAutoFit/>
          </a:bodyPr>
          <a:lstStyle/>
          <a:p>
            <a:pPr algn="l"/>
            <a:r>
              <a:rPr sz="800" b="1">
                <a:solidFill>
                  <a:srgbClr val="D9683F"/>
                </a:solidFill>
                <a:latin typeface="Segoe UI"/>
              </a:rPr>
              <a:t>OPTIONELE EXTERNE ROUTE</a:t>
            </a:r>
          </a:p>
        </p:txBody>
      </p:sp>
      <p:sp>
        <p:nvSpPr>
          <p:cNvPr id="46" name="TextBox 45"/>
          <p:cNvSpPr txBox="1"/>
          <p:nvPr/>
        </p:nvSpPr>
        <p:spPr>
          <a:xfrm>
            <a:off x="7918704" y="3913632"/>
            <a:ext cx="1810512" cy="256032"/>
          </a:xfrm>
          <a:prstGeom prst="rect">
            <a:avLst/>
          </a:prstGeom>
          <a:noFill/>
        </p:spPr>
        <p:txBody>
          <a:bodyPr wrap="none" lIns="0" rIns="0" tIns="0" bIns="0" anchor="t">
            <a:spAutoFit/>
          </a:bodyPr>
          <a:lstStyle/>
          <a:p>
            <a:pPr algn="l"/>
            <a:r>
              <a:rPr sz="1100" b="1">
                <a:solidFill>
                  <a:srgbClr val="18352F"/>
                </a:solidFill>
                <a:latin typeface="Segoe UI"/>
              </a:rPr>
              <a:t>Begrensd tekstpakket</a:t>
            </a:r>
          </a:p>
        </p:txBody>
      </p:sp>
      <p:cxnSp>
        <p:nvCxnSpPr>
          <p:cNvPr id="47" name="Connector 46"/>
          <p:cNvCxnSpPr/>
          <p:nvPr/>
        </p:nvCxnSpPr>
        <p:spPr>
          <a:xfrm>
            <a:off x="9802368" y="4050791"/>
            <a:ext cx="329184" cy="0"/>
          </a:xfrm>
          <a:prstGeom prst="line">
            <a:avLst/>
          </a:prstGeom>
          <a:ln w="22860">
            <a:solidFill>
              <a:srgbClr val="D9683F"/>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0222992" y="3913632"/>
            <a:ext cx="1078992" cy="256032"/>
          </a:xfrm>
          <a:prstGeom prst="rect">
            <a:avLst/>
          </a:prstGeom>
          <a:noFill/>
        </p:spPr>
        <p:txBody>
          <a:bodyPr wrap="none" lIns="0" rIns="0" tIns="0" bIns="0" anchor="t">
            <a:spAutoFit/>
          </a:bodyPr>
          <a:lstStyle/>
          <a:p>
            <a:pPr algn="l"/>
            <a:r>
              <a:rPr sz="1200" b="1">
                <a:solidFill>
                  <a:srgbClr val="18352F"/>
                </a:solidFill>
                <a:latin typeface="Segoe UI"/>
              </a:rPr>
              <a:t>AI-endpoint</a:t>
            </a:r>
          </a:p>
        </p:txBody>
      </p:sp>
      <p:sp>
        <p:nvSpPr>
          <p:cNvPr id="49" name="TextBox 48"/>
          <p:cNvSpPr txBox="1"/>
          <p:nvPr/>
        </p:nvSpPr>
        <p:spPr>
          <a:xfrm>
            <a:off x="7918704" y="4489704"/>
            <a:ext cx="3108960" cy="411480"/>
          </a:xfrm>
          <a:prstGeom prst="rect">
            <a:avLst/>
          </a:prstGeom>
          <a:noFill/>
        </p:spPr>
        <p:txBody>
          <a:bodyPr wrap="none" lIns="0" rIns="0" tIns="0" bIns="0" anchor="t">
            <a:spAutoFit/>
          </a:bodyPr>
          <a:lstStyle/>
          <a:p>
            <a:pPr algn="l"/>
            <a:r>
              <a:rPr sz="900" b="0">
                <a:solidFill>
                  <a:srgbClr val="687B75"/>
                </a:solidFill>
                <a:latin typeface="Segoe UI"/>
              </a:rPr>
              <a:t>Geen afbeeldingen
of ruwe geometrie</a:t>
            </a:r>
          </a:p>
        </p:txBody>
      </p:sp>
      <p:pic>
        <p:nvPicPr>
          <p:cNvPr id="50" name="Picture 49" descr="parkhaven-logo.png"/>
          <p:cNvPicPr>
            <a:picLocks noChangeAspect="1"/>
          </p:cNvPicPr>
          <p:nvPr/>
        </p:nvPicPr>
        <p:blipFill>
          <a:blip r:embed="rId2"/>
          <a:stretch>
            <a:fillRect/>
          </a:stretch>
        </p:blipFill>
        <p:spPr>
          <a:xfrm>
            <a:off x="566928" y="6364224"/>
            <a:ext cx="208434" cy="338328"/>
          </a:xfrm>
          <a:prstGeom prst="rect">
            <a:avLst/>
          </a:prstGeom>
        </p:spPr>
      </p:pic>
      <p:sp>
        <p:nvSpPr>
          <p:cNvPr id="51" name="TextBox 50"/>
          <p:cNvSpPr txBox="1"/>
          <p:nvPr/>
        </p:nvSpPr>
        <p:spPr>
          <a:xfrm>
            <a:off x="932688" y="6428232"/>
            <a:ext cx="2011680" cy="182880"/>
          </a:xfrm>
          <a:prstGeom prst="rect">
            <a:avLst/>
          </a:prstGeom>
          <a:noFill/>
        </p:spPr>
        <p:txBody>
          <a:bodyPr wrap="none" lIns="0" rIns="0">
            <a:spAutoFit/>
          </a:bodyPr>
          <a:lstStyle/>
          <a:p>
            <a:pPr algn="l"/>
            <a:r>
              <a:rPr sz="800" b="1">
                <a:solidFill>
                  <a:srgbClr val="18352F"/>
                </a:solidFill>
                <a:latin typeface="Segoe UI"/>
              </a:rPr>
              <a:t>PARKHAVEN </a:t>
            </a:r>
            <a:r>
              <a:rPr sz="800" b="0">
                <a:solidFill>
                  <a:srgbClr val="687B75"/>
                </a:solidFill>
                <a:latin typeface="Segoe UI"/>
              </a:rPr>
              <a:t>STUDIO</a:t>
            </a:r>
          </a:p>
        </p:txBody>
      </p:sp>
      <p:sp>
        <p:nvSpPr>
          <p:cNvPr id="52" name="TextBox 51"/>
          <p:cNvSpPr txBox="1"/>
          <p:nvPr/>
        </p:nvSpPr>
        <p:spPr>
          <a:xfrm>
            <a:off x="8001000" y="6428232"/>
            <a:ext cx="3611880" cy="182880"/>
          </a:xfrm>
          <a:prstGeom prst="rect">
            <a:avLst/>
          </a:prstGeom>
          <a:noFill/>
        </p:spPr>
        <p:txBody>
          <a:bodyPr wrap="none" lIns="0" rIns="0" tIns="0" bIns="0" anchor="t">
            <a:spAutoFit/>
          </a:bodyPr>
          <a:lstStyle/>
          <a:p>
            <a:pPr algn="r"/>
            <a:r>
              <a:rPr sz="700" b="1">
                <a:solidFill>
                  <a:srgbClr val="687B75"/>
                </a:solidFill>
                <a:latin typeface="Segoe UI"/>
              </a:rPr>
              <a:t>LOKAAL • HERLEIDBAAR • MODELGEBASEERD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EFE9"/>
          </a:solidFill>
          <a:ln>
            <a:solidFill>
              <a:srgbClr val="ECE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040880" cy="274320"/>
          </a:xfrm>
          <a:prstGeom prst="rect">
            <a:avLst/>
          </a:prstGeom>
          <a:noFill/>
        </p:spPr>
        <p:txBody>
          <a:bodyPr wrap="none" lIns="0" rIns="0" tIns="0" bIns="0" anchor="t">
            <a:spAutoFit/>
          </a:bodyPr>
          <a:lstStyle/>
          <a:p>
            <a:pPr algn="l"/>
            <a:r>
              <a:rPr sz="900" b="1">
                <a:solidFill>
                  <a:srgbClr val="687B75"/>
                </a:solidFill>
                <a:latin typeface="Segoe UI"/>
              </a:rPr>
              <a:t>TECHNISCHE VERDIEPING I</a:t>
            </a:r>
          </a:p>
        </p:txBody>
      </p:sp>
      <p:sp>
        <p:nvSpPr>
          <p:cNvPr id="4" name="TextBox 3"/>
          <p:cNvSpPr txBox="1"/>
          <p:nvPr/>
        </p:nvSpPr>
        <p:spPr>
          <a:xfrm>
            <a:off x="566928" y="640080"/>
            <a:ext cx="10789920" cy="621792"/>
          </a:xfrm>
          <a:prstGeom prst="rect">
            <a:avLst/>
          </a:prstGeom>
          <a:noFill/>
        </p:spPr>
        <p:txBody>
          <a:bodyPr wrap="none" lIns="0" rIns="0" tIns="0" bIns="0" anchor="t">
            <a:spAutoFit/>
          </a:bodyPr>
          <a:lstStyle/>
          <a:p>
            <a:pPr algn="l"/>
            <a:r>
              <a:rPr sz="2700" b="1">
                <a:solidFill>
                  <a:srgbClr val="18352F"/>
                </a:solidFill>
                <a:latin typeface="Segoe UI"/>
              </a:rPr>
              <a:t>Iedere analyse is een geïsoleerde, herleidbare run</a:t>
            </a:r>
          </a:p>
        </p:txBody>
      </p:sp>
      <p:sp>
        <p:nvSpPr>
          <p:cNvPr id="5" name="TextBox 4"/>
          <p:cNvSpPr txBox="1"/>
          <p:nvPr/>
        </p:nvSpPr>
        <p:spPr>
          <a:xfrm>
            <a:off x="11109960" y="365760"/>
            <a:ext cx="502920" cy="256032"/>
          </a:xfrm>
          <a:prstGeom prst="rect">
            <a:avLst/>
          </a:prstGeom>
          <a:noFill/>
        </p:spPr>
        <p:txBody>
          <a:bodyPr wrap="none" lIns="0" rIns="0" tIns="0" bIns="0" anchor="t">
            <a:spAutoFit/>
          </a:bodyPr>
          <a:lstStyle/>
          <a:p>
            <a:pPr algn="r"/>
            <a:r>
              <a:rPr sz="900" b="1">
                <a:solidFill>
                  <a:srgbClr val="687B75"/>
                </a:solidFill>
                <a:latin typeface="Segoe UI"/>
              </a:rPr>
              <a:t>07</a:t>
            </a:r>
          </a:p>
        </p:txBody>
      </p:sp>
      <p:sp>
        <p:nvSpPr>
          <p:cNvPr id="6" name="Rectangle 5"/>
          <p:cNvSpPr/>
          <p:nvPr/>
        </p:nvSpPr>
        <p:spPr>
          <a:xfrm>
            <a:off x="566928" y="1325880"/>
            <a:ext cx="11045952" cy="13716"/>
          </a:xfrm>
          <a:prstGeom prst="rect">
            <a:avLst/>
          </a:prstGeom>
          <a:solidFill>
            <a:srgbClr val="D5DDD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627632"/>
            <a:ext cx="2029968" cy="1060704"/>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50292" cy="1060704"/>
          </a:xfrm>
          <a:prstGeom prst="rect">
            <a:avLst/>
          </a:prstGeom>
          <a:solidFill>
            <a:srgbClr val="2F80ED"/>
          </a:solidFill>
          <a:ln>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792224"/>
            <a:ext cx="1664208" cy="182880"/>
          </a:xfrm>
          <a:prstGeom prst="rect">
            <a:avLst/>
          </a:prstGeom>
          <a:noFill/>
        </p:spPr>
        <p:txBody>
          <a:bodyPr wrap="none" lIns="0" rIns="0" tIns="0" bIns="0" anchor="t">
            <a:spAutoFit/>
          </a:bodyPr>
          <a:lstStyle/>
          <a:p>
            <a:pPr algn="l"/>
            <a:r>
              <a:rPr sz="800" b="1">
                <a:solidFill>
                  <a:srgbClr val="2F80ED"/>
                </a:solidFill>
                <a:latin typeface="Segoe UI"/>
              </a:rPr>
              <a:t>BRON</a:t>
            </a:r>
          </a:p>
        </p:txBody>
      </p:sp>
      <p:sp>
        <p:nvSpPr>
          <p:cNvPr id="10" name="TextBox 9"/>
          <p:cNvSpPr txBox="1"/>
          <p:nvPr/>
        </p:nvSpPr>
        <p:spPr>
          <a:xfrm>
            <a:off x="749808" y="2121408"/>
            <a:ext cx="1664208" cy="438911"/>
          </a:xfrm>
          <a:prstGeom prst="rect">
            <a:avLst/>
          </a:prstGeom>
          <a:noFill/>
        </p:spPr>
        <p:txBody>
          <a:bodyPr wrap="none" lIns="0" rIns="0" tIns="0" bIns="0" anchor="t">
            <a:spAutoFit/>
          </a:bodyPr>
          <a:lstStyle/>
          <a:p>
            <a:pPr algn="l"/>
            <a:r>
              <a:rPr sz="1200" b="1">
                <a:solidFill>
                  <a:srgbClr val="18352F"/>
                </a:solidFill>
                <a:latin typeface="Segoe UI"/>
              </a:rPr>
              <a:t>original-design.3dm
ongewijzigd</a:t>
            </a:r>
          </a:p>
        </p:txBody>
      </p:sp>
      <p:cxnSp>
        <p:nvCxnSpPr>
          <p:cNvPr id="11" name="Connector 10"/>
          <p:cNvCxnSpPr/>
          <p:nvPr/>
        </p:nvCxnSpPr>
        <p:spPr>
          <a:xfrm>
            <a:off x="2596896" y="2157984"/>
            <a:ext cx="420624" cy="0"/>
          </a:xfrm>
          <a:prstGeom prst="line">
            <a:avLst/>
          </a:prstGeom>
          <a:ln w="22860">
            <a:solidFill>
              <a:srgbClr val="687B75"/>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054096" y="1627632"/>
            <a:ext cx="2029968" cy="1060704"/>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54096" y="1627632"/>
            <a:ext cx="50292" cy="1060704"/>
          </a:xfrm>
          <a:prstGeom prst="rect">
            <a:avLst/>
          </a:prstGeom>
          <a:solidFill>
            <a:srgbClr val="D7A35D"/>
          </a:solidFill>
          <a:ln>
            <a:solidFill>
              <a:srgbClr val="D7A3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36976" y="1792224"/>
            <a:ext cx="1664208" cy="182880"/>
          </a:xfrm>
          <a:prstGeom prst="rect">
            <a:avLst/>
          </a:prstGeom>
          <a:noFill/>
        </p:spPr>
        <p:txBody>
          <a:bodyPr wrap="none" lIns="0" rIns="0" tIns="0" bIns="0" anchor="t">
            <a:spAutoFit/>
          </a:bodyPr>
          <a:lstStyle/>
          <a:p>
            <a:pPr algn="l"/>
            <a:r>
              <a:rPr sz="800" b="1">
                <a:solidFill>
                  <a:srgbClr val="D7A35D"/>
                </a:solidFill>
                <a:latin typeface="Segoe UI"/>
              </a:rPr>
              <a:t>WERKMODEL</a:t>
            </a:r>
          </a:p>
        </p:txBody>
      </p:sp>
      <p:sp>
        <p:nvSpPr>
          <p:cNvPr id="15" name="TextBox 14"/>
          <p:cNvSpPr txBox="1"/>
          <p:nvPr/>
        </p:nvSpPr>
        <p:spPr>
          <a:xfrm>
            <a:off x="3236976" y="2121408"/>
            <a:ext cx="1664208" cy="438911"/>
          </a:xfrm>
          <a:prstGeom prst="rect">
            <a:avLst/>
          </a:prstGeom>
          <a:noFill/>
        </p:spPr>
        <p:txBody>
          <a:bodyPr wrap="none" lIns="0" rIns="0" tIns="0" bIns="0" anchor="t">
            <a:spAutoFit/>
          </a:bodyPr>
          <a:lstStyle/>
          <a:p>
            <a:pPr algn="l"/>
            <a:r>
              <a:rPr sz="1200" b="1">
                <a:solidFill>
                  <a:srgbClr val="18352F"/>
                </a:solidFill>
                <a:latin typeface="Segoe UI"/>
              </a:rPr>
              <a:t>parkhaven-design.3dm
plaatsing goedgekeurd</a:t>
            </a:r>
          </a:p>
        </p:txBody>
      </p:sp>
      <p:cxnSp>
        <p:nvCxnSpPr>
          <p:cNvPr id="16" name="Connector 15"/>
          <p:cNvCxnSpPr/>
          <p:nvPr/>
        </p:nvCxnSpPr>
        <p:spPr>
          <a:xfrm>
            <a:off x="5084064" y="2157984"/>
            <a:ext cx="420624" cy="0"/>
          </a:xfrm>
          <a:prstGeom prst="line">
            <a:avLst/>
          </a:prstGeom>
          <a:ln w="22860">
            <a:solidFill>
              <a:srgbClr val="687B75"/>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541264" y="1481328"/>
            <a:ext cx="6071616" cy="3584448"/>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15584" y="1755648"/>
            <a:ext cx="1371600" cy="201168"/>
          </a:xfrm>
          <a:prstGeom prst="rect">
            <a:avLst/>
          </a:prstGeom>
          <a:noFill/>
        </p:spPr>
        <p:txBody>
          <a:bodyPr wrap="none" lIns="0" rIns="0" tIns="0" bIns="0" anchor="t">
            <a:spAutoFit/>
          </a:bodyPr>
          <a:lstStyle/>
          <a:p>
            <a:pPr algn="l"/>
            <a:r>
              <a:rPr sz="900" b="1">
                <a:solidFill>
                  <a:srgbClr val="1F684E"/>
                </a:solidFill>
                <a:latin typeface="Segoe UI"/>
              </a:rPr>
              <a:t>RUN / UUID</a:t>
            </a:r>
          </a:p>
        </p:txBody>
      </p:sp>
      <p:sp>
        <p:nvSpPr>
          <p:cNvPr id="19" name="TextBox 18"/>
          <p:cNvSpPr txBox="1"/>
          <p:nvPr/>
        </p:nvSpPr>
        <p:spPr>
          <a:xfrm>
            <a:off x="5852160" y="2157984"/>
            <a:ext cx="2359152" cy="182880"/>
          </a:xfrm>
          <a:prstGeom prst="rect">
            <a:avLst/>
          </a:prstGeom>
          <a:noFill/>
        </p:spPr>
        <p:txBody>
          <a:bodyPr wrap="none" lIns="0" rIns="0" tIns="0" bIns="0" anchor="t">
            <a:spAutoFit/>
          </a:bodyPr>
          <a:lstStyle/>
          <a:p>
            <a:pPr algn="l"/>
            <a:r>
              <a:rPr sz="900" b="1">
                <a:solidFill>
                  <a:srgbClr val="18352F"/>
                </a:solidFill>
                <a:latin typeface="Segoe UI"/>
              </a:rPr>
              <a:t>job.json</a:t>
            </a:r>
          </a:p>
        </p:txBody>
      </p:sp>
      <p:sp>
        <p:nvSpPr>
          <p:cNvPr id="20" name="TextBox 19"/>
          <p:cNvSpPr txBox="1"/>
          <p:nvPr/>
        </p:nvSpPr>
        <p:spPr>
          <a:xfrm>
            <a:off x="8302752" y="2157984"/>
            <a:ext cx="2724912" cy="182880"/>
          </a:xfrm>
          <a:prstGeom prst="rect">
            <a:avLst/>
          </a:prstGeom>
          <a:noFill/>
        </p:spPr>
        <p:txBody>
          <a:bodyPr wrap="none" lIns="0" rIns="0" tIns="0" bIns="0" anchor="t">
            <a:spAutoFit/>
          </a:bodyPr>
          <a:lstStyle/>
          <a:p>
            <a:pPr algn="l"/>
            <a:r>
              <a:rPr sz="800" b="0">
                <a:solidFill>
                  <a:srgbClr val="687B75"/>
                </a:solidFill>
                <a:latin typeface="Segoe UI"/>
              </a:rPr>
              <a:t>status, versies, timing</a:t>
            </a:r>
          </a:p>
        </p:txBody>
      </p:sp>
      <p:sp>
        <p:nvSpPr>
          <p:cNvPr id="21" name="TextBox 20"/>
          <p:cNvSpPr txBox="1"/>
          <p:nvPr/>
        </p:nvSpPr>
        <p:spPr>
          <a:xfrm>
            <a:off x="5852160" y="2514600"/>
            <a:ext cx="2359152" cy="182880"/>
          </a:xfrm>
          <a:prstGeom prst="rect">
            <a:avLst/>
          </a:prstGeom>
          <a:noFill/>
        </p:spPr>
        <p:txBody>
          <a:bodyPr wrap="none" lIns="0" rIns="0" tIns="0" bIns="0" anchor="t">
            <a:spAutoFit/>
          </a:bodyPr>
          <a:lstStyle/>
          <a:p>
            <a:pPr algn="l"/>
            <a:r>
              <a:rPr sz="900" b="1">
                <a:solidFill>
                  <a:srgbClr val="18352F"/>
                </a:solidFill>
                <a:latin typeface="Segoe UI"/>
              </a:rPr>
              <a:t>design.3dm</a:t>
            </a:r>
          </a:p>
        </p:txBody>
      </p:sp>
      <p:sp>
        <p:nvSpPr>
          <p:cNvPr id="22" name="TextBox 21"/>
          <p:cNvSpPr txBox="1"/>
          <p:nvPr/>
        </p:nvSpPr>
        <p:spPr>
          <a:xfrm>
            <a:off x="8302752" y="2514600"/>
            <a:ext cx="2724912" cy="182880"/>
          </a:xfrm>
          <a:prstGeom prst="rect">
            <a:avLst/>
          </a:prstGeom>
          <a:noFill/>
        </p:spPr>
        <p:txBody>
          <a:bodyPr wrap="none" lIns="0" rIns="0" tIns="0" bIns="0" anchor="t">
            <a:spAutoFit/>
          </a:bodyPr>
          <a:lstStyle/>
          <a:p>
            <a:pPr algn="l"/>
            <a:r>
              <a:rPr sz="800" b="0">
                <a:solidFill>
                  <a:srgbClr val="687B75"/>
                </a:solidFill>
                <a:latin typeface="Segoe UI"/>
              </a:rPr>
              <a:t>runlokale modelkopie</a:t>
            </a:r>
          </a:p>
        </p:txBody>
      </p:sp>
      <p:sp>
        <p:nvSpPr>
          <p:cNvPr id="23" name="TextBox 22"/>
          <p:cNvSpPr txBox="1"/>
          <p:nvPr/>
        </p:nvSpPr>
        <p:spPr>
          <a:xfrm>
            <a:off x="5852160" y="2871215"/>
            <a:ext cx="2359152" cy="182880"/>
          </a:xfrm>
          <a:prstGeom prst="rect">
            <a:avLst/>
          </a:prstGeom>
          <a:noFill/>
        </p:spPr>
        <p:txBody>
          <a:bodyPr wrap="none" lIns="0" rIns="0" tIns="0" bIns="0" anchor="t">
            <a:spAutoFit/>
          </a:bodyPr>
          <a:lstStyle/>
          <a:p>
            <a:pPr algn="l"/>
            <a:r>
              <a:rPr sz="900" b="1">
                <a:solidFill>
                  <a:srgbClr val="18352F"/>
                </a:solidFill>
                <a:latin typeface="Segoe UI"/>
              </a:rPr>
              <a:t>ParkHaven_Analysis.ghx</a:t>
            </a:r>
          </a:p>
        </p:txBody>
      </p:sp>
      <p:sp>
        <p:nvSpPr>
          <p:cNvPr id="24" name="TextBox 23"/>
          <p:cNvSpPr txBox="1"/>
          <p:nvPr/>
        </p:nvSpPr>
        <p:spPr>
          <a:xfrm>
            <a:off x="8302752" y="2871215"/>
            <a:ext cx="2724912" cy="182880"/>
          </a:xfrm>
          <a:prstGeom prst="rect">
            <a:avLst/>
          </a:prstGeom>
          <a:noFill/>
        </p:spPr>
        <p:txBody>
          <a:bodyPr wrap="none" lIns="0" rIns="0" tIns="0" bIns="0" anchor="t">
            <a:spAutoFit/>
          </a:bodyPr>
          <a:lstStyle/>
          <a:p>
            <a:pPr algn="l"/>
            <a:r>
              <a:rPr sz="800" b="0">
                <a:solidFill>
                  <a:srgbClr val="687B75"/>
                </a:solidFill>
                <a:latin typeface="Segoe UI"/>
              </a:rPr>
              <a:t>vaste rekendefinitie</a:t>
            </a:r>
          </a:p>
        </p:txBody>
      </p:sp>
      <p:sp>
        <p:nvSpPr>
          <p:cNvPr id="25" name="TextBox 24"/>
          <p:cNvSpPr txBox="1"/>
          <p:nvPr/>
        </p:nvSpPr>
        <p:spPr>
          <a:xfrm>
            <a:off x="5852160" y="3227832"/>
            <a:ext cx="2359152" cy="182880"/>
          </a:xfrm>
          <a:prstGeom prst="rect">
            <a:avLst/>
          </a:prstGeom>
          <a:noFill/>
        </p:spPr>
        <p:txBody>
          <a:bodyPr wrap="none" lIns="0" rIns="0" tIns="0" bIns="0" anchor="t">
            <a:spAutoFit/>
          </a:bodyPr>
          <a:lstStyle/>
          <a:p>
            <a:pPr algn="l"/>
            <a:r>
              <a:rPr sz="900" b="1">
                <a:solidFill>
                  <a:srgbClr val="18352F"/>
                </a:solidFill>
                <a:latin typeface="Segoe UI"/>
              </a:rPr>
              <a:t>weather/</a:t>
            </a:r>
          </a:p>
        </p:txBody>
      </p:sp>
      <p:sp>
        <p:nvSpPr>
          <p:cNvPr id="26" name="TextBox 25"/>
          <p:cNvSpPr txBox="1"/>
          <p:nvPr/>
        </p:nvSpPr>
        <p:spPr>
          <a:xfrm>
            <a:off x="8302752" y="3227832"/>
            <a:ext cx="2724912" cy="182880"/>
          </a:xfrm>
          <a:prstGeom prst="rect">
            <a:avLst/>
          </a:prstGeom>
          <a:noFill/>
        </p:spPr>
        <p:txBody>
          <a:bodyPr wrap="none" lIns="0" rIns="0" tIns="0" bIns="0" anchor="t">
            <a:spAutoFit/>
          </a:bodyPr>
          <a:lstStyle/>
          <a:p>
            <a:pPr algn="l"/>
            <a:r>
              <a:rPr sz="800" b="0">
                <a:solidFill>
                  <a:srgbClr val="687B75"/>
                </a:solidFill>
                <a:latin typeface="Segoe UI"/>
              </a:rPr>
              <a:t>gepinde weersbron</a:t>
            </a:r>
          </a:p>
        </p:txBody>
      </p:sp>
      <p:sp>
        <p:nvSpPr>
          <p:cNvPr id="27" name="TextBox 26"/>
          <p:cNvSpPr txBox="1"/>
          <p:nvPr/>
        </p:nvSpPr>
        <p:spPr>
          <a:xfrm>
            <a:off x="5852160" y="3584448"/>
            <a:ext cx="2359152" cy="182880"/>
          </a:xfrm>
          <a:prstGeom prst="rect">
            <a:avLst/>
          </a:prstGeom>
          <a:noFill/>
        </p:spPr>
        <p:txBody>
          <a:bodyPr wrap="none" lIns="0" rIns="0" tIns="0" bIns="0" anchor="t">
            <a:spAutoFit/>
          </a:bodyPr>
          <a:lstStyle/>
          <a:p>
            <a:pPr algn="l"/>
            <a:r>
              <a:rPr sz="900" b="1">
                <a:solidFill>
                  <a:srgbClr val="18352F"/>
                </a:solidFill>
                <a:latin typeface="Segoe UI"/>
              </a:rPr>
              <a:t>data/latest.json</a:t>
            </a:r>
          </a:p>
        </p:txBody>
      </p:sp>
      <p:sp>
        <p:nvSpPr>
          <p:cNvPr id="28" name="TextBox 27"/>
          <p:cNvSpPr txBox="1"/>
          <p:nvPr/>
        </p:nvSpPr>
        <p:spPr>
          <a:xfrm>
            <a:off x="8302752" y="3584448"/>
            <a:ext cx="2724912" cy="182880"/>
          </a:xfrm>
          <a:prstGeom prst="rect">
            <a:avLst/>
          </a:prstGeom>
          <a:noFill/>
        </p:spPr>
        <p:txBody>
          <a:bodyPr wrap="none" lIns="0" rIns="0" tIns="0" bIns="0" anchor="t">
            <a:spAutoFit/>
          </a:bodyPr>
          <a:lstStyle/>
          <a:p>
            <a:pPr algn="l"/>
            <a:r>
              <a:rPr sz="800" b="0">
                <a:solidFill>
                  <a:srgbClr val="687B75"/>
                </a:solidFill>
                <a:latin typeface="Segoe UI"/>
              </a:rPr>
              <a:t>berekende meetwaarden</a:t>
            </a:r>
          </a:p>
        </p:txBody>
      </p:sp>
      <p:sp>
        <p:nvSpPr>
          <p:cNvPr id="29" name="TextBox 28"/>
          <p:cNvSpPr txBox="1"/>
          <p:nvPr/>
        </p:nvSpPr>
        <p:spPr>
          <a:xfrm>
            <a:off x="5852160" y="3941064"/>
            <a:ext cx="2359152" cy="182880"/>
          </a:xfrm>
          <a:prstGeom prst="rect">
            <a:avLst/>
          </a:prstGeom>
          <a:noFill/>
        </p:spPr>
        <p:txBody>
          <a:bodyPr wrap="none" lIns="0" rIns="0" tIns="0" bIns="0" anchor="t">
            <a:spAutoFit/>
          </a:bodyPr>
          <a:lstStyle/>
          <a:p>
            <a:pPr algn="l"/>
            <a:r>
              <a:rPr sz="900" b="1">
                <a:solidFill>
                  <a:srgbClr val="18352F"/>
                </a:solidFill>
                <a:latin typeface="Segoe UI"/>
              </a:rPr>
              <a:t>data/scene.json</a:t>
            </a:r>
          </a:p>
        </p:txBody>
      </p:sp>
      <p:sp>
        <p:nvSpPr>
          <p:cNvPr id="30" name="TextBox 29"/>
          <p:cNvSpPr txBox="1"/>
          <p:nvPr/>
        </p:nvSpPr>
        <p:spPr>
          <a:xfrm>
            <a:off x="8302752" y="3941064"/>
            <a:ext cx="2724912" cy="182880"/>
          </a:xfrm>
          <a:prstGeom prst="rect">
            <a:avLst/>
          </a:prstGeom>
          <a:noFill/>
        </p:spPr>
        <p:txBody>
          <a:bodyPr wrap="none" lIns="0" rIns="0" tIns="0" bIns="0" anchor="t">
            <a:spAutoFit/>
          </a:bodyPr>
          <a:lstStyle/>
          <a:p>
            <a:pPr algn="l"/>
            <a:r>
              <a:rPr sz="800" b="0">
                <a:solidFill>
                  <a:srgbClr val="687B75"/>
                </a:solidFill>
                <a:latin typeface="Segoe UI"/>
              </a:rPr>
              <a:t>3D-scene voor viewer</a:t>
            </a:r>
          </a:p>
        </p:txBody>
      </p:sp>
      <p:sp>
        <p:nvSpPr>
          <p:cNvPr id="31" name="TextBox 30"/>
          <p:cNvSpPr txBox="1"/>
          <p:nvPr/>
        </p:nvSpPr>
        <p:spPr>
          <a:xfrm>
            <a:off x="5852160" y="4297679"/>
            <a:ext cx="2359152" cy="182880"/>
          </a:xfrm>
          <a:prstGeom prst="rect">
            <a:avLst/>
          </a:prstGeom>
          <a:noFill/>
        </p:spPr>
        <p:txBody>
          <a:bodyPr wrap="none" lIns="0" rIns="0" tIns="0" bIns="0" anchor="t">
            <a:spAutoFit/>
          </a:bodyPr>
          <a:lstStyle/>
          <a:p>
            <a:pPr algn="l"/>
            <a:r>
              <a:rPr sz="900" b="1">
                <a:solidFill>
                  <a:srgbClr val="18352F"/>
                </a:solidFill>
                <a:latin typeface="Segoe UI"/>
              </a:rPr>
              <a:t>data/view-evidence.json</a:t>
            </a:r>
          </a:p>
        </p:txBody>
      </p:sp>
      <p:sp>
        <p:nvSpPr>
          <p:cNvPr id="32" name="TextBox 31"/>
          <p:cNvSpPr txBox="1"/>
          <p:nvPr/>
        </p:nvSpPr>
        <p:spPr>
          <a:xfrm>
            <a:off x="8302752" y="4297679"/>
            <a:ext cx="2724912" cy="182880"/>
          </a:xfrm>
          <a:prstGeom prst="rect">
            <a:avLst/>
          </a:prstGeom>
          <a:noFill/>
        </p:spPr>
        <p:txBody>
          <a:bodyPr wrap="none" lIns="0" rIns="0" tIns="0" bIns="0" anchor="t">
            <a:spAutoFit/>
          </a:bodyPr>
          <a:lstStyle/>
          <a:p>
            <a:pPr algn="l"/>
            <a:r>
              <a:rPr sz="800" b="0">
                <a:solidFill>
                  <a:srgbClr val="687B75"/>
                </a:solidFill>
                <a:latin typeface="Segoe UI"/>
              </a:rPr>
              <a:t>camera's, lagen en hashes</a:t>
            </a:r>
          </a:p>
        </p:txBody>
      </p:sp>
      <p:sp>
        <p:nvSpPr>
          <p:cNvPr id="33" name="Rounded Rectangle 32"/>
          <p:cNvSpPr/>
          <p:nvPr/>
        </p:nvSpPr>
        <p:spPr>
          <a:xfrm>
            <a:off x="566928" y="3255264"/>
            <a:ext cx="4517136" cy="1810512"/>
          </a:xfrm>
          <a:prstGeom prst="roundRect">
            <a:avLst>
              <a:gd name="adj" fmla="val 8000"/>
            </a:avLst>
          </a:prstGeom>
          <a:solidFill>
            <a:srgbClr val="163A3B"/>
          </a:solidFill>
          <a:ln>
            <a:solidFill>
              <a:srgbClr val="163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3547872"/>
            <a:ext cx="1234440" cy="201168"/>
          </a:xfrm>
          <a:prstGeom prst="rect">
            <a:avLst/>
          </a:prstGeom>
          <a:noFill/>
        </p:spPr>
        <p:txBody>
          <a:bodyPr wrap="none" lIns="0" rIns="0" tIns="0" bIns="0" anchor="t">
            <a:spAutoFit/>
          </a:bodyPr>
          <a:lstStyle/>
          <a:p>
            <a:pPr algn="l"/>
            <a:r>
              <a:rPr sz="800" b="1">
                <a:solidFill>
                  <a:srgbClr val="B7E6C8"/>
                </a:solidFill>
                <a:latin typeface="Segoe UI"/>
              </a:rPr>
              <a:t>PROVENANCE</a:t>
            </a:r>
          </a:p>
        </p:txBody>
      </p:sp>
      <p:sp>
        <p:nvSpPr>
          <p:cNvPr id="35" name="TextBox 34"/>
          <p:cNvSpPr txBox="1"/>
          <p:nvPr/>
        </p:nvSpPr>
        <p:spPr>
          <a:xfrm>
            <a:off x="841248" y="3968496"/>
            <a:ext cx="3785615" cy="658368"/>
          </a:xfrm>
          <a:prstGeom prst="rect">
            <a:avLst/>
          </a:prstGeom>
          <a:noFill/>
        </p:spPr>
        <p:txBody>
          <a:bodyPr wrap="none" lIns="0" rIns="0" tIns="0" bIns="0" anchor="t">
            <a:spAutoFit/>
          </a:bodyPr>
          <a:lstStyle/>
          <a:p>
            <a:pPr algn="l"/>
            <a:r>
              <a:rPr sz="1500" b="1">
                <a:solidFill>
                  <a:srgbClr val="FFFFFF"/>
                </a:solidFill>
                <a:latin typeface="Segoe UI"/>
              </a:rPr>
              <a:t>SHA-256 koppelt bron, definitie, weer,
scene, resultaten en beelden.</a:t>
            </a:r>
          </a:p>
        </p:txBody>
      </p:sp>
      <p:sp>
        <p:nvSpPr>
          <p:cNvPr id="36" name="Rounded Rectangle 35"/>
          <p:cNvSpPr/>
          <p:nvPr/>
        </p:nvSpPr>
        <p:spPr>
          <a:xfrm>
            <a:off x="5541264" y="5358384"/>
            <a:ext cx="6071616" cy="384048"/>
          </a:xfrm>
          <a:prstGeom prst="roundRect">
            <a:avLst>
              <a:gd name="adj" fmla="val 8000"/>
            </a:avLst>
          </a:prstGeom>
          <a:solidFill>
            <a:srgbClr val="163A3B"/>
          </a:solidFill>
          <a:ln>
            <a:solidFill>
              <a:srgbClr val="163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42432" y="5477256"/>
            <a:ext cx="5669280" cy="155448"/>
          </a:xfrm>
          <a:prstGeom prst="rect">
            <a:avLst/>
          </a:prstGeom>
          <a:noFill/>
        </p:spPr>
        <p:txBody>
          <a:bodyPr wrap="none" lIns="0" rIns="0" tIns="0" bIns="0" anchor="t">
            <a:spAutoFit/>
          </a:bodyPr>
          <a:lstStyle/>
          <a:p>
            <a:pPr algn="ctr"/>
            <a:r>
              <a:rPr sz="800" b="1">
                <a:solidFill>
                  <a:srgbClr val="FFFFFF"/>
                </a:solidFill>
                <a:latin typeface="Segoe UI"/>
              </a:rPr>
              <a:t>Atomisch publiceren • geen stille overschrijving • verouderd bewijs wordt geweigerd</a:t>
            </a:r>
          </a:p>
        </p:txBody>
      </p:sp>
      <p:pic>
        <p:nvPicPr>
          <p:cNvPr id="38" name="Picture 37" descr="parkhaven-logo.png"/>
          <p:cNvPicPr>
            <a:picLocks noChangeAspect="1"/>
          </p:cNvPicPr>
          <p:nvPr/>
        </p:nvPicPr>
        <p:blipFill>
          <a:blip r:embed="rId2"/>
          <a:stretch>
            <a:fillRect/>
          </a:stretch>
        </p:blipFill>
        <p:spPr>
          <a:xfrm>
            <a:off x="566928" y="6364224"/>
            <a:ext cx="208434" cy="338328"/>
          </a:xfrm>
          <a:prstGeom prst="rect">
            <a:avLst/>
          </a:prstGeom>
        </p:spPr>
      </p:pic>
      <p:sp>
        <p:nvSpPr>
          <p:cNvPr id="39" name="TextBox 38"/>
          <p:cNvSpPr txBox="1"/>
          <p:nvPr/>
        </p:nvSpPr>
        <p:spPr>
          <a:xfrm>
            <a:off x="932688" y="6428232"/>
            <a:ext cx="2011680" cy="182880"/>
          </a:xfrm>
          <a:prstGeom prst="rect">
            <a:avLst/>
          </a:prstGeom>
          <a:noFill/>
        </p:spPr>
        <p:txBody>
          <a:bodyPr wrap="none" lIns="0" rIns="0">
            <a:spAutoFit/>
          </a:bodyPr>
          <a:lstStyle/>
          <a:p>
            <a:pPr algn="l"/>
            <a:r>
              <a:rPr sz="800" b="1">
                <a:solidFill>
                  <a:srgbClr val="18352F"/>
                </a:solidFill>
                <a:latin typeface="Segoe UI"/>
              </a:rPr>
              <a:t>PARKHAVEN </a:t>
            </a:r>
            <a:r>
              <a:rPr sz="800" b="0">
                <a:solidFill>
                  <a:srgbClr val="687B75"/>
                </a:solidFill>
                <a:latin typeface="Segoe UI"/>
              </a:rPr>
              <a:t>STUDIO</a:t>
            </a:r>
          </a:p>
        </p:txBody>
      </p:sp>
      <p:sp>
        <p:nvSpPr>
          <p:cNvPr id="40" name="TextBox 39"/>
          <p:cNvSpPr txBox="1"/>
          <p:nvPr/>
        </p:nvSpPr>
        <p:spPr>
          <a:xfrm>
            <a:off x="8001000" y="6428232"/>
            <a:ext cx="3611880" cy="182880"/>
          </a:xfrm>
          <a:prstGeom prst="rect">
            <a:avLst/>
          </a:prstGeom>
          <a:noFill/>
        </p:spPr>
        <p:txBody>
          <a:bodyPr wrap="none" lIns="0" rIns="0" tIns="0" bIns="0" anchor="t">
            <a:spAutoFit/>
          </a:bodyPr>
          <a:lstStyle/>
          <a:p>
            <a:pPr algn="r"/>
            <a:r>
              <a:rPr sz="700" b="1">
                <a:solidFill>
                  <a:srgbClr val="687B75"/>
                </a:solidFill>
                <a:latin typeface="Segoe UI"/>
              </a:rPr>
              <a:t>LOKAAL • HERLEIDBAAR • MODELGEBASEERD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EFE9"/>
          </a:solidFill>
          <a:ln>
            <a:solidFill>
              <a:srgbClr val="ECE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040880" cy="274320"/>
          </a:xfrm>
          <a:prstGeom prst="rect">
            <a:avLst/>
          </a:prstGeom>
          <a:noFill/>
        </p:spPr>
        <p:txBody>
          <a:bodyPr wrap="none" lIns="0" rIns="0" tIns="0" bIns="0" anchor="t">
            <a:spAutoFit/>
          </a:bodyPr>
          <a:lstStyle/>
          <a:p>
            <a:pPr algn="l"/>
            <a:r>
              <a:rPr sz="900" b="1">
                <a:solidFill>
                  <a:srgbClr val="687B75"/>
                </a:solidFill>
                <a:latin typeface="Segoe UI"/>
              </a:rPr>
              <a:t>TECHNISCHE VERDIEPING II</a:t>
            </a:r>
          </a:p>
        </p:txBody>
      </p:sp>
      <p:sp>
        <p:nvSpPr>
          <p:cNvPr id="4" name="TextBox 3"/>
          <p:cNvSpPr txBox="1"/>
          <p:nvPr/>
        </p:nvSpPr>
        <p:spPr>
          <a:xfrm>
            <a:off x="566928" y="640080"/>
            <a:ext cx="10789920" cy="621792"/>
          </a:xfrm>
          <a:prstGeom prst="rect">
            <a:avLst/>
          </a:prstGeom>
          <a:noFill/>
        </p:spPr>
        <p:txBody>
          <a:bodyPr wrap="none" lIns="0" rIns="0" tIns="0" bIns="0" anchor="t">
            <a:spAutoFit/>
          </a:bodyPr>
          <a:lstStyle/>
          <a:p>
            <a:pPr algn="l"/>
            <a:r>
              <a:rPr sz="2700" b="1">
                <a:solidFill>
                  <a:srgbClr val="18352F"/>
                </a:solidFill>
                <a:latin typeface="Segoe UI"/>
              </a:rPr>
              <a:t>Van scene naar bewijs — met een harde datagrens</a:t>
            </a:r>
          </a:p>
        </p:txBody>
      </p:sp>
      <p:sp>
        <p:nvSpPr>
          <p:cNvPr id="5" name="TextBox 4"/>
          <p:cNvSpPr txBox="1"/>
          <p:nvPr/>
        </p:nvSpPr>
        <p:spPr>
          <a:xfrm>
            <a:off x="11109960" y="365760"/>
            <a:ext cx="502920" cy="256032"/>
          </a:xfrm>
          <a:prstGeom prst="rect">
            <a:avLst/>
          </a:prstGeom>
          <a:noFill/>
        </p:spPr>
        <p:txBody>
          <a:bodyPr wrap="none" lIns="0" rIns="0" tIns="0" bIns="0" anchor="t">
            <a:spAutoFit/>
          </a:bodyPr>
          <a:lstStyle/>
          <a:p>
            <a:pPr algn="r"/>
            <a:r>
              <a:rPr sz="900" b="1">
                <a:solidFill>
                  <a:srgbClr val="687B75"/>
                </a:solidFill>
                <a:latin typeface="Segoe UI"/>
              </a:rPr>
              <a:t>08</a:t>
            </a:r>
          </a:p>
        </p:txBody>
      </p:sp>
      <p:sp>
        <p:nvSpPr>
          <p:cNvPr id="6" name="Rectangle 5"/>
          <p:cNvSpPr/>
          <p:nvPr/>
        </p:nvSpPr>
        <p:spPr>
          <a:xfrm>
            <a:off x="566928" y="1325880"/>
            <a:ext cx="11045952" cy="13716"/>
          </a:xfrm>
          <a:prstGeom prst="rect">
            <a:avLst/>
          </a:prstGeom>
          <a:solidFill>
            <a:srgbClr val="D5DDD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828800"/>
            <a:ext cx="1444752" cy="1078992"/>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28800"/>
            <a:ext cx="1444752" cy="64008"/>
          </a:xfrm>
          <a:prstGeom prst="rect">
            <a:avLst/>
          </a:prstGeom>
          <a:solidFill>
            <a:srgbClr val="2F80ED"/>
          </a:solidFill>
          <a:ln>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2103120"/>
            <a:ext cx="1188720" cy="201168"/>
          </a:xfrm>
          <a:prstGeom prst="rect">
            <a:avLst/>
          </a:prstGeom>
          <a:noFill/>
        </p:spPr>
        <p:txBody>
          <a:bodyPr wrap="none" lIns="0" rIns="0" tIns="0" bIns="0" anchor="t">
            <a:spAutoFit/>
          </a:bodyPr>
          <a:lstStyle/>
          <a:p>
            <a:pPr algn="ctr"/>
            <a:r>
              <a:rPr sz="900" b="1">
                <a:solidFill>
                  <a:srgbClr val="2F80ED"/>
                </a:solidFill>
                <a:latin typeface="Segoe UI"/>
              </a:rPr>
              <a:t>SCENE</a:t>
            </a:r>
          </a:p>
        </p:txBody>
      </p:sp>
      <p:sp>
        <p:nvSpPr>
          <p:cNvPr id="10" name="TextBox 9"/>
          <p:cNvSpPr txBox="1"/>
          <p:nvPr/>
        </p:nvSpPr>
        <p:spPr>
          <a:xfrm>
            <a:off x="694944" y="2487168"/>
            <a:ext cx="1188720" cy="201168"/>
          </a:xfrm>
          <a:prstGeom prst="rect">
            <a:avLst/>
          </a:prstGeom>
          <a:noFill/>
        </p:spPr>
        <p:txBody>
          <a:bodyPr wrap="none" lIns="0" rIns="0" tIns="0" bIns="0" anchor="t">
            <a:spAutoFit/>
          </a:bodyPr>
          <a:lstStyle/>
          <a:p>
            <a:pPr algn="ctr"/>
            <a:r>
              <a:rPr sz="800" b="0">
                <a:solidFill>
                  <a:srgbClr val="687B75"/>
                </a:solidFill>
                <a:latin typeface="Segoe UI"/>
              </a:rPr>
              <a:t>mesh + kleuren</a:t>
            </a:r>
          </a:p>
        </p:txBody>
      </p:sp>
      <p:cxnSp>
        <p:nvCxnSpPr>
          <p:cNvPr id="11" name="Connector 10"/>
          <p:cNvCxnSpPr/>
          <p:nvPr/>
        </p:nvCxnSpPr>
        <p:spPr>
          <a:xfrm>
            <a:off x="2011680" y="2368296"/>
            <a:ext cx="420624" cy="0"/>
          </a:xfrm>
          <a:prstGeom prst="line">
            <a:avLst/>
          </a:prstGeom>
          <a:ln w="16510">
            <a:solidFill>
              <a:srgbClr val="687B75"/>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487168" y="1828800"/>
            <a:ext cx="1444752" cy="1078992"/>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87168" y="1828800"/>
            <a:ext cx="1444752" cy="64008"/>
          </a:xfrm>
          <a:prstGeom prst="rect">
            <a:avLst/>
          </a:prstGeom>
          <a:solidFill>
            <a:srgbClr val="9B51E0"/>
          </a:solidFill>
          <a:ln>
            <a:solidFill>
              <a:srgbClr val="9B5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15184" y="2103120"/>
            <a:ext cx="1188720" cy="201168"/>
          </a:xfrm>
          <a:prstGeom prst="rect">
            <a:avLst/>
          </a:prstGeom>
          <a:noFill/>
        </p:spPr>
        <p:txBody>
          <a:bodyPr wrap="none" lIns="0" rIns="0" tIns="0" bIns="0" anchor="t">
            <a:spAutoFit/>
          </a:bodyPr>
          <a:lstStyle/>
          <a:p>
            <a:pPr algn="ctr"/>
            <a:r>
              <a:rPr sz="900" b="1">
                <a:solidFill>
                  <a:srgbClr val="9B51E0"/>
                </a:solidFill>
                <a:latin typeface="Segoe UI"/>
              </a:rPr>
              <a:t>4 BEELDEN</a:t>
            </a:r>
          </a:p>
        </p:txBody>
      </p:sp>
      <p:sp>
        <p:nvSpPr>
          <p:cNvPr id="15" name="TextBox 14"/>
          <p:cNvSpPr txBox="1"/>
          <p:nvPr/>
        </p:nvSpPr>
        <p:spPr>
          <a:xfrm>
            <a:off x="2615184" y="2487168"/>
            <a:ext cx="1188720" cy="201168"/>
          </a:xfrm>
          <a:prstGeom prst="rect">
            <a:avLst/>
          </a:prstGeom>
          <a:noFill/>
        </p:spPr>
        <p:txBody>
          <a:bodyPr wrap="none" lIns="0" rIns="0" tIns="0" bIns="0" anchor="t">
            <a:spAutoFit/>
          </a:bodyPr>
          <a:lstStyle/>
          <a:p>
            <a:pPr algn="ctr"/>
            <a:r>
              <a:rPr sz="800" b="0">
                <a:solidFill>
                  <a:srgbClr val="687B75"/>
                </a:solidFill>
                <a:latin typeface="Segoe UI"/>
              </a:rPr>
              <a:t>vaste camera's</a:t>
            </a:r>
          </a:p>
        </p:txBody>
      </p:sp>
      <p:cxnSp>
        <p:nvCxnSpPr>
          <p:cNvPr id="16" name="Connector 15"/>
          <p:cNvCxnSpPr/>
          <p:nvPr/>
        </p:nvCxnSpPr>
        <p:spPr>
          <a:xfrm>
            <a:off x="3931920" y="2368296"/>
            <a:ext cx="420624" cy="0"/>
          </a:xfrm>
          <a:prstGeom prst="line">
            <a:avLst/>
          </a:prstGeom>
          <a:ln w="16510">
            <a:solidFill>
              <a:srgbClr val="687B75"/>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407408" y="1828800"/>
            <a:ext cx="1444752" cy="1078992"/>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07408" y="1828800"/>
            <a:ext cx="1444752" cy="64008"/>
          </a:xfrm>
          <a:prstGeom prst="rect">
            <a:avLst/>
          </a:prstGeom>
          <a:solidFill>
            <a:srgbClr val="1F684E"/>
          </a:solidFill>
          <a:ln>
            <a:solidFill>
              <a:srgbClr val="1F68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35424" y="2103120"/>
            <a:ext cx="1188720" cy="201168"/>
          </a:xfrm>
          <a:prstGeom prst="rect">
            <a:avLst/>
          </a:prstGeom>
          <a:noFill/>
        </p:spPr>
        <p:txBody>
          <a:bodyPr wrap="none" lIns="0" rIns="0" tIns="0" bIns="0" anchor="t">
            <a:spAutoFit/>
          </a:bodyPr>
          <a:lstStyle/>
          <a:p>
            <a:pPr algn="ctr"/>
            <a:r>
              <a:rPr sz="900" b="1">
                <a:solidFill>
                  <a:srgbClr val="1F684E"/>
                </a:solidFill>
                <a:latin typeface="Segoe UI"/>
              </a:rPr>
              <a:t>BEWIJS</a:t>
            </a:r>
          </a:p>
        </p:txBody>
      </p:sp>
      <p:sp>
        <p:nvSpPr>
          <p:cNvPr id="20" name="TextBox 19"/>
          <p:cNvSpPr txBox="1"/>
          <p:nvPr/>
        </p:nvSpPr>
        <p:spPr>
          <a:xfrm>
            <a:off x="4535424" y="2487168"/>
            <a:ext cx="1188720" cy="201168"/>
          </a:xfrm>
          <a:prstGeom prst="rect">
            <a:avLst/>
          </a:prstGeom>
          <a:noFill/>
        </p:spPr>
        <p:txBody>
          <a:bodyPr wrap="none" lIns="0" rIns="0" tIns="0" bIns="0" anchor="t">
            <a:spAutoFit/>
          </a:bodyPr>
          <a:lstStyle/>
          <a:p>
            <a:pPr algn="ctr"/>
            <a:r>
              <a:rPr sz="800" b="0">
                <a:solidFill>
                  <a:srgbClr val="687B75"/>
                </a:solidFill>
                <a:latin typeface="Segoe UI"/>
              </a:rPr>
              <a:t>meetwaarden + volumes</a:t>
            </a:r>
          </a:p>
        </p:txBody>
      </p:sp>
      <p:cxnSp>
        <p:nvCxnSpPr>
          <p:cNvPr id="21" name="Connector 20"/>
          <p:cNvCxnSpPr/>
          <p:nvPr/>
        </p:nvCxnSpPr>
        <p:spPr>
          <a:xfrm>
            <a:off x="5852160" y="2368296"/>
            <a:ext cx="420624" cy="0"/>
          </a:xfrm>
          <a:prstGeom prst="line">
            <a:avLst/>
          </a:prstGeom>
          <a:ln w="16510">
            <a:solidFill>
              <a:srgbClr val="687B75"/>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327648" y="1828800"/>
            <a:ext cx="1444752" cy="1078992"/>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27648" y="1828800"/>
            <a:ext cx="1444752" cy="64008"/>
          </a:xfrm>
          <a:prstGeom prst="rect">
            <a:avLst/>
          </a:prstGeom>
          <a:solidFill>
            <a:srgbClr val="D9683F"/>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55664" y="2103120"/>
            <a:ext cx="1188720" cy="201168"/>
          </a:xfrm>
          <a:prstGeom prst="rect">
            <a:avLst/>
          </a:prstGeom>
          <a:noFill/>
        </p:spPr>
        <p:txBody>
          <a:bodyPr wrap="none" lIns="0" rIns="0" tIns="0" bIns="0" anchor="t">
            <a:spAutoFit/>
          </a:bodyPr>
          <a:lstStyle/>
          <a:p>
            <a:pPr algn="ctr"/>
            <a:r>
              <a:rPr sz="900" b="1">
                <a:solidFill>
                  <a:srgbClr val="D9683F"/>
                </a:solidFill>
                <a:latin typeface="Segoe UI"/>
              </a:rPr>
              <a:t>AI</a:t>
            </a:r>
          </a:p>
        </p:txBody>
      </p:sp>
      <p:sp>
        <p:nvSpPr>
          <p:cNvPr id="25" name="TextBox 24"/>
          <p:cNvSpPr txBox="1"/>
          <p:nvPr/>
        </p:nvSpPr>
        <p:spPr>
          <a:xfrm>
            <a:off x="6455664" y="2487168"/>
            <a:ext cx="1188720" cy="201168"/>
          </a:xfrm>
          <a:prstGeom prst="rect">
            <a:avLst/>
          </a:prstGeom>
          <a:noFill/>
        </p:spPr>
        <p:txBody>
          <a:bodyPr wrap="none" lIns="0" rIns="0" tIns="0" bIns="0" anchor="t">
            <a:spAutoFit/>
          </a:bodyPr>
          <a:lstStyle/>
          <a:p>
            <a:pPr algn="ctr"/>
            <a:r>
              <a:rPr sz="800" b="0">
                <a:solidFill>
                  <a:srgbClr val="687B75"/>
                </a:solidFill>
                <a:latin typeface="Segoe UI"/>
              </a:rPr>
              <a:t>tekstpakket</a:t>
            </a:r>
          </a:p>
        </p:txBody>
      </p:sp>
      <p:cxnSp>
        <p:nvCxnSpPr>
          <p:cNvPr id="26" name="Connector 25"/>
          <p:cNvCxnSpPr/>
          <p:nvPr/>
        </p:nvCxnSpPr>
        <p:spPr>
          <a:xfrm>
            <a:off x="7772400" y="2368296"/>
            <a:ext cx="420624" cy="0"/>
          </a:xfrm>
          <a:prstGeom prst="line">
            <a:avLst/>
          </a:prstGeom>
          <a:ln w="16510">
            <a:solidFill>
              <a:srgbClr val="687B75"/>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247888" y="1828800"/>
            <a:ext cx="1444752" cy="1078992"/>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47888" y="1828800"/>
            <a:ext cx="1444752" cy="64008"/>
          </a:xfrm>
          <a:prstGeom prst="rect">
            <a:avLst/>
          </a:prstGeom>
          <a:solidFill>
            <a:srgbClr val="D7A35D"/>
          </a:solidFill>
          <a:ln>
            <a:solidFill>
              <a:srgbClr val="D7A3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75904" y="2103120"/>
            <a:ext cx="1188720" cy="201168"/>
          </a:xfrm>
          <a:prstGeom prst="rect">
            <a:avLst/>
          </a:prstGeom>
          <a:noFill/>
        </p:spPr>
        <p:txBody>
          <a:bodyPr wrap="none" lIns="0" rIns="0" tIns="0" bIns="0" anchor="t">
            <a:spAutoFit/>
          </a:bodyPr>
          <a:lstStyle/>
          <a:p>
            <a:pPr algn="ctr"/>
            <a:r>
              <a:rPr sz="900" b="1">
                <a:solidFill>
                  <a:srgbClr val="D7A35D"/>
                </a:solidFill>
                <a:latin typeface="Segoe UI"/>
              </a:rPr>
              <a:t>VALIDATIE</a:t>
            </a:r>
          </a:p>
        </p:txBody>
      </p:sp>
      <p:sp>
        <p:nvSpPr>
          <p:cNvPr id="30" name="TextBox 29"/>
          <p:cNvSpPr txBox="1"/>
          <p:nvPr/>
        </p:nvSpPr>
        <p:spPr>
          <a:xfrm>
            <a:off x="8375904" y="2487168"/>
            <a:ext cx="1188720" cy="201168"/>
          </a:xfrm>
          <a:prstGeom prst="rect">
            <a:avLst/>
          </a:prstGeom>
          <a:noFill/>
        </p:spPr>
        <p:txBody>
          <a:bodyPr wrap="none" lIns="0" rIns="0" tIns="0" bIns="0" anchor="t">
            <a:spAutoFit/>
          </a:bodyPr>
          <a:lstStyle/>
          <a:p>
            <a:pPr algn="ctr"/>
            <a:r>
              <a:rPr sz="800" b="0">
                <a:solidFill>
                  <a:srgbClr val="687B75"/>
                </a:solidFill>
                <a:latin typeface="Segoe UI"/>
              </a:rPr>
              <a:t>beleid + IDs</a:t>
            </a:r>
          </a:p>
        </p:txBody>
      </p:sp>
      <p:cxnSp>
        <p:nvCxnSpPr>
          <p:cNvPr id="31" name="Connector 30"/>
          <p:cNvCxnSpPr/>
          <p:nvPr/>
        </p:nvCxnSpPr>
        <p:spPr>
          <a:xfrm>
            <a:off x="9692640" y="2368296"/>
            <a:ext cx="420623" cy="0"/>
          </a:xfrm>
          <a:prstGeom prst="line">
            <a:avLst/>
          </a:prstGeom>
          <a:ln w="16510">
            <a:solidFill>
              <a:srgbClr val="687B75"/>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168128" y="1828800"/>
            <a:ext cx="1444752" cy="1078992"/>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168128" y="1828800"/>
            <a:ext cx="1444752" cy="64008"/>
          </a:xfrm>
          <a:prstGeom prst="rect">
            <a:avLst/>
          </a:prstGeom>
          <a:solidFill>
            <a:srgbClr val="548093"/>
          </a:solidFill>
          <a:ln>
            <a:solidFill>
              <a:srgbClr val="5480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96144" y="2103120"/>
            <a:ext cx="1188720" cy="201168"/>
          </a:xfrm>
          <a:prstGeom prst="rect">
            <a:avLst/>
          </a:prstGeom>
          <a:noFill/>
        </p:spPr>
        <p:txBody>
          <a:bodyPr wrap="none" lIns="0" rIns="0" tIns="0" bIns="0" anchor="t">
            <a:spAutoFit/>
          </a:bodyPr>
          <a:lstStyle/>
          <a:p>
            <a:pPr algn="ctr"/>
            <a:r>
              <a:rPr sz="900" b="1">
                <a:solidFill>
                  <a:srgbClr val="548093"/>
                </a:solidFill>
                <a:latin typeface="Segoe UI"/>
              </a:rPr>
              <a:t>RAPPORT</a:t>
            </a:r>
          </a:p>
        </p:txBody>
      </p:sp>
      <p:sp>
        <p:nvSpPr>
          <p:cNvPr id="35" name="TextBox 34"/>
          <p:cNvSpPr txBox="1"/>
          <p:nvPr/>
        </p:nvSpPr>
        <p:spPr>
          <a:xfrm>
            <a:off x="10296144" y="2487168"/>
            <a:ext cx="1188720" cy="201168"/>
          </a:xfrm>
          <a:prstGeom prst="rect">
            <a:avLst/>
          </a:prstGeom>
          <a:noFill/>
        </p:spPr>
        <p:txBody>
          <a:bodyPr wrap="none" lIns="0" rIns="0" tIns="0" bIns="0" anchor="t">
            <a:spAutoFit/>
          </a:bodyPr>
          <a:lstStyle/>
          <a:p>
            <a:pPr algn="ctr"/>
            <a:r>
              <a:rPr sz="800" b="0">
                <a:solidFill>
                  <a:srgbClr val="687B75"/>
                </a:solidFill>
                <a:latin typeface="Segoe UI"/>
              </a:rPr>
              <a:t>actueel bewijs</a:t>
            </a:r>
          </a:p>
        </p:txBody>
      </p:sp>
      <p:sp>
        <p:nvSpPr>
          <p:cNvPr id="36" name="Rounded Rectangle 35"/>
          <p:cNvSpPr/>
          <p:nvPr/>
        </p:nvSpPr>
        <p:spPr>
          <a:xfrm>
            <a:off x="566928" y="3474720"/>
            <a:ext cx="5285232" cy="1682496"/>
          </a:xfrm>
          <a:prstGeom prst="roundRect">
            <a:avLst>
              <a:gd name="adj" fmla="val 8000"/>
            </a:avLst>
          </a:prstGeom>
          <a:solidFill>
            <a:srgbClr val="163A3B"/>
          </a:solidFill>
          <a:ln>
            <a:solidFill>
              <a:srgbClr val="163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 y="3749039"/>
            <a:ext cx="1325880" cy="201168"/>
          </a:xfrm>
          <a:prstGeom prst="rect">
            <a:avLst/>
          </a:prstGeom>
          <a:noFill/>
        </p:spPr>
        <p:txBody>
          <a:bodyPr wrap="none" lIns="0" rIns="0" tIns="0" bIns="0" anchor="t">
            <a:spAutoFit/>
          </a:bodyPr>
          <a:lstStyle/>
          <a:p>
            <a:pPr algn="l"/>
            <a:r>
              <a:rPr sz="800" b="1">
                <a:solidFill>
                  <a:srgbClr val="B7E6C8"/>
                </a:solidFill>
                <a:latin typeface="Segoe UI"/>
              </a:rPr>
              <a:t>BLIJFT LOKAAL</a:t>
            </a:r>
          </a:p>
        </p:txBody>
      </p:sp>
      <p:sp>
        <p:nvSpPr>
          <p:cNvPr id="38" name="TextBox 37"/>
          <p:cNvSpPr txBox="1"/>
          <p:nvPr/>
        </p:nvSpPr>
        <p:spPr>
          <a:xfrm>
            <a:off x="841248" y="4169663"/>
            <a:ext cx="4526280" cy="310896"/>
          </a:xfrm>
          <a:prstGeom prst="rect">
            <a:avLst/>
          </a:prstGeom>
          <a:noFill/>
        </p:spPr>
        <p:txBody>
          <a:bodyPr wrap="none" lIns="0" rIns="0" tIns="0" bIns="0" anchor="t">
            <a:spAutoFit/>
          </a:bodyPr>
          <a:lstStyle/>
          <a:p>
            <a:pPr algn="l"/>
            <a:r>
              <a:rPr sz="1500" b="1">
                <a:solidFill>
                  <a:srgbClr val="FFFFFF"/>
                </a:solidFill>
                <a:latin typeface="Segoe UI"/>
              </a:rPr>
              <a:t>3D-model • screenshots • bronbestanden</a:t>
            </a:r>
          </a:p>
        </p:txBody>
      </p:sp>
      <p:sp>
        <p:nvSpPr>
          <p:cNvPr id="39" name="TextBox 38"/>
          <p:cNvSpPr txBox="1"/>
          <p:nvPr/>
        </p:nvSpPr>
        <p:spPr>
          <a:xfrm>
            <a:off x="841248" y="4645152"/>
            <a:ext cx="4526280" cy="274320"/>
          </a:xfrm>
          <a:prstGeom prst="rect">
            <a:avLst/>
          </a:prstGeom>
          <a:noFill/>
        </p:spPr>
        <p:txBody>
          <a:bodyPr wrap="none" lIns="0" rIns="0" tIns="0" bIns="0" anchor="t">
            <a:spAutoFit/>
          </a:bodyPr>
          <a:lstStyle/>
          <a:p>
            <a:pPr algn="l"/>
            <a:r>
              <a:rPr sz="900" b="0">
                <a:solidFill>
                  <a:srgbClr val="B7E6C8"/>
                </a:solidFill>
                <a:latin typeface="Segoe UI"/>
              </a:rPr>
              <a:t>Alleen een begrensde tekstsamenvatting verlaat de machine.</a:t>
            </a:r>
          </a:p>
        </p:txBody>
      </p:sp>
      <p:sp>
        <p:nvSpPr>
          <p:cNvPr id="40" name="Rounded Rectangle 39"/>
          <p:cNvSpPr/>
          <p:nvPr/>
        </p:nvSpPr>
        <p:spPr>
          <a:xfrm>
            <a:off x="6108192" y="3474720"/>
            <a:ext cx="5504688" cy="1682496"/>
          </a:xfrm>
          <a:prstGeom prst="roundRect">
            <a:avLst>
              <a:gd name="adj" fmla="val 8000"/>
            </a:avLst>
          </a:prstGeom>
          <a:solidFill>
            <a:srgbClr val="F8FAF6"/>
          </a:solidFill>
          <a:ln>
            <a:solidFill>
              <a:srgbClr val="D5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82512" y="3749039"/>
            <a:ext cx="1508760" cy="201168"/>
          </a:xfrm>
          <a:prstGeom prst="rect">
            <a:avLst/>
          </a:prstGeom>
          <a:noFill/>
        </p:spPr>
        <p:txBody>
          <a:bodyPr wrap="none" lIns="0" rIns="0" tIns="0" bIns="0" anchor="t">
            <a:spAutoFit/>
          </a:bodyPr>
          <a:lstStyle/>
          <a:p>
            <a:pPr algn="l"/>
            <a:r>
              <a:rPr sz="800" b="1">
                <a:solidFill>
                  <a:srgbClr val="D9683F"/>
                </a:solidFill>
                <a:latin typeface="Segoe UI"/>
              </a:rPr>
              <a:t>SERVERCONTROLE</a:t>
            </a:r>
          </a:p>
        </p:txBody>
      </p:sp>
      <p:sp>
        <p:nvSpPr>
          <p:cNvPr id="42" name="TextBox 41"/>
          <p:cNvSpPr txBox="1"/>
          <p:nvPr/>
        </p:nvSpPr>
        <p:spPr>
          <a:xfrm>
            <a:off x="6382512" y="4187952"/>
            <a:ext cx="201168" cy="201168"/>
          </a:xfrm>
          <a:prstGeom prst="rect">
            <a:avLst/>
          </a:prstGeom>
          <a:noFill/>
        </p:spPr>
        <p:txBody>
          <a:bodyPr wrap="none" lIns="0" rIns="0" tIns="0" bIns="0" anchor="t">
            <a:spAutoFit/>
          </a:bodyPr>
          <a:lstStyle/>
          <a:p>
            <a:pPr algn="l"/>
            <a:r>
              <a:rPr sz="1000" b="1">
                <a:solidFill>
                  <a:srgbClr val="1F684E"/>
                </a:solidFill>
                <a:latin typeface="Segoe UI"/>
              </a:rPr>
              <a:t>✓</a:t>
            </a:r>
          </a:p>
        </p:txBody>
      </p:sp>
      <p:sp>
        <p:nvSpPr>
          <p:cNvPr id="43" name="TextBox 42"/>
          <p:cNvSpPr txBox="1"/>
          <p:nvPr/>
        </p:nvSpPr>
        <p:spPr>
          <a:xfrm>
            <a:off x="6656832" y="4187952"/>
            <a:ext cx="1874519" cy="201168"/>
          </a:xfrm>
          <a:prstGeom prst="rect">
            <a:avLst/>
          </a:prstGeom>
          <a:noFill/>
        </p:spPr>
        <p:txBody>
          <a:bodyPr wrap="none" lIns="0" rIns="0" tIns="0" bIns="0" anchor="t">
            <a:spAutoFit/>
          </a:bodyPr>
          <a:lstStyle/>
          <a:p>
            <a:pPr algn="l"/>
            <a:r>
              <a:rPr sz="900" b="1">
                <a:solidFill>
                  <a:srgbClr val="18352F"/>
                </a:solidFill>
                <a:latin typeface="Segoe UI"/>
              </a:rPr>
              <a:t>bekende volumes</a:t>
            </a:r>
          </a:p>
        </p:txBody>
      </p:sp>
      <p:sp>
        <p:nvSpPr>
          <p:cNvPr id="44" name="TextBox 43"/>
          <p:cNvSpPr txBox="1"/>
          <p:nvPr/>
        </p:nvSpPr>
        <p:spPr>
          <a:xfrm>
            <a:off x="8714232" y="4187952"/>
            <a:ext cx="201168" cy="201168"/>
          </a:xfrm>
          <a:prstGeom prst="rect">
            <a:avLst/>
          </a:prstGeom>
          <a:noFill/>
        </p:spPr>
        <p:txBody>
          <a:bodyPr wrap="none" lIns="0" rIns="0" tIns="0" bIns="0" anchor="t">
            <a:spAutoFit/>
          </a:bodyPr>
          <a:lstStyle/>
          <a:p>
            <a:pPr algn="l"/>
            <a:r>
              <a:rPr sz="1000" b="1">
                <a:solidFill>
                  <a:srgbClr val="1F684E"/>
                </a:solidFill>
                <a:latin typeface="Segoe UI"/>
              </a:rPr>
              <a:t>✓</a:t>
            </a:r>
          </a:p>
        </p:txBody>
      </p:sp>
      <p:sp>
        <p:nvSpPr>
          <p:cNvPr id="45" name="TextBox 44"/>
          <p:cNvSpPr txBox="1"/>
          <p:nvPr/>
        </p:nvSpPr>
        <p:spPr>
          <a:xfrm>
            <a:off x="8988552" y="4187952"/>
            <a:ext cx="1874519" cy="201168"/>
          </a:xfrm>
          <a:prstGeom prst="rect">
            <a:avLst/>
          </a:prstGeom>
          <a:noFill/>
        </p:spPr>
        <p:txBody>
          <a:bodyPr wrap="none" lIns="0" rIns="0" tIns="0" bIns="0" anchor="t">
            <a:spAutoFit/>
          </a:bodyPr>
          <a:lstStyle/>
          <a:p>
            <a:pPr algn="l"/>
            <a:r>
              <a:rPr sz="900" b="1">
                <a:solidFill>
                  <a:srgbClr val="18352F"/>
                </a:solidFill>
                <a:latin typeface="Segoe UI"/>
              </a:rPr>
              <a:t>bekende meetwaarden</a:t>
            </a:r>
          </a:p>
        </p:txBody>
      </p:sp>
      <p:sp>
        <p:nvSpPr>
          <p:cNvPr id="46" name="TextBox 45"/>
          <p:cNvSpPr txBox="1"/>
          <p:nvPr/>
        </p:nvSpPr>
        <p:spPr>
          <a:xfrm>
            <a:off x="6382512" y="4626864"/>
            <a:ext cx="201168" cy="201168"/>
          </a:xfrm>
          <a:prstGeom prst="rect">
            <a:avLst/>
          </a:prstGeom>
          <a:noFill/>
        </p:spPr>
        <p:txBody>
          <a:bodyPr wrap="none" lIns="0" rIns="0" tIns="0" bIns="0" anchor="t">
            <a:spAutoFit/>
          </a:bodyPr>
          <a:lstStyle/>
          <a:p>
            <a:pPr algn="l"/>
            <a:r>
              <a:rPr sz="1000" b="1">
                <a:solidFill>
                  <a:srgbClr val="1F684E"/>
                </a:solidFill>
                <a:latin typeface="Segoe UI"/>
              </a:rPr>
              <a:t>✓</a:t>
            </a:r>
          </a:p>
        </p:txBody>
      </p:sp>
      <p:sp>
        <p:nvSpPr>
          <p:cNvPr id="47" name="TextBox 46"/>
          <p:cNvSpPr txBox="1"/>
          <p:nvPr/>
        </p:nvSpPr>
        <p:spPr>
          <a:xfrm>
            <a:off x="6656832" y="4626864"/>
            <a:ext cx="1874519" cy="201168"/>
          </a:xfrm>
          <a:prstGeom prst="rect">
            <a:avLst/>
          </a:prstGeom>
          <a:noFill/>
        </p:spPr>
        <p:txBody>
          <a:bodyPr wrap="none" lIns="0" rIns="0" tIns="0" bIns="0" anchor="t">
            <a:spAutoFit/>
          </a:bodyPr>
          <a:lstStyle/>
          <a:p>
            <a:pPr algn="l"/>
            <a:r>
              <a:rPr sz="900" b="1">
                <a:solidFill>
                  <a:srgbClr val="18352F"/>
                </a:solidFill>
                <a:latin typeface="Segoe UI"/>
              </a:rPr>
              <a:t>huidige beleidsversie</a:t>
            </a:r>
          </a:p>
        </p:txBody>
      </p:sp>
      <p:sp>
        <p:nvSpPr>
          <p:cNvPr id="48" name="TextBox 47"/>
          <p:cNvSpPr txBox="1"/>
          <p:nvPr/>
        </p:nvSpPr>
        <p:spPr>
          <a:xfrm>
            <a:off x="8714232" y="4626864"/>
            <a:ext cx="201168" cy="201168"/>
          </a:xfrm>
          <a:prstGeom prst="rect">
            <a:avLst/>
          </a:prstGeom>
          <a:noFill/>
        </p:spPr>
        <p:txBody>
          <a:bodyPr wrap="none" lIns="0" rIns="0" tIns="0" bIns="0" anchor="t">
            <a:spAutoFit/>
          </a:bodyPr>
          <a:lstStyle/>
          <a:p>
            <a:pPr algn="l"/>
            <a:r>
              <a:rPr sz="1000" b="1">
                <a:solidFill>
                  <a:srgbClr val="1F684E"/>
                </a:solidFill>
                <a:latin typeface="Segoe UI"/>
              </a:rPr>
              <a:t>✓</a:t>
            </a:r>
          </a:p>
        </p:txBody>
      </p:sp>
      <p:sp>
        <p:nvSpPr>
          <p:cNvPr id="49" name="TextBox 48"/>
          <p:cNvSpPr txBox="1"/>
          <p:nvPr/>
        </p:nvSpPr>
        <p:spPr>
          <a:xfrm>
            <a:off x="8988552" y="4626864"/>
            <a:ext cx="1874519" cy="201168"/>
          </a:xfrm>
          <a:prstGeom prst="rect">
            <a:avLst/>
          </a:prstGeom>
          <a:noFill/>
        </p:spPr>
        <p:txBody>
          <a:bodyPr wrap="none" lIns="0" rIns="0" tIns="0" bIns="0" anchor="t">
            <a:spAutoFit/>
          </a:bodyPr>
          <a:lstStyle/>
          <a:p>
            <a:pPr algn="l"/>
            <a:r>
              <a:rPr sz="900" b="1">
                <a:solidFill>
                  <a:srgbClr val="18352F"/>
                </a:solidFill>
                <a:latin typeface="Segoe UI"/>
              </a:rPr>
              <a:t>toegestane ingreep</a:t>
            </a:r>
          </a:p>
        </p:txBody>
      </p:sp>
      <p:sp>
        <p:nvSpPr>
          <p:cNvPr id="50" name="TextBox 49"/>
          <p:cNvSpPr txBox="1"/>
          <p:nvPr/>
        </p:nvSpPr>
        <p:spPr>
          <a:xfrm>
            <a:off x="6382512" y="5248656"/>
            <a:ext cx="4937760" cy="228600"/>
          </a:xfrm>
          <a:prstGeom prst="rect">
            <a:avLst/>
          </a:prstGeom>
          <a:noFill/>
        </p:spPr>
        <p:txBody>
          <a:bodyPr wrap="none" lIns="0" rIns="0" tIns="0" bIns="0" anchor="t">
            <a:spAutoFit/>
          </a:bodyPr>
          <a:lstStyle/>
          <a:p>
            <a:pPr algn="l"/>
            <a:r>
              <a:rPr sz="800" b="1">
                <a:solidFill>
                  <a:srgbClr val="D9683F"/>
                </a:solidFill>
                <a:latin typeface="Segoe UI"/>
              </a:rPr>
              <a:t>Verschuivingen zijn verkennend → plot- en tunnelcontrole blijft vereist</a:t>
            </a:r>
          </a:p>
        </p:txBody>
      </p:sp>
      <p:pic>
        <p:nvPicPr>
          <p:cNvPr id="51" name="Picture 50" descr="parkhaven-logo.png"/>
          <p:cNvPicPr>
            <a:picLocks noChangeAspect="1"/>
          </p:cNvPicPr>
          <p:nvPr/>
        </p:nvPicPr>
        <p:blipFill>
          <a:blip r:embed="rId2"/>
          <a:stretch>
            <a:fillRect/>
          </a:stretch>
        </p:blipFill>
        <p:spPr>
          <a:xfrm>
            <a:off x="566928" y="6364224"/>
            <a:ext cx="208434" cy="338328"/>
          </a:xfrm>
          <a:prstGeom prst="rect">
            <a:avLst/>
          </a:prstGeom>
        </p:spPr>
      </p:pic>
      <p:sp>
        <p:nvSpPr>
          <p:cNvPr id="52" name="TextBox 51"/>
          <p:cNvSpPr txBox="1"/>
          <p:nvPr/>
        </p:nvSpPr>
        <p:spPr>
          <a:xfrm>
            <a:off x="932688" y="6428232"/>
            <a:ext cx="2011680" cy="182880"/>
          </a:xfrm>
          <a:prstGeom prst="rect">
            <a:avLst/>
          </a:prstGeom>
          <a:noFill/>
        </p:spPr>
        <p:txBody>
          <a:bodyPr wrap="none" lIns="0" rIns="0">
            <a:spAutoFit/>
          </a:bodyPr>
          <a:lstStyle/>
          <a:p>
            <a:pPr algn="l"/>
            <a:r>
              <a:rPr sz="800" b="1">
                <a:solidFill>
                  <a:srgbClr val="18352F"/>
                </a:solidFill>
                <a:latin typeface="Segoe UI"/>
              </a:rPr>
              <a:t>PARKHAVEN </a:t>
            </a:r>
            <a:r>
              <a:rPr sz="800" b="0">
                <a:solidFill>
                  <a:srgbClr val="687B75"/>
                </a:solidFill>
                <a:latin typeface="Segoe UI"/>
              </a:rPr>
              <a:t>STUDIO</a:t>
            </a:r>
          </a:p>
        </p:txBody>
      </p:sp>
      <p:sp>
        <p:nvSpPr>
          <p:cNvPr id="53" name="TextBox 52"/>
          <p:cNvSpPr txBox="1"/>
          <p:nvPr/>
        </p:nvSpPr>
        <p:spPr>
          <a:xfrm>
            <a:off x="8001000" y="6428232"/>
            <a:ext cx="3611880" cy="182880"/>
          </a:xfrm>
          <a:prstGeom prst="rect">
            <a:avLst/>
          </a:prstGeom>
          <a:noFill/>
        </p:spPr>
        <p:txBody>
          <a:bodyPr wrap="none" lIns="0" rIns="0" tIns="0" bIns="0" anchor="t">
            <a:spAutoFit/>
          </a:bodyPr>
          <a:lstStyle/>
          <a:p>
            <a:pPr algn="r"/>
            <a:r>
              <a:rPr sz="700" b="1">
                <a:solidFill>
                  <a:srgbClr val="687B75"/>
                </a:solidFill>
                <a:latin typeface="Segoe UI"/>
              </a:rPr>
              <a:t>LOKAAL • HERLEIDBAAR • MODELGEBASEERD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3A3B"/>
          </a:solidFill>
          <a:ln>
            <a:solidFill>
              <a:srgbClr val="163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4114800" cy="274320"/>
          </a:xfrm>
          <a:prstGeom prst="rect">
            <a:avLst/>
          </a:prstGeom>
          <a:noFill/>
        </p:spPr>
        <p:txBody>
          <a:bodyPr wrap="none" lIns="0" rIns="0" tIns="0" bIns="0" anchor="t">
            <a:spAutoFit/>
          </a:bodyPr>
          <a:lstStyle/>
          <a:p>
            <a:pPr algn="l"/>
            <a:r>
              <a:rPr sz="1000" b="1">
                <a:solidFill>
                  <a:srgbClr val="B7E6C8"/>
                </a:solidFill>
                <a:latin typeface="Segoe UI"/>
              </a:rPr>
              <a:t>WAAR WE NU STAAN / V0.2</a:t>
            </a:r>
          </a:p>
        </p:txBody>
      </p:sp>
      <p:sp>
        <p:nvSpPr>
          <p:cNvPr id="4" name="TextBox 3"/>
          <p:cNvSpPr txBox="1"/>
          <p:nvPr/>
        </p:nvSpPr>
        <p:spPr>
          <a:xfrm>
            <a:off x="658368" y="987552"/>
            <a:ext cx="5669280" cy="566928"/>
          </a:xfrm>
          <a:prstGeom prst="rect">
            <a:avLst/>
          </a:prstGeom>
          <a:noFill/>
        </p:spPr>
        <p:txBody>
          <a:bodyPr wrap="none" lIns="0" rIns="0" tIns="0" bIns="0" anchor="t">
            <a:spAutoFit/>
          </a:bodyPr>
          <a:lstStyle/>
          <a:p>
            <a:pPr algn="l"/>
            <a:r>
              <a:rPr sz="3000" b="1">
                <a:solidFill>
                  <a:srgbClr val="FFFFFF"/>
                </a:solidFill>
                <a:latin typeface="Segoe UI"/>
              </a:rPr>
              <a:t>De kernworkflow staat.</a:t>
            </a:r>
          </a:p>
        </p:txBody>
      </p:sp>
      <p:sp>
        <p:nvSpPr>
          <p:cNvPr id="5" name="TextBox 4"/>
          <p:cNvSpPr txBox="1"/>
          <p:nvPr/>
        </p:nvSpPr>
        <p:spPr>
          <a:xfrm>
            <a:off x="658368" y="1709928"/>
            <a:ext cx="5394960" cy="320040"/>
          </a:xfrm>
          <a:prstGeom prst="rect">
            <a:avLst/>
          </a:prstGeom>
          <a:noFill/>
        </p:spPr>
        <p:txBody>
          <a:bodyPr wrap="none" lIns="0" rIns="0" tIns="0" bIns="0" anchor="t">
            <a:spAutoFit/>
          </a:bodyPr>
          <a:lstStyle/>
          <a:p>
            <a:pPr algn="l"/>
            <a:r>
              <a:rPr sz="1500" b="0">
                <a:solidFill>
                  <a:srgbClr val="B7E6C8"/>
                </a:solidFill>
                <a:latin typeface="Segoe UI"/>
              </a:rPr>
              <a:t>Van lokaal model tot controleerbaar rapport</a:t>
            </a:r>
          </a:p>
        </p:txBody>
      </p:sp>
      <p:sp>
        <p:nvSpPr>
          <p:cNvPr id="6" name="Rounded Rectangle 5"/>
          <p:cNvSpPr/>
          <p:nvPr/>
        </p:nvSpPr>
        <p:spPr>
          <a:xfrm>
            <a:off x="658368" y="2432304"/>
            <a:ext cx="2432304" cy="749808"/>
          </a:xfrm>
          <a:prstGeom prst="roundRect">
            <a:avLst>
              <a:gd name="adj" fmla="val 8000"/>
            </a:avLst>
          </a:prstGeom>
          <a:solidFill>
            <a:srgbClr val="214849"/>
          </a:solidFill>
          <a:ln>
            <a:solidFill>
              <a:srgbClr val="496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578608"/>
            <a:ext cx="960120" cy="201168"/>
          </a:xfrm>
          <a:prstGeom prst="rect">
            <a:avLst/>
          </a:prstGeom>
          <a:noFill/>
        </p:spPr>
        <p:txBody>
          <a:bodyPr wrap="none" lIns="0" rIns="0" tIns="0" bIns="0" anchor="t">
            <a:spAutoFit/>
          </a:bodyPr>
          <a:lstStyle/>
          <a:p>
            <a:pPr algn="l"/>
            <a:r>
              <a:rPr sz="1100" b="1">
                <a:solidFill>
                  <a:srgbClr val="FFFFFF"/>
                </a:solidFill>
                <a:latin typeface="Segoe UI"/>
              </a:rPr>
              <a:t>Project</a:t>
            </a:r>
          </a:p>
        </p:txBody>
      </p:sp>
      <p:sp>
        <p:nvSpPr>
          <p:cNvPr id="8" name="TextBox 7"/>
          <p:cNvSpPr txBox="1"/>
          <p:nvPr/>
        </p:nvSpPr>
        <p:spPr>
          <a:xfrm>
            <a:off x="1691639" y="2578608"/>
            <a:ext cx="1188720" cy="347472"/>
          </a:xfrm>
          <a:prstGeom prst="rect">
            <a:avLst/>
          </a:prstGeom>
          <a:noFill/>
        </p:spPr>
        <p:txBody>
          <a:bodyPr wrap="none" lIns="0" rIns="0" tIns="0" bIns="0" anchor="t">
            <a:spAutoFit/>
          </a:bodyPr>
          <a:lstStyle/>
          <a:p>
            <a:pPr algn="l"/>
            <a:r>
              <a:rPr sz="800" b="0">
                <a:solidFill>
                  <a:srgbClr val="B7E6C8"/>
                </a:solidFill>
                <a:latin typeface="Segoe UI"/>
              </a:rPr>
              <a:t>import + bronbehoud</a:t>
            </a:r>
          </a:p>
        </p:txBody>
      </p:sp>
      <p:sp>
        <p:nvSpPr>
          <p:cNvPr id="9" name="Rounded Rectangle 8"/>
          <p:cNvSpPr/>
          <p:nvPr/>
        </p:nvSpPr>
        <p:spPr>
          <a:xfrm>
            <a:off x="3355848" y="2432304"/>
            <a:ext cx="2432304" cy="749808"/>
          </a:xfrm>
          <a:prstGeom prst="roundRect">
            <a:avLst>
              <a:gd name="adj" fmla="val 8000"/>
            </a:avLst>
          </a:prstGeom>
          <a:solidFill>
            <a:srgbClr val="214849"/>
          </a:solidFill>
          <a:ln>
            <a:solidFill>
              <a:srgbClr val="496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40" y="2578608"/>
            <a:ext cx="960120" cy="201168"/>
          </a:xfrm>
          <a:prstGeom prst="rect">
            <a:avLst/>
          </a:prstGeom>
          <a:noFill/>
        </p:spPr>
        <p:txBody>
          <a:bodyPr wrap="none" lIns="0" rIns="0" tIns="0" bIns="0" anchor="t">
            <a:spAutoFit/>
          </a:bodyPr>
          <a:lstStyle/>
          <a:p>
            <a:pPr algn="l"/>
            <a:r>
              <a:rPr sz="1100" b="1">
                <a:solidFill>
                  <a:srgbClr val="FFFFFF"/>
                </a:solidFill>
                <a:latin typeface="Segoe UI"/>
              </a:rPr>
              <a:t>Plaatsing</a:t>
            </a:r>
          </a:p>
        </p:txBody>
      </p:sp>
      <p:sp>
        <p:nvSpPr>
          <p:cNvPr id="11" name="TextBox 10"/>
          <p:cNvSpPr txBox="1"/>
          <p:nvPr/>
        </p:nvSpPr>
        <p:spPr>
          <a:xfrm>
            <a:off x="4389120" y="2578608"/>
            <a:ext cx="1188720" cy="347472"/>
          </a:xfrm>
          <a:prstGeom prst="rect">
            <a:avLst/>
          </a:prstGeom>
          <a:noFill/>
        </p:spPr>
        <p:txBody>
          <a:bodyPr wrap="none" lIns="0" rIns="0" tIns="0" bIns="0" anchor="t">
            <a:spAutoFit/>
          </a:bodyPr>
          <a:lstStyle/>
          <a:p>
            <a:pPr algn="l"/>
            <a:r>
              <a:rPr sz="800" b="0">
                <a:solidFill>
                  <a:srgbClr val="B7E6C8"/>
                </a:solidFill>
                <a:latin typeface="Segoe UI"/>
              </a:rPr>
              <a:t>preview + goedkeuring</a:t>
            </a:r>
          </a:p>
        </p:txBody>
      </p:sp>
      <p:sp>
        <p:nvSpPr>
          <p:cNvPr id="12" name="Rounded Rectangle 11"/>
          <p:cNvSpPr/>
          <p:nvPr/>
        </p:nvSpPr>
        <p:spPr>
          <a:xfrm>
            <a:off x="6053328" y="2432304"/>
            <a:ext cx="2432304" cy="749808"/>
          </a:xfrm>
          <a:prstGeom prst="roundRect">
            <a:avLst>
              <a:gd name="adj" fmla="val 8000"/>
            </a:avLst>
          </a:prstGeom>
          <a:solidFill>
            <a:srgbClr val="214849"/>
          </a:solidFill>
          <a:ln>
            <a:solidFill>
              <a:srgbClr val="496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2578608"/>
            <a:ext cx="960120" cy="201168"/>
          </a:xfrm>
          <a:prstGeom prst="rect">
            <a:avLst/>
          </a:prstGeom>
          <a:noFill/>
        </p:spPr>
        <p:txBody>
          <a:bodyPr wrap="none" lIns="0" rIns="0" tIns="0" bIns="0" anchor="t">
            <a:spAutoFit/>
          </a:bodyPr>
          <a:lstStyle/>
          <a:p>
            <a:pPr algn="l"/>
            <a:r>
              <a:rPr sz="1100" b="1">
                <a:solidFill>
                  <a:srgbClr val="FFFFFF"/>
                </a:solidFill>
                <a:latin typeface="Segoe UI"/>
              </a:rPr>
              <a:t>Analyse</a:t>
            </a:r>
          </a:p>
        </p:txBody>
      </p:sp>
      <p:sp>
        <p:nvSpPr>
          <p:cNvPr id="14" name="TextBox 13"/>
          <p:cNvSpPr txBox="1"/>
          <p:nvPr/>
        </p:nvSpPr>
        <p:spPr>
          <a:xfrm>
            <a:off x="7086600" y="2578608"/>
            <a:ext cx="1188720" cy="347472"/>
          </a:xfrm>
          <a:prstGeom prst="rect">
            <a:avLst/>
          </a:prstGeom>
          <a:noFill/>
        </p:spPr>
        <p:txBody>
          <a:bodyPr wrap="none" lIns="0" rIns="0" tIns="0" bIns="0" anchor="t">
            <a:spAutoFit/>
          </a:bodyPr>
          <a:lstStyle/>
          <a:p>
            <a:pPr algn="l"/>
            <a:r>
              <a:rPr sz="800" b="0">
                <a:solidFill>
                  <a:srgbClr val="B7E6C8"/>
                </a:solidFill>
                <a:latin typeface="Segoe UI"/>
              </a:rPr>
              <a:t>Rhino + Grasshopper</a:t>
            </a:r>
          </a:p>
        </p:txBody>
      </p:sp>
      <p:sp>
        <p:nvSpPr>
          <p:cNvPr id="15" name="Rounded Rectangle 14"/>
          <p:cNvSpPr/>
          <p:nvPr/>
        </p:nvSpPr>
        <p:spPr>
          <a:xfrm>
            <a:off x="658368" y="3438144"/>
            <a:ext cx="2432304" cy="749808"/>
          </a:xfrm>
          <a:prstGeom prst="roundRect">
            <a:avLst>
              <a:gd name="adj" fmla="val 8000"/>
            </a:avLst>
          </a:prstGeom>
          <a:solidFill>
            <a:srgbClr val="214849"/>
          </a:solidFill>
          <a:ln>
            <a:solidFill>
              <a:srgbClr val="496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3584448"/>
            <a:ext cx="960120" cy="201168"/>
          </a:xfrm>
          <a:prstGeom prst="rect">
            <a:avLst/>
          </a:prstGeom>
          <a:noFill/>
        </p:spPr>
        <p:txBody>
          <a:bodyPr wrap="none" lIns="0" rIns="0" tIns="0" bIns="0" anchor="t">
            <a:spAutoFit/>
          </a:bodyPr>
          <a:lstStyle/>
          <a:p>
            <a:pPr algn="l"/>
            <a:r>
              <a:rPr sz="1100" b="1">
                <a:solidFill>
                  <a:srgbClr val="FFFFFF"/>
                </a:solidFill>
                <a:latin typeface="Segoe UI"/>
              </a:rPr>
              <a:t>Bewijs</a:t>
            </a:r>
          </a:p>
        </p:txBody>
      </p:sp>
      <p:sp>
        <p:nvSpPr>
          <p:cNvPr id="17" name="TextBox 16"/>
          <p:cNvSpPr txBox="1"/>
          <p:nvPr/>
        </p:nvSpPr>
        <p:spPr>
          <a:xfrm>
            <a:off x="1691639" y="3584448"/>
            <a:ext cx="1188720" cy="347472"/>
          </a:xfrm>
          <a:prstGeom prst="rect">
            <a:avLst/>
          </a:prstGeom>
          <a:noFill/>
        </p:spPr>
        <p:txBody>
          <a:bodyPr wrap="none" lIns="0" rIns="0" tIns="0" bIns="0" anchor="t">
            <a:spAutoFit/>
          </a:bodyPr>
          <a:lstStyle/>
          <a:p>
            <a:pPr algn="l"/>
            <a:r>
              <a:rPr sz="800" b="0">
                <a:solidFill>
                  <a:srgbClr val="B7E6C8"/>
                </a:solidFill>
                <a:latin typeface="Segoe UI"/>
              </a:rPr>
              <a:t>viewer + 4 beelden</a:t>
            </a:r>
          </a:p>
        </p:txBody>
      </p:sp>
      <p:sp>
        <p:nvSpPr>
          <p:cNvPr id="18" name="Rounded Rectangle 17"/>
          <p:cNvSpPr/>
          <p:nvPr/>
        </p:nvSpPr>
        <p:spPr>
          <a:xfrm>
            <a:off x="3355848" y="3438144"/>
            <a:ext cx="2432304" cy="749808"/>
          </a:xfrm>
          <a:prstGeom prst="roundRect">
            <a:avLst>
              <a:gd name="adj" fmla="val 8000"/>
            </a:avLst>
          </a:prstGeom>
          <a:solidFill>
            <a:srgbClr val="214849"/>
          </a:solidFill>
          <a:ln>
            <a:solidFill>
              <a:srgbClr val="496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0440" y="3584448"/>
            <a:ext cx="960120" cy="201168"/>
          </a:xfrm>
          <a:prstGeom prst="rect">
            <a:avLst/>
          </a:prstGeom>
          <a:noFill/>
        </p:spPr>
        <p:txBody>
          <a:bodyPr wrap="none" lIns="0" rIns="0" tIns="0" bIns="0" anchor="t">
            <a:spAutoFit/>
          </a:bodyPr>
          <a:lstStyle/>
          <a:p>
            <a:pPr algn="l"/>
            <a:r>
              <a:rPr sz="1100" b="1">
                <a:solidFill>
                  <a:srgbClr val="FFFFFF"/>
                </a:solidFill>
                <a:latin typeface="Segoe UI"/>
              </a:rPr>
              <a:t>Advies</a:t>
            </a:r>
          </a:p>
        </p:txBody>
      </p:sp>
      <p:sp>
        <p:nvSpPr>
          <p:cNvPr id="20" name="TextBox 19"/>
          <p:cNvSpPr txBox="1"/>
          <p:nvPr/>
        </p:nvSpPr>
        <p:spPr>
          <a:xfrm>
            <a:off x="4389120" y="3584448"/>
            <a:ext cx="1188720" cy="347472"/>
          </a:xfrm>
          <a:prstGeom prst="rect">
            <a:avLst/>
          </a:prstGeom>
          <a:noFill/>
        </p:spPr>
        <p:txBody>
          <a:bodyPr wrap="none" lIns="0" rIns="0" tIns="0" bIns="0" anchor="t">
            <a:spAutoFit/>
          </a:bodyPr>
          <a:lstStyle/>
          <a:p>
            <a:pPr algn="l"/>
            <a:r>
              <a:rPr sz="800" b="0">
                <a:solidFill>
                  <a:srgbClr val="B7E6C8"/>
                </a:solidFill>
                <a:latin typeface="Segoe UI"/>
              </a:rPr>
              <a:t>begrensd + gevalideerd</a:t>
            </a:r>
          </a:p>
        </p:txBody>
      </p:sp>
      <p:sp>
        <p:nvSpPr>
          <p:cNvPr id="21" name="Rounded Rectangle 20"/>
          <p:cNvSpPr/>
          <p:nvPr/>
        </p:nvSpPr>
        <p:spPr>
          <a:xfrm>
            <a:off x="6053328" y="3438144"/>
            <a:ext cx="2432304" cy="749808"/>
          </a:xfrm>
          <a:prstGeom prst="roundRect">
            <a:avLst>
              <a:gd name="adj" fmla="val 8000"/>
            </a:avLst>
          </a:prstGeom>
          <a:solidFill>
            <a:srgbClr val="214849"/>
          </a:solidFill>
          <a:ln>
            <a:solidFill>
              <a:srgbClr val="496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3584448"/>
            <a:ext cx="960120" cy="201168"/>
          </a:xfrm>
          <a:prstGeom prst="rect">
            <a:avLst/>
          </a:prstGeom>
          <a:noFill/>
        </p:spPr>
        <p:txBody>
          <a:bodyPr wrap="none" lIns="0" rIns="0" tIns="0" bIns="0" anchor="t">
            <a:spAutoFit/>
          </a:bodyPr>
          <a:lstStyle/>
          <a:p>
            <a:pPr algn="l"/>
            <a:r>
              <a:rPr sz="1100" b="1">
                <a:solidFill>
                  <a:srgbClr val="FFFFFF"/>
                </a:solidFill>
                <a:latin typeface="Segoe UI"/>
              </a:rPr>
              <a:t>Rapport</a:t>
            </a:r>
          </a:p>
        </p:txBody>
      </p:sp>
      <p:sp>
        <p:nvSpPr>
          <p:cNvPr id="23" name="TextBox 22"/>
          <p:cNvSpPr txBox="1"/>
          <p:nvPr/>
        </p:nvSpPr>
        <p:spPr>
          <a:xfrm>
            <a:off x="7086600" y="3584448"/>
            <a:ext cx="1188720" cy="347472"/>
          </a:xfrm>
          <a:prstGeom prst="rect">
            <a:avLst/>
          </a:prstGeom>
          <a:noFill/>
        </p:spPr>
        <p:txBody>
          <a:bodyPr wrap="none" lIns="0" rIns="0" tIns="0" bIns="0" anchor="t">
            <a:spAutoFit/>
          </a:bodyPr>
          <a:lstStyle/>
          <a:p>
            <a:pPr algn="l"/>
            <a:r>
              <a:rPr sz="800" b="0">
                <a:solidFill>
                  <a:srgbClr val="B7E6C8"/>
                </a:solidFill>
                <a:latin typeface="Segoe UI"/>
              </a:rPr>
              <a:t>Engels + PDF</a:t>
            </a:r>
          </a:p>
        </p:txBody>
      </p:sp>
      <p:sp>
        <p:nvSpPr>
          <p:cNvPr id="24" name="Rounded Rectangle 23"/>
          <p:cNvSpPr/>
          <p:nvPr/>
        </p:nvSpPr>
        <p:spPr>
          <a:xfrm>
            <a:off x="8979408" y="2432304"/>
            <a:ext cx="2542032" cy="1755648"/>
          </a:xfrm>
          <a:prstGeom prst="roundRect">
            <a:avLst>
              <a:gd name="adj" fmla="val 8000"/>
            </a:avLst>
          </a:prstGeom>
          <a:solidFill>
            <a:srgbClr val="D9683F"/>
          </a:solidFill>
          <a:ln>
            <a:solidFill>
              <a:srgbClr val="D96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53728" y="2724912"/>
            <a:ext cx="1993392" cy="201168"/>
          </a:xfrm>
          <a:prstGeom prst="rect">
            <a:avLst/>
          </a:prstGeom>
          <a:noFill/>
        </p:spPr>
        <p:txBody>
          <a:bodyPr wrap="none" lIns="0" rIns="0" tIns="0" bIns="0" anchor="t">
            <a:spAutoFit/>
          </a:bodyPr>
          <a:lstStyle/>
          <a:p>
            <a:pPr algn="ctr"/>
            <a:r>
              <a:rPr sz="900" b="1">
                <a:solidFill>
                  <a:srgbClr val="FFFFFF"/>
                </a:solidFill>
                <a:latin typeface="Segoe UI"/>
              </a:rPr>
              <a:t>VOLGENDE FASE</a:t>
            </a:r>
          </a:p>
        </p:txBody>
      </p:sp>
      <p:sp>
        <p:nvSpPr>
          <p:cNvPr id="26" name="TextBox 25"/>
          <p:cNvSpPr txBox="1"/>
          <p:nvPr/>
        </p:nvSpPr>
        <p:spPr>
          <a:xfrm>
            <a:off x="9253728" y="3182112"/>
            <a:ext cx="1993392" cy="566928"/>
          </a:xfrm>
          <a:prstGeom prst="rect">
            <a:avLst/>
          </a:prstGeom>
          <a:noFill/>
        </p:spPr>
        <p:txBody>
          <a:bodyPr wrap="none" lIns="0" rIns="0" tIns="0" bIns="0" anchor="t">
            <a:spAutoFit/>
          </a:bodyPr>
          <a:lstStyle/>
          <a:p>
            <a:pPr algn="ctr"/>
            <a:r>
              <a:rPr sz="1700" b="1">
                <a:solidFill>
                  <a:srgbClr val="FFFFFF"/>
                </a:solidFill>
                <a:latin typeface="Segoe UI"/>
              </a:rPr>
              <a:t>Betrouwbaarheid
+ praktijktest</a:t>
            </a:r>
          </a:p>
        </p:txBody>
      </p:sp>
      <p:sp>
        <p:nvSpPr>
          <p:cNvPr id="27" name="Rectangle 26"/>
          <p:cNvSpPr/>
          <p:nvPr/>
        </p:nvSpPr>
        <p:spPr>
          <a:xfrm>
            <a:off x="658368" y="4700016"/>
            <a:ext cx="10863072" cy="18288"/>
          </a:xfrm>
          <a:prstGeom prst="rect">
            <a:avLst/>
          </a:prstGeom>
          <a:solidFill>
            <a:srgbClr val="496766"/>
          </a:solidFill>
          <a:ln>
            <a:solidFill>
              <a:srgbClr val="496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074920"/>
            <a:ext cx="310896" cy="219456"/>
          </a:xfrm>
          <a:prstGeom prst="rect">
            <a:avLst/>
          </a:prstGeom>
          <a:noFill/>
        </p:spPr>
        <p:txBody>
          <a:bodyPr wrap="none" lIns="0" rIns="0" tIns="0" bIns="0" anchor="t">
            <a:spAutoFit/>
          </a:bodyPr>
          <a:lstStyle/>
          <a:p>
            <a:pPr algn="l"/>
            <a:r>
              <a:rPr sz="900" b="1">
                <a:solidFill>
                  <a:srgbClr val="D9683F"/>
                </a:solidFill>
                <a:latin typeface="Segoe UI"/>
              </a:rPr>
              <a:t>01</a:t>
            </a:r>
          </a:p>
        </p:txBody>
      </p:sp>
      <p:sp>
        <p:nvSpPr>
          <p:cNvPr id="29" name="TextBox 28"/>
          <p:cNvSpPr txBox="1"/>
          <p:nvPr/>
        </p:nvSpPr>
        <p:spPr>
          <a:xfrm>
            <a:off x="1060704" y="5029200"/>
            <a:ext cx="2011680" cy="502920"/>
          </a:xfrm>
          <a:prstGeom prst="rect">
            <a:avLst/>
          </a:prstGeom>
          <a:noFill/>
        </p:spPr>
        <p:txBody>
          <a:bodyPr wrap="none" lIns="0" rIns="0" tIns="0" bIns="0" anchor="t">
            <a:spAutoFit/>
          </a:bodyPr>
          <a:lstStyle/>
          <a:p>
            <a:pPr algn="l"/>
            <a:r>
              <a:rPr sz="1100" b="1">
                <a:solidFill>
                  <a:srgbClr val="FFFFFF"/>
                </a:solidFill>
                <a:latin typeface="Segoe UI"/>
              </a:rPr>
              <a:t>Geverifieerde locatiegrenzen</a:t>
            </a:r>
          </a:p>
        </p:txBody>
      </p:sp>
      <p:sp>
        <p:nvSpPr>
          <p:cNvPr id="30" name="TextBox 29"/>
          <p:cNvSpPr txBox="1"/>
          <p:nvPr/>
        </p:nvSpPr>
        <p:spPr>
          <a:xfrm>
            <a:off x="3355848" y="5074920"/>
            <a:ext cx="310896" cy="219456"/>
          </a:xfrm>
          <a:prstGeom prst="rect">
            <a:avLst/>
          </a:prstGeom>
          <a:noFill/>
        </p:spPr>
        <p:txBody>
          <a:bodyPr wrap="none" lIns="0" rIns="0" tIns="0" bIns="0" anchor="t">
            <a:spAutoFit/>
          </a:bodyPr>
          <a:lstStyle/>
          <a:p>
            <a:pPr algn="l"/>
            <a:r>
              <a:rPr sz="900" b="1">
                <a:solidFill>
                  <a:srgbClr val="D9683F"/>
                </a:solidFill>
                <a:latin typeface="Segoe UI"/>
              </a:rPr>
              <a:t>02</a:t>
            </a:r>
          </a:p>
        </p:txBody>
      </p:sp>
      <p:sp>
        <p:nvSpPr>
          <p:cNvPr id="31" name="TextBox 30"/>
          <p:cNvSpPr txBox="1"/>
          <p:nvPr/>
        </p:nvSpPr>
        <p:spPr>
          <a:xfrm>
            <a:off x="3758184" y="5029200"/>
            <a:ext cx="2011680" cy="502920"/>
          </a:xfrm>
          <a:prstGeom prst="rect">
            <a:avLst/>
          </a:prstGeom>
          <a:noFill/>
        </p:spPr>
        <p:txBody>
          <a:bodyPr wrap="none" lIns="0" rIns="0" tIns="0" bIns="0" anchor="t">
            <a:spAutoFit/>
          </a:bodyPr>
          <a:lstStyle/>
          <a:p>
            <a:pPr algn="l"/>
            <a:r>
              <a:rPr sz="1100" b="1">
                <a:solidFill>
                  <a:srgbClr val="FFFFFF"/>
                </a:solidFill>
                <a:latin typeface="Segoe UI"/>
              </a:rPr>
              <a:t>Gekalibreerde doelen en normen</a:t>
            </a:r>
          </a:p>
        </p:txBody>
      </p:sp>
      <p:sp>
        <p:nvSpPr>
          <p:cNvPr id="32" name="TextBox 31"/>
          <p:cNvSpPr txBox="1"/>
          <p:nvPr/>
        </p:nvSpPr>
        <p:spPr>
          <a:xfrm>
            <a:off x="6053328" y="5074920"/>
            <a:ext cx="310896" cy="219456"/>
          </a:xfrm>
          <a:prstGeom prst="rect">
            <a:avLst/>
          </a:prstGeom>
          <a:noFill/>
        </p:spPr>
        <p:txBody>
          <a:bodyPr wrap="none" lIns="0" rIns="0" tIns="0" bIns="0" anchor="t">
            <a:spAutoFit/>
          </a:bodyPr>
          <a:lstStyle/>
          <a:p>
            <a:pPr algn="l"/>
            <a:r>
              <a:rPr sz="900" b="1">
                <a:solidFill>
                  <a:srgbClr val="D9683F"/>
                </a:solidFill>
                <a:latin typeface="Segoe UI"/>
              </a:rPr>
              <a:t>03</a:t>
            </a:r>
          </a:p>
        </p:txBody>
      </p:sp>
      <p:sp>
        <p:nvSpPr>
          <p:cNvPr id="33" name="TextBox 32"/>
          <p:cNvSpPr txBox="1"/>
          <p:nvPr/>
        </p:nvSpPr>
        <p:spPr>
          <a:xfrm>
            <a:off x="6455664" y="5029200"/>
            <a:ext cx="2011680" cy="502920"/>
          </a:xfrm>
          <a:prstGeom prst="rect">
            <a:avLst/>
          </a:prstGeom>
          <a:noFill/>
        </p:spPr>
        <p:txBody>
          <a:bodyPr wrap="none" lIns="0" rIns="0" tIns="0" bIns="0" anchor="t">
            <a:spAutoFit/>
          </a:bodyPr>
          <a:lstStyle/>
          <a:p>
            <a:pPr algn="l"/>
            <a:r>
              <a:rPr sz="1100" b="1">
                <a:solidFill>
                  <a:srgbClr val="FFFFFF"/>
                </a:solidFill>
                <a:latin typeface="Segoe UI"/>
              </a:rPr>
              <a:t>Ondertekende distributie</a:t>
            </a:r>
          </a:p>
        </p:txBody>
      </p:sp>
      <p:sp>
        <p:nvSpPr>
          <p:cNvPr id="34" name="TextBox 33"/>
          <p:cNvSpPr txBox="1"/>
          <p:nvPr/>
        </p:nvSpPr>
        <p:spPr>
          <a:xfrm>
            <a:off x="8750808" y="5074920"/>
            <a:ext cx="310896" cy="219456"/>
          </a:xfrm>
          <a:prstGeom prst="rect">
            <a:avLst/>
          </a:prstGeom>
          <a:noFill/>
        </p:spPr>
        <p:txBody>
          <a:bodyPr wrap="none" lIns="0" rIns="0" tIns="0" bIns="0" anchor="t">
            <a:spAutoFit/>
          </a:bodyPr>
          <a:lstStyle/>
          <a:p>
            <a:pPr algn="l"/>
            <a:r>
              <a:rPr sz="900" b="1">
                <a:solidFill>
                  <a:srgbClr val="D9683F"/>
                </a:solidFill>
                <a:latin typeface="Segoe UI"/>
              </a:rPr>
              <a:t>04</a:t>
            </a:r>
          </a:p>
        </p:txBody>
      </p:sp>
      <p:sp>
        <p:nvSpPr>
          <p:cNvPr id="35" name="TextBox 34"/>
          <p:cNvSpPr txBox="1"/>
          <p:nvPr/>
        </p:nvSpPr>
        <p:spPr>
          <a:xfrm>
            <a:off x="9153144" y="5029200"/>
            <a:ext cx="2011680" cy="502920"/>
          </a:xfrm>
          <a:prstGeom prst="rect">
            <a:avLst/>
          </a:prstGeom>
          <a:noFill/>
        </p:spPr>
        <p:txBody>
          <a:bodyPr wrap="none" lIns="0" rIns="0" tIns="0" bIns="0" anchor="t">
            <a:spAutoFit/>
          </a:bodyPr>
          <a:lstStyle/>
          <a:p>
            <a:pPr algn="l"/>
            <a:r>
              <a:rPr sz="1100" b="1">
                <a:solidFill>
                  <a:srgbClr val="FFFFFF"/>
                </a:solidFill>
                <a:latin typeface="Segoe UI"/>
              </a:rPr>
              <a:t>Schone testmachines</a:t>
            </a:r>
          </a:p>
        </p:txBody>
      </p:sp>
      <p:sp>
        <p:nvSpPr>
          <p:cNvPr id="36" name="TextBox 35"/>
          <p:cNvSpPr txBox="1"/>
          <p:nvPr/>
        </p:nvSpPr>
        <p:spPr>
          <a:xfrm>
            <a:off x="658368" y="6053328"/>
            <a:ext cx="5852160" cy="274320"/>
          </a:xfrm>
          <a:prstGeom prst="rect">
            <a:avLst/>
          </a:prstGeom>
          <a:noFill/>
        </p:spPr>
        <p:txBody>
          <a:bodyPr wrap="none" lIns="0" rIns="0" tIns="0" bIns="0" anchor="t">
            <a:spAutoFit/>
          </a:bodyPr>
          <a:lstStyle/>
          <a:p>
            <a:pPr algn="l"/>
            <a:r>
              <a:rPr sz="1000" b="1">
                <a:solidFill>
                  <a:srgbClr val="B7E6C8"/>
                </a:solidFill>
                <a:latin typeface="Segoe UI"/>
              </a:rPr>
              <a:t>OVERZICHTELIJK  •  MEETBAAR  •  HERLEIDBAAR</a:t>
            </a:r>
          </a:p>
        </p:txBody>
      </p:sp>
      <p:pic>
        <p:nvPicPr>
          <p:cNvPr id="37" name="Picture 36" descr="parkhaven-logo.png"/>
          <p:cNvPicPr>
            <a:picLocks noChangeAspect="1"/>
          </p:cNvPicPr>
          <p:nvPr/>
        </p:nvPicPr>
        <p:blipFill>
          <a:blip r:embed="rId2"/>
          <a:stretch>
            <a:fillRect/>
          </a:stretch>
        </p:blipFill>
        <p:spPr>
          <a:xfrm>
            <a:off x="10744200" y="5230368"/>
            <a:ext cx="636569" cy="103327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ParkHaven Studio presentatie v0.2</dc:title>
  <dc:subject>Nederlandse productintroductie en technische achtergrond</dc:subject>
  <dc:creator>ParkHaven Studio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